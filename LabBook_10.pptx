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8"/>
  </p:notesMasterIdLst>
  <p:handoutMasterIdLst>
    <p:handoutMasterId r:id="rId19"/>
  </p:handoutMasterIdLst>
  <p:sldIdLst>
    <p:sldId id="256" r:id="rId2"/>
    <p:sldId id="295" r:id="rId3"/>
    <p:sldId id="290" r:id="rId4"/>
    <p:sldId id="298" r:id="rId5"/>
    <p:sldId id="302" r:id="rId6"/>
    <p:sldId id="291" r:id="rId7"/>
    <p:sldId id="301" r:id="rId8"/>
    <p:sldId id="292" r:id="rId9"/>
    <p:sldId id="303" r:id="rId10"/>
    <p:sldId id="297" r:id="rId11"/>
    <p:sldId id="304" r:id="rId12"/>
    <p:sldId id="293" r:id="rId13"/>
    <p:sldId id="306" r:id="rId14"/>
    <p:sldId id="305" r:id="rId15"/>
    <p:sldId id="307" r:id="rId16"/>
    <p:sldId id="288" r:id="rId17"/>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5538" autoAdjust="0"/>
    <p:restoredTop sz="95033" autoAdjust="0"/>
  </p:normalViewPr>
  <p:slideViewPr>
    <p:cSldViewPr>
      <p:cViewPr>
        <p:scale>
          <a:sx n="66" d="100"/>
          <a:sy n="66" d="100"/>
        </p:scale>
        <p:origin x="1762" y="413"/>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10/03/2026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10/03/2026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B99FA-97E9-FC7D-2B9A-BA726593318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4028ACA-2CBF-8F75-32D0-881978CDFA9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DC834A5-D89E-6306-39BC-39F084B00FD1}"/>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21E4BC98-71A5-DEF9-0FC1-EE9BE6B25C19}"/>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13526202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37379-E8F7-0EEB-24B8-B37B4D10ED2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99F7970-F455-DA80-F81B-AD9620714A0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71013AFA-2D76-E2A2-0A6B-B6931F9B2719}"/>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50898D18-FB82-D342-4D88-F5E6F4C4CBAF}"/>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32854042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DEB1E-5176-F287-14B3-D6364A2089D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024B29C-89F6-0631-BFB6-DEAC27C9516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80B46AA-E1A4-017C-CF86-9ED5E1E7E8C5}"/>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745E78A-B74C-7E42-7D6E-923EF94C8AB2}"/>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40315722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73668B-1BDE-E588-A700-CF53A78517B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B69881F-BD8C-A12F-65E4-4D38868345F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8C4B1F-4A34-106B-FC71-A08E8F622B69}"/>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CDC752FB-22D8-AE5E-A74D-882F59A7EE23}"/>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3340580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AA65-166B-474B-A6C9-9858D86A94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8158223-A8BA-05F6-464C-EC03A9FB8C5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CB4DF-C329-8F47-9ECE-661B5B2BF9A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41B2276-A4E2-DFBF-0088-6997E86C9FE1}"/>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3623159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E49ECA-B518-50D2-8604-23126DCCD36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0B53A5A-0048-C702-8F7E-86022454711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75348C2-C668-42AD-11C3-D9A2AAB49F1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7E2FB511-3713-07BB-835C-A6009AC63F50}"/>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40560187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29173827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26408-1DE0-A656-A80B-1236EC13970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9D7B021-1265-D78A-7F4F-E71E8E9E286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C224371-A96C-7DD9-5725-A1ABAE701B1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2E52CE88-5FEE-6A1A-9972-51BE52A267EA}"/>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6026417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4C9DC-82CC-4670-22D4-5992593A56D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674CF7F-E690-9508-0B5F-2BA0A5C0641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7EDAB5C4-3DE9-E2AC-1B13-49A58BDA5989}"/>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90CFDBC-951D-3FB9-8D9B-0680D6DEAB33}"/>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11170916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BE712-D320-AEAC-AE88-1D20EF6D621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127AAAF-A4A4-0842-375C-2CCF552A567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CCC4585-06EE-4A93-5FD9-1010BAE00E66}"/>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332B67C-6D68-F307-323F-B762197FFD2F}"/>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6810442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1.0 WAVEGUIDES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1.0. </a:t>
            </a:r>
            <a:r>
              <a:rPr lang="es-ES" sz="3200" b="1" dirty="0" err="1">
                <a:latin typeface="Lucida Sans"/>
                <a:cs typeface="Lucida Sans"/>
              </a:rPr>
              <a:t>Waveguides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Lidia Tórtola Juan y Raúl Salido Calatayud</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https://github.com/cccanvas-upv/cifoin-lab1.git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WAVEGUIDES_Student.ipynb</a:t>
            </a:r>
            <a:r>
              <a:rPr lang="en-US" kern="0" dirty="0">
                <a:solidFill>
                  <a:sysClr val="windowText" lastClr="000000"/>
                </a:solidFill>
              </a:rPr>
              <a:t> </a:t>
            </a:r>
          </a:p>
          <a:p>
            <a:pPr algn="just"/>
            <a:endParaRPr lang="en-US" sz="2000" b="1" i="1" u="sng"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902765"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97" name="object 62">
            <a:extLst>
              <a:ext uri="{FF2B5EF4-FFF2-40B4-BE49-F238E27FC236}">
                <a16:creationId xmlns:a16="http://schemas.microsoft.com/office/drawing/2014/main" id="{13E0425E-CEDF-CBC4-B34B-0CC3951920EA}"/>
              </a:ext>
            </a:extLst>
          </p:cNvPr>
          <p:cNvSpPr/>
          <p:nvPr/>
        </p:nvSpPr>
        <p:spPr>
          <a:xfrm>
            <a:off x="1747061" y="3983757"/>
            <a:ext cx="76200" cy="986155"/>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091131" y="4210910"/>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endParaRPr sz="1400">
              <a:latin typeface="Calibri"/>
              <a:cs typeface="Calibri"/>
            </a:endParaRP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endParaRPr sz="1400">
              <a:latin typeface="Calibri"/>
              <a:cs typeface="Calibri"/>
            </a:endParaRPr>
          </a:p>
        </p:txBody>
      </p:sp>
      <p:sp>
        <p:nvSpPr>
          <p:cNvPr id="99" name="object 64">
            <a:extLst>
              <a:ext uri="{FF2B5EF4-FFF2-40B4-BE49-F238E27FC236}">
                <a16:creationId xmlns:a16="http://schemas.microsoft.com/office/drawing/2014/main" id="{ABAAA5DD-56CA-BF94-2180-F0866658B6B3}"/>
              </a:ext>
            </a:extLst>
          </p:cNvPr>
          <p:cNvSpPr/>
          <p:nvPr/>
        </p:nvSpPr>
        <p:spPr>
          <a:xfrm>
            <a:off x="1984805"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504743"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1984805"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3983988"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391400"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114" name="object 64">
            <a:extLst>
              <a:ext uri="{FF2B5EF4-FFF2-40B4-BE49-F238E27FC236}">
                <a16:creationId xmlns:a16="http://schemas.microsoft.com/office/drawing/2014/main" id="{D9E5D738-CA47-1898-E0D8-DFBC514F5A50}"/>
              </a:ext>
            </a:extLst>
          </p:cNvPr>
          <p:cNvSpPr/>
          <p:nvPr/>
        </p:nvSpPr>
        <p:spPr>
          <a:xfrm>
            <a:off x="8473440"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93378"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8473440"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10472623"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20" name="object 73">
            <a:extLst>
              <a:ext uri="{FF2B5EF4-FFF2-40B4-BE49-F238E27FC236}">
                <a16:creationId xmlns:a16="http://schemas.microsoft.com/office/drawing/2014/main" id="{C699977C-9138-F9B9-E43D-0CCB01AEB75F}"/>
              </a:ext>
            </a:extLst>
          </p:cNvPr>
          <p:cNvSpPr txBox="1"/>
          <p:nvPr/>
        </p:nvSpPr>
        <p:spPr>
          <a:xfrm>
            <a:off x="7391400" y="4690819"/>
            <a:ext cx="39061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lang="es-ES" sz="2350" dirty="0">
              <a:latin typeface="Times New Roman"/>
              <a:cs typeface="Times New Roman"/>
            </a:endParaRPr>
          </a:p>
          <a:p>
            <a:pPr marL="18415">
              <a:lnSpc>
                <a:spcPct val="100000"/>
              </a:lnSpc>
            </a:pPr>
            <a:r>
              <a:rPr lang="es-ES" sz="1600" b="1" spc="-10" dirty="0" err="1">
                <a:latin typeface="Calibri"/>
                <a:cs typeface="Calibri"/>
              </a:rPr>
              <a:t>Slab</a:t>
            </a:r>
            <a:endParaRPr sz="1600" dirty="0">
              <a:latin typeface="Calibri"/>
              <a:cs typeface="Calibri"/>
            </a:endParaRPr>
          </a:p>
        </p:txBody>
      </p:sp>
      <p:sp>
        <p:nvSpPr>
          <p:cNvPr id="112" name="object 62">
            <a:extLst>
              <a:ext uri="{FF2B5EF4-FFF2-40B4-BE49-F238E27FC236}">
                <a16:creationId xmlns:a16="http://schemas.microsoft.com/office/drawing/2014/main" id="{04561701-4B4F-F208-98F6-2DAB5C1138D3}"/>
              </a:ext>
            </a:extLst>
          </p:cNvPr>
          <p:cNvSpPr/>
          <p:nvPr/>
        </p:nvSpPr>
        <p:spPr>
          <a:xfrm>
            <a:off x="8575910" y="3994221"/>
            <a:ext cx="56259" cy="694989"/>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1" name="object 62">
            <a:extLst>
              <a:ext uri="{FF2B5EF4-FFF2-40B4-BE49-F238E27FC236}">
                <a16:creationId xmlns:a16="http://schemas.microsoft.com/office/drawing/2014/main" id="{CCA3B0D6-0C9E-B4A6-FA43-1AB5F1821674}"/>
              </a:ext>
            </a:extLst>
          </p:cNvPr>
          <p:cNvSpPr/>
          <p:nvPr/>
        </p:nvSpPr>
        <p:spPr>
          <a:xfrm>
            <a:off x="8233207" y="4689210"/>
            <a:ext cx="55008" cy="613272"/>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13" name="object 63">
            <a:extLst>
              <a:ext uri="{FF2B5EF4-FFF2-40B4-BE49-F238E27FC236}">
                <a16:creationId xmlns:a16="http://schemas.microsoft.com/office/drawing/2014/main" id="{6394166D-0522-24AD-E666-39FE8A3FDC24}"/>
              </a:ext>
            </a:extLst>
          </p:cNvPr>
          <p:cNvSpPr txBox="1"/>
          <p:nvPr/>
        </p:nvSpPr>
        <p:spPr>
          <a:xfrm>
            <a:off x="8351994" y="4887127"/>
            <a:ext cx="674053" cy="228909"/>
          </a:xfrm>
          <a:prstGeom prst="rect">
            <a:avLst/>
          </a:prstGeom>
        </p:spPr>
        <p:txBody>
          <a:bodyPr vert="horz" wrap="square" lIns="0" tIns="13335" rIns="0" bIns="0" rtlCol="0">
            <a:spAutoFit/>
          </a:bodyPr>
          <a:lstStyle/>
          <a:p>
            <a:pPr marR="3175">
              <a:lnSpc>
                <a:spcPct val="100000"/>
              </a:lnSpc>
              <a:spcBef>
                <a:spcPts val="105"/>
              </a:spcBef>
            </a:pPr>
            <a:r>
              <a:rPr lang="es-ES" sz="1400" dirty="0" err="1">
                <a:latin typeface="Calibri"/>
                <a:cs typeface="Calibri"/>
              </a:rPr>
              <a:t>h_slab</a:t>
            </a:r>
            <a:endParaRPr sz="1400" dirty="0">
              <a:latin typeface="Calibri"/>
              <a:cs typeface="Calibri"/>
            </a:endParaRPr>
          </a:p>
        </p:txBody>
      </p:sp>
      <p:sp>
        <p:nvSpPr>
          <p:cNvPr id="122" name="object 63">
            <a:extLst>
              <a:ext uri="{FF2B5EF4-FFF2-40B4-BE49-F238E27FC236}">
                <a16:creationId xmlns:a16="http://schemas.microsoft.com/office/drawing/2014/main" id="{B589EB7D-B26E-4239-A5C2-F96DBBE82162}"/>
              </a:ext>
            </a:extLst>
          </p:cNvPr>
          <p:cNvSpPr txBox="1"/>
          <p:nvPr/>
        </p:nvSpPr>
        <p:spPr>
          <a:xfrm>
            <a:off x="8706378" y="3990085"/>
            <a:ext cx="1380175" cy="228909"/>
          </a:xfrm>
          <a:prstGeom prst="rect">
            <a:avLst/>
          </a:prstGeom>
        </p:spPr>
        <p:txBody>
          <a:bodyPr vert="horz" wrap="square" lIns="0" tIns="13335" rIns="0" bIns="0" rtlCol="0">
            <a:spAutoFit/>
          </a:bodyPr>
          <a:lstStyle/>
          <a:p>
            <a:pPr marR="3175">
              <a:lnSpc>
                <a:spcPct val="100000"/>
              </a:lnSpc>
              <a:spcBef>
                <a:spcPts val="105"/>
              </a:spcBef>
            </a:pPr>
            <a:r>
              <a:rPr lang="es-ES" sz="1400" spc="-10" dirty="0" err="1">
                <a:latin typeface="Calibri"/>
                <a:cs typeface="Calibri"/>
              </a:rPr>
              <a:t>h_core</a:t>
            </a:r>
            <a:r>
              <a:rPr lang="es-ES" sz="1400" spc="-10" dirty="0">
                <a:latin typeface="Calibri"/>
                <a:cs typeface="Calibri"/>
              </a:rPr>
              <a:t> </a:t>
            </a:r>
            <a:endParaRPr sz="14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9306491" y="5257071"/>
            <a:ext cx="1980542" cy="369332"/>
          </a:xfrm>
          <a:prstGeom prst="rect">
            <a:avLst/>
          </a:prstGeom>
          <a:noFill/>
        </p:spPr>
        <p:txBody>
          <a:bodyPr wrap="none" rtlCol="0">
            <a:spAutoFit/>
          </a:bodyPr>
          <a:lstStyle/>
          <a:p>
            <a:pPr algn="ctr"/>
            <a:r>
              <a:rPr lang="en-US" b="1" dirty="0"/>
              <a:t>shallow</a:t>
            </a:r>
            <a:r>
              <a:rPr lang="en-US" dirty="0"/>
              <a:t> waveguide</a:t>
            </a:r>
          </a:p>
        </p:txBody>
      </p:sp>
      <p:sp>
        <p:nvSpPr>
          <p:cNvPr id="8" name="CuadroTexto 7">
            <a:extLst>
              <a:ext uri="{FF2B5EF4-FFF2-40B4-BE49-F238E27FC236}">
                <a16:creationId xmlns:a16="http://schemas.microsoft.com/office/drawing/2014/main" id="{7336B5D8-2D70-3E7A-336D-AF55EC49DEB8}"/>
              </a:ext>
            </a:extLst>
          </p:cNvPr>
          <p:cNvSpPr txBox="1"/>
          <p:nvPr/>
        </p:nvSpPr>
        <p:spPr>
          <a:xfrm>
            <a:off x="2969899" y="5257071"/>
            <a:ext cx="2157554" cy="369332"/>
          </a:xfrm>
          <a:prstGeom prst="rect">
            <a:avLst/>
          </a:prstGeom>
          <a:noFill/>
        </p:spPr>
        <p:txBody>
          <a:bodyPr wrap="square">
            <a:spAutoFit/>
          </a:bodyPr>
          <a:lstStyle/>
          <a:p>
            <a:pPr algn="ctr"/>
            <a:r>
              <a:rPr lang="en-US" b="1" dirty="0"/>
              <a:t>deep</a:t>
            </a:r>
            <a:r>
              <a:rPr lang="en-US" dirty="0"/>
              <a:t> waveguide</a:t>
            </a:r>
          </a:p>
        </p:txBody>
      </p:sp>
    </p:spTree>
    <p:extLst>
      <p:ext uri="{BB962C8B-B14F-4D97-AF65-F5344CB8AC3E}">
        <p14:creationId xmlns:p14="http://schemas.microsoft.com/office/powerpoint/2010/main" val="473922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Effective index of a waveguide</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materials, output, results.</a:t>
            </a:r>
          </a:p>
          <a:p>
            <a:pPr marL="342900" indent="-342900" algn="just">
              <a:buFont typeface="Arial" panose="020B0604020202020204" pitchFamily="34" charset="0"/>
              <a:buChar char="•"/>
            </a:pPr>
            <a:r>
              <a:rPr lang="en-US" sz="2000" dirty="0"/>
              <a:t>Explain how to run a simulation for a particular cross-section. </a:t>
            </a:r>
          </a:p>
          <a:p>
            <a:pPr marL="342900" indent="-342900" algn="just">
              <a:buFont typeface="Arial" panose="020B0604020202020204" pitchFamily="34" charset="0"/>
              <a:buChar char="•"/>
            </a:pPr>
            <a:r>
              <a:rPr lang="en-US" sz="2000" dirty="0"/>
              <a:t>Showcase how to change between shallow and deep waveguide.</a:t>
            </a:r>
          </a:p>
          <a:p>
            <a:pPr marL="342900" indent="-342900" algn="just">
              <a:buFont typeface="Arial" panose="020B0604020202020204" pitchFamily="34" charset="0"/>
              <a:buChar char="•"/>
            </a:pPr>
            <a:r>
              <a:rPr lang="en-US" sz="2000" dirty="0"/>
              <a:t>Describe how to change the wavelength and width for the waveguide analysis.</a:t>
            </a:r>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a:t>
            </a:r>
            <a:r>
              <a:rPr lang="en-US" sz="2000" dirty="0" err="1"/>
              <a:t>neff</a:t>
            </a:r>
            <a:r>
              <a:rPr lang="en-US" sz="2000" dirty="0"/>
              <a:t> …)</a:t>
            </a:r>
            <a:endParaRPr lang="en-US" sz="2000" b="1" i="1"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534989" y="4221458"/>
            <a:ext cx="11047570" cy="2123658"/>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marL="171450" indent="-171450" algn="just">
              <a:buFont typeface="Arial" panose="020B0604020202020204" pitchFamily="34" charset="0"/>
              <a:buChar char="•"/>
            </a:pPr>
            <a:r>
              <a:rPr lang="en-US" sz="1200" dirty="0">
                <a:latin typeface="Arial" panose="020B0604020202020204" pitchFamily="34" charset="0"/>
                <a:cs typeface="Arial" panose="020B0604020202020204" pitchFamily="34" charset="0"/>
              </a:rPr>
              <a:t>Para la </a:t>
            </a:r>
            <a:r>
              <a:rPr lang="en-US" sz="1200" dirty="0" err="1">
                <a:latin typeface="Arial" panose="020B0604020202020204" pitchFamily="34" charset="0"/>
                <a:cs typeface="Arial" panose="020B0604020202020204" pitchFamily="34" charset="0"/>
              </a:rPr>
              <a:t>realización</a:t>
            </a:r>
            <a:r>
              <a:rPr lang="en-US" sz="1200" dirty="0">
                <a:latin typeface="Arial" panose="020B0604020202020204" pitchFamily="34" charset="0"/>
                <a:cs typeface="Arial" panose="020B0604020202020204" pitchFamily="34" charset="0"/>
              </a:rPr>
              <a:t> del primer </a:t>
            </a:r>
            <a:r>
              <a:rPr lang="en-US" sz="1200" dirty="0" err="1">
                <a:latin typeface="Arial" panose="020B0604020202020204" pitchFamily="34" charset="0"/>
                <a:cs typeface="Arial" panose="020B0604020202020204" pitchFamily="34" charset="0"/>
              </a:rPr>
              <a:t>ejercicio</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han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usado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siguientes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materiales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silicio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nitruro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silicio</a:t>
            </a:r>
            <a:r>
              <a:rPr lang="en-US" sz="1200" dirty="0">
                <a:latin typeface="Arial" panose="020B0604020202020204" pitchFamily="34" charset="0"/>
                <a:cs typeface="Arial" panose="020B0604020202020204" pitchFamily="34" charset="0"/>
              </a:rPr>
              <a:t> y dioxide de </a:t>
            </a:r>
            <a:r>
              <a:rPr lang="en-US" sz="1200" dirty="0" err="1">
                <a:latin typeface="Arial" panose="020B0604020202020204" pitchFamily="34" charset="0"/>
                <a:cs typeface="Arial" panose="020B0604020202020204" pitchFamily="34" charset="0"/>
              </a:rPr>
              <a:t>silicio</a:t>
            </a:r>
            <a:r>
              <a:rPr lang="en-US" sz="1200" dirty="0">
                <a:latin typeface="Arial" panose="020B0604020202020204" pitchFamily="34" charset="0"/>
                <a:cs typeface="Arial" panose="020B0604020202020204" pitchFamily="34" charset="0"/>
              </a:rPr>
              <a:t>.</a:t>
            </a:r>
          </a:p>
          <a:p>
            <a:pPr algn="just"/>
            <a:r>
              <a:rPr lang="en-US" sz="1200" dirty="0">
                <a:latin typeface="Arial" panose="020B0604020202020204" pitchFamily="34" charset="0"/>
                <a:cs typeface="Arial" panose="020B0604020202020204" pitchFamily="34" charset="0"/>
              </a:rPr>
              <a:t>Para </a:t>
            </a:r>
            <a:r>
              <a:rPr lang="en-US" sz="1200" dirty="0" err="1">
                <a:latin typeface="Arial" panose="020B0604020202020204" pitchFamily="34" charset="0"/>
                <a:cs typeface="Arial" panose="020B0604020202020204" pitchFamily="34" charset="0"/>
              </a:rPr>
              <a:t>llevar</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cabo</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simulación</a:t>
            </a:r>
            <a:r>
              <a:rPr lang="en-US" sz="1200" dirty="0">
                <a:latin typeface="Arial" panose="020B0604020202020204" pitchFamily="34" charset="0"/>
                <a:cs typeface="Arial" panose="020B0604020202020204" pitchFamily="34" charset="0"/>
              </a:rPr>
              <a:t> con </a:t>
            </a:r>
            <a:r>
              <a:rPr lang="en-US" sz="1200" dirty="0" err="1">
                <a:latin typeface="Arial" panose="020B0604020202020204" pitchFamily="34" charset="0"/>
                <a:cs typeface="Arial" panose="020B0604020202020204" pitchFamily="34" charset="0"/>
              </a:rPr>
              <a:t>éxito</a:t>
            </a:r>
            <a:r>
              <a:rPr lang="en-US" sz="1200" dirty="0">
                <a:latin typeface="Arial" panose="020B0604020202020204" pitchFamily="34" charset="0"/>
                <a:cs typeface="Arial" panose="020B0604020202020204" pitchFamily="34" charset="0"/>
              </a:rPr>
              <a:t> de un corte transversal, se </a:t>
            </a:r>
            <a:r>
              <a:rPr lang="en-US" sz="1200" dirty="0" err="1">
                <a:latin typeface="Arial" panose="020B0604020202020204" pitchFamily="34" charset="0"/>
                <a:cs typeface="Arial" panose="020B0604020202020204" pitchFamily="34" charset="0"/>
              </a:rPr>
              <a:t>deben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definir</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dimensiones</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además</a:t>
            </a:r>
            <a:r>
              <a:rPr lang="en-US" sz="1200" dirty="0">
                <a:latin typeface="Arial" panose="020B0604020202020204" pitchFamily="34" charset="0"/>
                <a:cs typeface="Arial" panose="020B0604020202020204" pitchFamily="34" charset="0"/>
              </a:rPr>
              <a:t> del material a </a:t>
            </a:r>
            <a:r>
              <a:rPr lang="en-US" sz="1200" dirty="0" err="1">
                <a:latin typeface="Arial" panose="020B0604020202020204" pitchFamily="34" charset="0"/>
                <a:cs typeface="Arial" panose="020B0604020202020204" pitchFamily="34" charset="0"/>
              </a:rPr>
              <a:t>utilizar</a:t>
            </a:r>
            <a:r>
              <a:rPr lang="en-US" sz="1200" dirty="0">
                <a:latin typeface="Arial" panose="020B0604020202020204" pitchFamily="34" charset="0"/>
                <a:cs typeface="Arial" panose="020B0604020202020204" pitchFamily="34" charset="0"/>
              </a:rPr>
              <a:t> tanto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núcleo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cubierta</a:t>
            </a:r>
            <a:r>
              <a:rPr lang="en-US" sz="1200" dirty="0">
                <a:latin typeface="Arial" panose="020B0604020202020204" pitchFamily="34" charset="0"/>
                <a:cs typeface="Arial" panose="020B0604020202020204" pitchFamily="34" charset="0"/>
              </a:rPr>
              <a:t> y la longitude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cantidad</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queramos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calcular</a:t>
            </a:r>
            <a:r>
              <a:rPr lang="en-US" sz="1200" dirty="0">
                <a:latin typeface="Arial" panose="020B0604020202020204" pitchFamily="34" charset="0"/>
                <a:cs typeface="Arial" panose="020B0604020202020204" pitchFamily="34" charset="0"/>
              </a:rPr>
              <a:t>, y la </a:t>
            </a:r>
            <a:r>
              <a:rPr lang="en-US" sz="1200" dirty="0" err="1">
                <a:latin typeface="Arial" panose="020B0604020202020204" pitchFamily="34" charset="0"/>
                <a:cs typeface="Arial" panose="020B0604020202020204" pitchFamily="34" charset="0"/>
              </a:rPr>
              <a:t>resolución</a:t>
            </a:r>
            <a:r>
              <a:rPr lang="en-US" sz="1200" dirty="0">
                <a:latin typeface="Arial" panose="020B0604020202020204" pitchFamily="34" charset="0"/>
                <a:cs typeface="Arial" panose="020B0604020202020204" pitchFamily="34" charset="0"/>
              </a:rPr>
              <a:t> del </a:t>
            </a:r>
            <a:r>
              <a:rPr lang="en-US" sz="1200" dirty="0" err="1">
                <a:latin typeface="Arial" panose="020B0604020202020204" pitchFamily="34" charset="0"/>
                <a:cs typeface="Arial" panose="020B0604020202020204" pitchFamily="34" charset="0"/>
              </a:rPr>
              <a:t>mallado</a:t>
            </a:r>
            <a:r>
              <a:rPr lang="en-US" sz="1200" dirty="0">
                <a:latin typeface="Arial" panose="020B0604020202020204" pitchFamily="34" charset="0"/>
                <a:cs typeface="Arial" panose="020B0604020202020204" pitchFamily="34" charset="0"/>
              </a:rPr>
              <a:t>.</a:t>
            </a:r>
          </a:p>
          <a:p>
            <a:pPr marL="171450" indent="-171450" algn="just">
              <a:buFont typeface="Arial" panose="020B0604020202020204" pitchFamily="34" charset="0"/>
              <a:buChar char="•"/>
            </a:pPr>
            <a:r>
              <a:rPr lang="en-US" sz="1200" dirty="0">
                <a:latin typeface="Arial" panose="020B0604020202020204" pitchFamily="34" charset="0"/>
                <a:cs typeface="Arial" panose="020B0604020202020204" pitchFamily="34" charset="0"/>
              </a:rPr>
              <a:t>La </a:t>
            </a:r>
            <a:r>
              <a:rPr lang="en-US" sz="1200" dirty="0" err="1">
                <a:latin typeface="Arial" panose="020B0604020202020204" pitchFamily="34" charset="0"/>
                <a:cs typeface="Arial" panose="020B0604020202020204" pitchFamily="34" charset="0"/>
              </a:rPr>
              <a:t>diferencia</a:t>
            </a:r>
            <a:r>
              <a:rPr lang="en-US" sz="1200" dirty="0">
                <a:latin typeface="Arial" panose="020B0604020202020204" pitchFamily="34" charset="0"/>
                <a:cs typeface="Arial" panose="020B0604020202020204" pitchFamily="34" charset="0"/>
              </a:rPr>
              <a:t> entre </a:t>
            </a:r>
            <a:r>
              <a:rPr lang="en-US" sz="1200" dirty="0" err="1">
                <a:latin typeface="Arial" panose="020B0604020202020204" pitchFamily="34" charset="0"/>
                <a:cs typeface="Arial" panose="020B0604020202020204" pitchFamily="34" charset="0"/>
              </a:rPr>
              <a:t>una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guia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deep y </a:t>
            </a:r>
            <a:r>
              <a:rPr lang="en-US" sz="1200" dirty="0" err="1">
                <a:latin typeface="Arial" panose="020B0604020202020204" pitchFamily="34" charset="0"/>
                <a:cs typeface="Arial" panose="020B0604020202020204" pitchFamily="34" charset="0"/>
              </a:rPr>
              <a:t>una</a:t>
            </a:r>
            <a:r>
              <a:rPr lang="en-US" sz="1200" dirty="0">
                <a:latin typeface="Arial" panose="020B0604020202020204" pitchFamily="34" charset="0"/>
                <a:cs typeface="Arial" panose="020B0604020202020204" pitchFamily="34" charset="0"/>
              </a:rPr>
              <a:t> shallow, es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shallow </a:t>
            </a:r>
            <a:r>
              <a:rPr lang="en-US" sz="1200" dirty="0" err="1">
                <a:latin typeface="Arial" panose="020B0604020202020204" pitchFamily="34" charset="0"/>
                <a:cs typeface="Arial" panose="020B0604020202020204" pitchFamily="34" charset="0"/>
              </a:rPr>
              <a:t>existe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una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altura</a:t>
            </a:r>
            <a:r>
              <a:rPr lang="en-US" sz="1200" dirty="0">
                <a:latin typeface="Arial" panose="020B0604020202020204" pitchFamily="34" charset="0"/>
                <a:cs typeface="Arial" panose="020B0604020202020204" pitchFamily="34" charset="0"/>
              </a:rPr>
              <a:t> slab, </a:t>
            </a:r>
            <a:r>
              <a:rPr lang="en-US" sz="1200" dirty="0" err="1">
                <a:latin typeface="Arial" panose="020B0604020202020204" pitchFamily="34" charset="0"/>
                <a:cs typeface="Arial" panose="020B0604020202020204" pitchFamily="34" charset="0"/>
              </a:rPr>
              <a:t>mientrsa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las deep </a:t>
            </a:r>
            <a:r>
              <a:rPr lang="en-US" sz="1200" dirty="0" err="1">
                <a:latin typeface="Arial" panose="020B0604020202020204" pitchFamily="34" charset="0"/>
                <a:cs typeface="Arial" panose="020B0604020202020204" pitchFamily="34" charset="0"/>
              </a:rPr>
              <a:t>dicha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altura</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nula</a:t>
            </a:r>
            <a:r>
              <a:rPr lang="en-US" sz="1200" dirty="0">
                <a:latin typeface="Arial" panose="020B0604020202020204" pitchFamily="34" charset="0"/>
                <a:cs typeface="Arial" panose="020B0604020202020204" pitchFamily="34" charset="0"/>
              </a:rPr>
              <a:t>.</a:t>
            </a:r>
          </a:p>
          <a:p>
            <a:pPr marL="171450" indent="-171450" algn="just">
              <a:buFont typeface="Arial" panose="020B0604020202020204" pitchFamily="34" charset="0"/>
              <a:buChar char="•"/>
            </a:pPr>
            <a:r>
              <a:rPr lang="en-US" sz="1200" dirty="0">
                <a:latin typeface="Arial" panose="020B0604020202020204" pitchFamily="34" charset="0"/>
                <a:cs typeface="Arial" panose="020B0604020202020204" pitchFamily="34" charset="0"/>
              </a:rPr>
              <a:t>Las </a:t>
            </a:r>
            <a:r>
              <a:rPr lang="en-US" sz="1200" dirty="0" err="1">
                <a:latin typeface="Arial" panose="020B0604020202020204" pitchFamily="34" charset="0"/>
                <a:cs typeface="Arial" panose="020B0604020202020204" pitchFamily="34" charset="0"/>
              </a:rPr>
              <a:t>dimensiones</a:t>
            </a:r>
            <a:r>
              <a:rPr lang="en-US" sz="1200" dirty="0">
                <a:latin typeface="Arial" panose="020B0604020202020204" pitchFamily="34" charset="0"/>
                <a:cs typeface="Arial" panose="020B0604020202020204" pitchFamily="34" charset="0"/>
              </a:rPr>
              <a:t> del clad, se </a:t>
            </a:r>
            <a:r>
              <a:rPr lang="en-US" sz="1200" dirty="0" err="1">
                <a:latin typeface="Arial" panose="020B0604020202020204" pitchFamily="34" charset="0"/>
                <a:cs typeface="Arial" panose="020B0604020202020204" pitchFamily="34" charset="0"/>
              </a:rPr>
              <a:t>han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dejado</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hay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defecto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ya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presentan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buen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confinamiento</a:t>
            </a:r>
            <a:r>
              <a:rPr lang="en-US" sz="1200" dirty="0">
                <a:latin typeface="Arial" panose="020B0604020202020204" pitchFamily="34" charset="0"/>
                <a:cs typeface="Arial" panose="020B0604020202020204" pitchFamily="34" charset="0"/>
              </a:rPr>
              <a:t>. Si la </a:t>
            </a:r>
            <a:r>
              <a:rPr lang="en-US" sz="1200" dirty="0" err="1">
                <a:latin typeface="Arial" panose="020B0604020202020204" pitchFamily="34" charset="0"/>
                <a:cs typeface="Arial" panose="020B0604020202020204" pitchFamily="34" charset="0"/>
              </a:rPr>
              <a:t>guia</a:t>
            </a:r>
            <a:r>
              <a:rPr lang="en-US" sz="1200" dirty="0">
                <a:latin typeface="Arial" panose="020B0604020202020204" pitchFamily="34" charset="0"/>
                <a:cs typeface="Arial" panose="020B0604020202020204" pitchFamily="34" charset="0"/>
              </a:rPr>
              <a:t> fuera mas </a:t>
            </a:r>
            <a:r>
              <a:rPr lang="en-US" sz="1200" dirty="0" err="1">
                <a:latin typeface="Arial" panose="020B0604020202020204" pitchFamily="34" charset="0"/>
                <a:cs typeface="Arial" panose="020B0604020202020204" pitchFamily="34" charset="0"/>
              </a:rPr>
              <a:t>ancha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habria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modirficar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clad</a:t>
            </a:r>
          </a:p>
          <a:p>
            <a:pPr marL="171450" indent="-171450" algn="just">
              <a:buFont typeface="Arial" panose="020B0604020202020204" pitchFamily="34" charset="0"/>
              <a:buChar char="•"/>
            </a:pP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definido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calculase</a:t>
            </a:r>
            <a:r>
              <a:rPr lang="en-US" sz="1200" dirty="0">
                <a:latin typeface="Arial" panose="020B0604020202020204" pitchFamily="34" charset="0"/>
                <a:cs typeface="Arial" panose="020B0604020202020204" pitchFamily="34" charset="0"/>
              </a:rPr>
              <a:t> cuatro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esos</a:t>
            </a:r>
            <a:r>
              <a:rPr lang="en-US" sz="1200" dirty="0">
                <a:latin typeface="Arial" panose="020B0604020202020204" pitchFamily="34" charset="0"/>
                <a:cs typeface="Arial" panose="020B0604020202020204" pitchFamily="34" charset="0"/>
              </a:rPr>
              <a:t> cuatro solo </a:t>
            </a:r>
            <a:r>
              <a:rPr lang="en-US" sz="1200" dirty="0" err="1">
                <a:latin typeface="Arial" panose="020B0604020202020204" pitchFamily="34" charset="0"/>
                <a:cs typeface="Arial" panose="020B0604020202020204" pitchFamily="34" charset="0"/>
              </a:rPr>
              <a:t>estan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confinados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dos </a:t>
            </a:r>
            <a:r>
              <a:rPr lang="en-US" sz="1200" dirty="0" err="1">
                <a:latin typeface="Arial" panose="020B0604020202020204" pitchFamily="34" charset="0"/>
                <a:cs typeface="Arial" panose="020B0604020202020204" pitchFamily="34" charset="0"/>
              </a:rPr>
              <a:t>primeros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son TE0 y TM0. Los </a:t>
            </a:r>
            <a:r>
              <a:rPr lang="en-US" sz="1200" dirty="0" err="1">
                <a:latin typeface="Arial" panose="020B0604020202020204" pitchFamily="34" charset="0"/>
                <a:cs typeface="Arial" panose="020B0604020202020204" pitchFamily="34" charset="0"/>
              </a:rPr>
              <a:t>otros</a:t>
            </a:r>
            <a:r>
              <a:rPr lang="en-US" sz="1200" dirty="0">
                <a:latin typeface="Arial" panose="020B0604020202020204" pitchFamily="34" charset="0"/>
                <a:cs typeface="Arial" panose="020B0604020202020204" pitchFamily="34" charset="0"/>
              </a:rPr>
              <a:t> dos no </a:t>
            </a:r>
            <a:r>
              <a:rPr lang="en-US" sz="1200" dirty="0" err="1">
                <a:latin typeface="Arial" panose="020B0604020202020204" pitchFamily="34" charset="0"/>
                <a:cs typeface="Arial" panose="020B0604020202020204" pitchFamily="34" charset="0"/>
              </a:rPr>
              <a:t>estan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confinados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porque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su</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indice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a:t>
            </a:r>
            <a:r>
              <a:rPr lang="en-US" sz="1200" dirty="0">
                <a:latin typeface="Arial" panose="020B0604020202020204" pitchFamily="34" charset="0"/>
                <a:cs typeface="Arial" panose="020B0604020202020204" pitchFamily="34" charset="0"/>
              </a:rPr>
              <a:t> del modo es </a:t>
            </a:r>
            <a:r>
              <a:rPr lang="en-US" sz="1200" dirty="0" err="1">
                <a:latin typeface="Arial" panose="020B0604020202020204" pitchFamily="34" charset="0"/>
                <a:cs typeface="Arial" panose="020B0604020202020204" pitchFamily="34" charset="0"/>
              </a:rPr>
              <a:t>menor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cubierta</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tanto </a:t>
            </a:r>
            <a:r>
              <a:rPr lang="en-US" sz="1200" dirty="0" err="1">
                <a:latin typeface="Arial" panose="020B0604020202020204" pitchFamily="34" charset="0"/>
                <a:cs typeface="Arial" panose="020B0604020202020204" pitchFamily="34" charset="0"/>
              </a:rPr>
              <a:t>ya</a:t>
            </a:r>
            <a:r>
              <a:rPr lang="en-US" sz="1200" dirty="0">
                <a:latin typeface="Arial" panose="020B0604020202020204" pitchFamily="34" charset="0"/>
                <a:cs typeface="Arial" panose="020B0604020202020204" pitchFamily="34" charset="0"/>
              </a:rPr>
              <a:t> no </a:t>
            </a:r>
            <a:r>
              <a:rPr lang="en-US" sz="1200" dirty="0" err="1">
                <a:latin typeface="Arial" panose="020B0604020202020204" pitchFamily="34" charset="0"/>
                <a:cs typeface="Arial" panose="020B0604020202020204" pitchFamily="34" charset="0"/>
              </a:rPr>
              <a:t>estan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nucleo</a:t>
            </a:r>
            <a:r>
              <a:rPr lang="en-US" sz="1200" dirty="0">
                <a:latin typeface="Arial" panose="020B0604020202020204" pitchFamily="34" charset="0"/>
                <a:cs typeface="Arial" panose="020B0604020202020204" pitchFamily="34" charset="0"/>
              </a:rPr>
              <a:t>. </a:t>
            </a: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620A16-F2F4-9AF8-DF86-1F9986DB1463}"/>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E661BFD-005B-617B-7E44-9EBDCA76A8D3}"/>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Effective index of a waveguide</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B8F9C000-EAE2-45D7-BAAE-08F90DCC2F2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618349C-6186-B659-A1FB-DCB5D31E6447}"/>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63269ADA-2EAB-1916-57A2-82CCB1F3A5CC}"/>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4" name="Marcador de texto 2">
            <a:extLst>
              <a:ext uri="{FF2B5EF4-FFF2-40B4-BE49-F238E27FC236}">
                <a16:creationId xmlns:a16="http://schemas.microsoft.com/office/drawing/2014/main" id="{8913B8E7-4B48-4485-0C30-71290D04EE4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dirty="0"/>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FA4BDF88-73DC-AAF8-4E1D-3CE69A3FDCD6}"/>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(neff, plot fields </a:t>
            </a:r>
            <a:r>
              <a:rPr lang="en-US" sz="1200">
                <a:latin typeface="Arial" panose="020B0604020202020204" pitchFamily="34" charset="0"/>
                <a:cs typeface="Arial" panose="020B0604020202020204" pitchFamily="34" charset="0"/>
              </a:rPr>
              <a:t>of different modes, </a:t>
            </a:r>
            <a:r>
              <a:rPr lang="en-US" sz="1200" dirty="0">
                <a:latin typeface="Arial" panose="020B0604020202020204" pitchFamily="34" charset="0"/>
                <a:cs typeface="Arial" panose="020B0604020202020204" pitchFamily="34" charset="0"/>
              </a:rPr>
              <a:t>comparison between </a:t>
            </a:r>
            <a:r>
              <a:rPr lang="en-US" sz="1200">
                <a:latin typeface="Arial" panose="020B0604020202020204" pitchFamily="34" charset="0"/>
                <a:cs typeface="Arial" panose="020B0604020202020204" pitchFamily="34" charset="0"/>
              </a:rPr>
              <a:t>different polarizations…)</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890022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30471-E512-5565-2D88-AFBC3C1FEF4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35319B52-BE7A-5EDF-8847-CE583D00CA59}"/>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Wavelength behavior</a:t>
            </a:r>
            <a:br>
              <a:rPr lang="es-ES" sz="2500" spc="-5" dirty="0">
                <a:latin typeface="+mj-lt"/>
                <a:cs typeface="Lucida Sans"/>
              </a:rPr>
            </a:br>
            <a:r>
              <a:rPr lang="en-US" b="0" dirty="0"/>
              <a:t>Wavelength 1.5-1.6 µm (step 0.01 µm) – width 1.2 µm</a:t>
            </a:r>
            <a:endParaRPr sz="2500" b="0" dirty="0">
              <a:latin typeface="+mj-lt"/>
              <a:cs typeface="Lucida Sans"/>
            </a:endParaRPr>
          </a:p>
        </p:txBody>
      </p:sp>
      <p:pic>
        <p:nvPicPr>
          <p:cNvPr id="83" name="Gráfico 82">
            <a:extLst>
              <a:ext uri="{FF2B5EF4-FFF2-40B4-BE49-F238E27FC236}">
                <a16:creationId xmlns:a16="http://schemas.microsoft.com/office/drawing/2014/main" id="{8B7A066D-CBDC-5798-F1F7-24E0CB1B0C5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746A4DE-8EDB-DF1F-F14B-0A1D45EB6811}"/>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053B11AF-D881-E24A-11EA-EE0F800E3D08}"/>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ED4649C8-97D0-793B-D973-63B9588C8D57}"/>
                  </a:ext>
                </a:extLst>
              </p:cNvPr>
              <p:cNvSpPr txBox="1"/>
              <p:nvPr/>
            </p:nvSpPr>
            <p:spPr>
              <a:xfrm>
                <a:off x="583019" y="4819380"/>
                <a:ext cx="11199971" cy="161781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(neff changes this way with wavelength, comparison between different waveguide cross-sections …</a:t>
                </a:r>
                <a:r>
                  <a:rPr lang="en-US" sz="1200" dirty="0" err="1">
                    <a:latin typeface="Arial" panose="020B0604020202020204" pitchFamily="34" charset="0"/>
                    <a:cs typeface="Arial" panose="020B0604020202020204" pitchFamily="34" charset="0"/>
                  </a:rPr>
                  <a:t>etc</a:t>
                </a:r>
                <a:r>
                  <a:rPr lang="en-US" sz="1200" dirty="0">
                    <a:latin typeface="Arial" panose="020B0604020202020204" pitchFamily="34" charset="0"/>
                    <a:cs typeface="Arial" panose="020B0604020202020204" pitchFamily="34" charset="0"/>
                  </a:rPr>
                  <a:t>)</a:t>
                </a:r>
              </a:p>
              <a:p>
                <a:pPr algn="just"/>
                <a:r>
                  <a:rPr lang="en-US" sz="1200" dirty="0">
                    <a:latin typeface="Arial" panose="020B0604020202020204" pitchFamily="34" charset="0"/>
                    <a:cs typeface="Arial" panose="020B0604020202020204" pitchFamily="34" charset="0"/>
                  </a:rPr>
                  <a:t>En </a:t>
                </a:r>
                <a:r>
                  <a:rPr lang="en-US" sz="1200" dirty="0" err="1">
                    <a:latin typeface="Arial" panose="020B0604020202020204" pitchFamily="34" charset="0"/>
                    <a:cs typeface="Arial" panose="020B0604020202020204" pitchFamily="34" charset="0"/>
                  </a:rPr>
                  <a:t>estas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primeras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figuras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representadas</a:t>
                </a:r>
                <a:r>
                  <a:rPr lang="en-US" sz="1200" dirty="0">
                    <a:latin typeface="Arial" panose="020B0604020202020204" pitchFamily="34" charset="0"/>
                    <a:cs typeface="Arial" panose="020B0604020202020204" pitchFamily="34" charset="0"/>
                  </a:rPr>
                  <a:t> las cross sections de la </a:t>
                </a:r>
                <a:r>
                  <a:rPr lang="en-US" sz="1200" dirty="0" err="1">
                    <a:latin typeface="Arial" panose="020B0604020202020204" pitchFamily="34" charset="0"/>
                    <a:cs typeface="Arial" panose="020B0604020202020204" pitchFamily="34" charset="0"/>
                  </a:rPr>
                  <a:t>guia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shallow y la </a:t>
                </a:r>
                <a:r>
                  <a:rPr lang="en-US" sz="1200" dirty="0" err="1">
                    <a:latin typeface="Arial" panose="020B0604020202020204" pitchFamily="34" charset="0"/>
                    <a:cs typeface="Arial" panose="020B0604020202020204" pitchFamily="34" charset="0"/>
                  </a:rPr>
                  <a:t>guia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deep, </a:t>
                </a:r>
                <a:r>
                  <a:rPr lang="en-US" sz="1200" dirty="0" err="1">
                    <a:latin typeface="Arial" panose="020B0604020202020204" pitchFamily="34" charset="0"/>
                    <a:cs typeface="Arial" panose="020B0604020202020204" pitchFamily="34" charset="0"/>
                  </a:rPr>
                  <a:t>respectivamente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shallow </a:t>
                </a:r>
                <a:r>
                  <a:rPr lang="en-US" sz="1200" dirty="0" err="1">
                    <a:latin typeface="Arial" panose="020B0604020202020204" pitchFamily="34" charset="0"/>
                    <a:cs typeface="Arial" panose="020B0604020202020204" pitchFamily="34" charset="0"/>
                  </a:rPr>
                  <a:t>está</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representada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su</a:t>
                </a:r>
                <a:r>
                  <a:rPr lang="en-US" sz="1200" dirty="0">
                    <a:latin typeface="Arial" panose="020B0604020202020204" pitchFamily="34" charset="0"/>
                    <a:cs typeface="Arial" panose="020B0604020202020204" pitchFamily="34" charset="0"/>
                  </a:rPr>
                  <a:t> slab y </a:t>
                </a:r>
                <a:r>
                  <a:rPr lang="en-US" sz="1200" dirty="0" err="1">
                    <a:latin typeface="Arial" panose="020B0604020202020204" pitchFamily="34" charset="0"/>
                    <a:cs typeface="Arial" panose="020B0604020202020204" pitchFamily="34" charset="0"/>
                  </a:rPr>
                  <a:t>tiene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mismo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indice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a:t>
                </a:r>
                <a:r>
                  <a:rPr lang="en-US" sz="1200" dirty="0">
                    <a:latin typeface="Arial" panose="020B0604020202020204" pitchFamily="34" charset="0"/>
                    <a:cs typeface="Arial" panose="020B0604020202020204" pitchFamily="34" charset="0"/>
                  </a:rPr>
                  <a:t> </a:t>
                </a:r>
              </a:p>
              <a:p>
                <a:r>
                  <a:rPr lang="es-ES" sz="1200" dirty="0"/>
                  <a:t>La diferencia principal es que la </a:t>
                </a:r>
                <a:r>
                  <a:rPr lang="es-ES" sz="1200" i="1" dirty="0" err="1"/>
                  <a:t>shallow</a:t>
                </a:r>
                <a:r>
                  <a:rPr lang="es-ES" sz="1200" dirty="0"/>
                  <a:t> tiene una capa de </a:t>
                </a:r>
                <a:r>
                  <a:rPr lang="es-ES" sz="1200" i="1" dirty="0" err="1"/>
                  <a:t>slab</a:t>
                </a:r>
                <a:r>
                  <a:rPr lang="es-ES" sz="1200" dirty="0"/>
                  <a:t> (material de núcleo) fuera del </a:t>
                </a:r>
                <a:r>
                  <a:rPr lang="es-ES" sz="1200" dirty="0" err="1"/>
                  <a:t>rib</a:t>
                </a:r>
                <a:r>
                  <a:rPr lang="es-ES" sz="1200" dirty="0"/>
                  <a:t>, mientras que en la </a:t>
                </a:r>
                <a:r>
                  <a:rPr lang="es-ES" sz="1200" i="1" dirty="0" err="1"/>
                  <a:t>deep</a:t>
                </a:r>
                <a:r>
                  <a:rPr lang="es-ES" sz="1200" dirty="0"/>
                  <a:t> esa zona está completamente rodeada por la cubierta (</a:t>
                </a:r>
                <a:r>
                  <a:rPr lang="es-ES" sz="1200" dirty="0" err="1"/>
                  <a:t>SiO</a:t>
                </a:r>
                <a:r>
                  <a:rPr lang="es-ES" sz="1200" dirty="0"/>
                  <a:t>₂).</a:t>
                </a:r>
              </a:p>
              <a:p>
                <a:r>
                  <a:rPr lang="es-ES" sz="1200" dirty="0"/>
                  <a:t>Debido a esto, en la guía </a:t>
                </a:r>
                <a:r>
                  <a:rPr lang="es-ES" sz="1200" i="1" dirty="0" err="1"/>
                  <a:t>shallow</a:t>
                </a:r>
                <a:r>
                  <a:rPr lang="es-ES" sz="1200" dirty="0"/>
                  <a:t> el modo está más confinado en material de alto índice, ya que parte del campo también se propaga por el </a:t>
                </a:r>
                <a:r>
                  <a:rPr lang="es-ES" sz="1200" dirty="0" err="1"/>
                  <a:t>slab</a:t>
                </a:r>
                <a:r>
                  <a:rPr lang="es-ES" sz="1200" dirty="0"/>
                  <a:t>. Como el índice efectivo </a:t>
                </a:r>
                <a14:m>
                  <m:oMath xmlns:m="http://schemas.openxmlformats.org/officeDocument/2006/math">
                    <m:sSub>
                      <m:sSubPr>
                        <m:ctrlPr>
                          <a:rPr lang="ar-AE" sz="1200" i="1">
                            <a:latin typeface="Cambria Math" panose="02040503050406030204" pitchFamily="18" charset="0"/>
                          </a:rPr>
                        </m:ctrlPr>
                      </m:sSubPr>
                      <m:e>
                        <m:r>
                          <m:rPr>
                            <m:sty m:val="p"/>
                          </m:rPr>
                          <a:rPr lang="ar-AE" sz="1200" i="0">
                            <a:latin typeface="Cambria Math" panose="02040503050406030204" pitchFamily="18" charset="0"/>
                          </a:rPr>
                          <m:t>n</m:t>
                        </m:r>
                      </m:e>
                      <m:sub>
                        <m:r>
                          <m:rPr>
                            <m:nor/>
                          </m:rPr>
                          <a:rPr lang="es-ES" sz="1200">
                            <a:latin typeface="+mj-lt"/>
                          </a:rPr>
                          <m:t>eff</m:t>
                        </m:r>
                      </m:sub>
                    </m:sSub>
                  </m:oMath>
                </a14:m>
                <a:r>
                  <a:rPr lang="es-ES" sz="1200" dirty="0"/>
                  <a:t> depende del material que “ve” el modo, al haber mayor fracción de campo en el núcleo, su valor es más alto.</a:t>
                </a:r>
              </a:p>
              <a:p>
                <a:r>
                  <a:rPr lang="es-ES" sz="1200" dirty="0"/>
                  <a:t>En cambio, en la guía </a:t>
                </a:r>
                <a:r>
                  <a:rPr lang="es-ES" sz="1200" i="1" dirty="0" err="1"/>
                  <a:t>deep</a:t>
                </a:r>
                <a:r>
                  <a:rPr lang="es-ES" sz="1200" dirty="0"/>
                  <a:t> el campo se extiende más hacia la cubierta (índice menor), lo que reduce el confinamiento y hace que </a:t>
                </a:r>
                <a14:m>
                  <m:oMath xmlns:m="http://schemas.openxmlformats.org/officeDocument/2006/math">
                    <m:sSub>
                      <m:sSubPr>
                        <m:ctrlPr>
                          <a:rPr lang="ar-AE" sz="1200" i="1">
                            <a:latin typeface="Cambria Math" panose="02040503050406030204" pitchFamily="18" charset="0"/>
                          </a:rPr>
                        </m:ctrlPr>
                      </m:sSubPr>
                      <m:e>
                        <m:r>
                          <m:rPr>
                            <m:sty m:val="p"/>
                          </m:rPr>
                          <a:rPr lang="ar-AE" sz="1200" i="0">
                            <a:latin typeface="Cambria Math" panose="02040503050406030204" pitchFamily="18" charset="0"/>
                          </a:rPr>
                          <m:t>n</m:t>
                        </m:r>
                      </m:e>
                      <m:sub>
                        <m:r>
                          <m:rPr>
                            <m:nor/>
                          </m:rPr>
                          <a:rPr lang="es-ES" sz="1200">
                            <a:latin typeface="+mj-lt"/>
                          </a:rPr>
                          <m:t>eff</m:t>
                        </m:r>
                      </m:sub>
                    </m:sSub>
                  </m:oMath>
                </a14:m>
                <a:r>
                  <a:rPr lang="es-ES" sz="1200" dirty="0"/>
                  <a:t> sea más bajo.</a:t>
                </a:r>
              </a:p>
            </p:txBody>
          </p:sp>
        </mc:Choice>
        <mc:Fallback xmlns="">
          <p:sp>
            <p:nvSpPr>
              <p:cNvPr id="2" name="CuadroTexto 1">
                <a:extLst>
                  <a:ext uri="{FF2B5EF4-FFF2-40B4-BE49-F238E27FC236}">
                    <a16:creationId xmlns:a16="http://schemas.microsoft.com/office/drawing/2014/main" id="{ED4649C8-97D0-793B-D973-63B9588C8D57}"/>
                  </a:ext>
                </a:extLst>
              </p:cNvPr>
              <p:cNvSpPr txBox="1">
                <a:spLocks noRot="1" noChangeAspect="1" noMove="1" noResize="1" noEditPoints="1" noAdjustHandles="1" noChangeArrowheads="1" noChangeShapeType="1" noTextEdit="1"/>
              </p:cNvSpPr>
              <p:nvPr/>
            </p:nvSpPr>
            <p:spPr>
              <a:xfrm>
                <a:off x="583019" y="4819380"/>
                <a:ext cx="11199971" cy="1617815"/>
              </a:xfrm>
              <a:prstGeom prst="rect">
                <a:avLst/>
              </a:prstGeom>
              <a:blipFill>
                <a:blip r:embed="rId5"/>
                <a:stretch>
                  <a:fillRect/>
                </a:stretch>
              </a:blipFill>
              <a:ln w="28575">
                <a:solidFill>
                  <a:srgbClr val="E0700D"/>
                </a:solidFill>
              </a:ln>
            </p:spPr>
            <p:txBody>
              <a:bodyPr/>
              <a:lstStyle/>
              <a:p>
                <a:r>
                  <a:rPr lang="es-ES">
                    <a:noFill/>
                  </a:rPr>
                  <a:t> </a:t>
                </a:r>
              </a:p>
            </p:txBody>
          </p:sp>
        </mc:Fallback>
      </mc:AlternateContent>
      <p:sp>
        <p:nvSpPr>
          <p:cNvPr id="5" name="Rectángulo 4">
            <a:extLst>
              <a:ext uri="{FF2B5EF4-FFF2-40B4-BE49-F238E27FC236}">
                <a16:creationId xmlns:a16="http://schemas.microsoft.com/office/drawing/2014/main" id="{A0065779-FA07-79A3-959D-85192B0F35AB}"/>
              </a:ext>
            </a:extLst>
          </p:cNvPr>
          <p:cNvSpPr/>
          <p:nvPr/>
        </p:nvSpPr>
        <p:spPr>
          <a:xfrm>
            <a:off x="609441" y="1418373"/>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ángulo 6">
            <a:extLst>
              <a:ext uri="{FF2B5EF4-FFF2-40B4-BE49-F238E27FC236}">
                <a16:creationId xmlns:a16="http://schemas.microsoft.com/office/drawing/2014/main" id="{DD143A1E-54DE-4E0B-C607-E875A8C41D19}"/>
              </a:ext>
            </a:extLst>
          </p:cNvPr>
          <p:cNvSpPr/>
          <p:nvPr/>
        </p:nvSpPr>
        <p:spPr>
          <a:xfrm>
            <a:off x="6476841" y="1418373"/>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uadroTexto 8">
            <a:extLst>
              <a:ext uri="{FF2B5EF4-FFF2-40B4-BE49-F238E27FC236}">
                <a16:creationId xmlns:a16="http://schemas.microsoft.com/office/drawing/2014/main" id="{9DC9140D-3EAB-09C8-E28A-4AFA565F7F80}"/>
              </a:ext>
            </a:extLst>
          </p:cNvPr>
          <p:cNvSpPr txBox="1"/>
          <p:nvPr/>
        </p:nvSpPr>
        <p:spPr>
          <a:xfrm>
            <a:off x="609441" y="1069729"/>
            <a:ext cx="1447959" cy="369332"/>
          </a:xfrm>
          <a:prstGeom prst="rect">
            <a:avLst/>
          </a:prstGeom>
          <a:noFill/>
        </p:spPr>
        <p:txBody>
          <a:bodyPr wrap="square">
            <a:spAutoFit/>
          </a:bodyPr>
          <a:lstStyle/>
          <a:p>
            <a:r>
              <a:rPr lang="en-US" dirty="0"/>
              <a:t>slab = 150nm</a:t>
            </a:r>
            <a:endParaRPr lang="es-ES" dirty="0"/>
          </a:p>
        </p:txBody>
      </p:sp>
      <p:pic>
        <p:nvPicPr>
          <p:cNvPr id="6" name="Imagen 5" descr="Gráfico, Histograma&#10;&#10;El contenido generado por IA puede ser incorrecto.">
            <a:extLst>
              <a:ext uri="{FF2B5EF4-FFF2-40B4-BE49-F238E27FC236}">
                <a16:creationId xmlns:a16="http://schemas.microsoft.com/office/drawing/2014/main" id="{8CF22875-A714-89D0-83B7-0730E24CDFD7}"/>
              </a:ext>
            </a:extLst>
          </p:cNvPr>
          <p:cNvPicPr>
            <a:picLocks noChangeAspect="1"/>
          </p:cNvPicPr>
          <p:nvPr/>
        </p:nvPicPr>
        <p:blipFill>
          <a:blip r:embed="rId6"/>
          <a:stretch>
            <a:fillRect/>
          </a:stretch>
        </p:blipFill>
        <p:spPr>
          <a:xfrm>
            <a:off x="1159842" y="1558564"/>
            <a:ext cx="4231768" cy="3075628"/>
          </a:xfrm>
          <a:prstGeom prst="rect">
            <a:avLst/>
          </a:prstGeom>
        </p:spPr>
      </p:pic>
      <p:pic>
        <p:nvPicPr>
          <p:cNvPr id="11" name="Imagen 10" descr="Gráfico&#10;&#10;El contenido generado por IA puede ser incorrecto.">
            <a:extLst>
              <a:ext uri="{FF2B5EF4-FFF2-40B4-BE49-F238E27FC236}">
                <a16:creationId xmlns:a16="http://schemas.microsoft.com/office/drawing/2014/main" id="{D2D86B35-4FF6-F1E5-2DDC-A2A060CB8490}"/>
              </a:ext>
            </a:extLst>
          </p:cNvPr>
          <p:cNvPicPr>
            <a:picLocks noChangeAspect="1"/>
          </p:cNvPicPr>
          <p:nvPr/>
        </p:nvPicPr>
        <p:blipFill>
          <a:blip r:embed="rId7"/>
          <a:stretch>
            <a:fillRect/>
          </a:stretch>
        </p:blipFill>
        <p:spPr>
          <a:xfrm>
            <a:off x="6975997" y="1527005"/>
            <a:ext cx="4377803" cy="3172763"/>
          </a:xfrm>
          <a:prstGeom prst="rect">
            <a:avLst/>
          </a:prstGeom>
        </p:spPr>
      </p:pic>
    </p:spTree>
    <p:extLst>
      <p:ext uri="{BB962C8B-B14F-4D97-AF65-F5344CB8AC3E}">
        <p14:creationId xmlns:p14="http://schemas.microsoft.com/office/powerpoint/2010/main" val="6524720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Wavelength behavior</a:t>
            </a:r>
            <a:br>
              <a:rPr lang="es-ES" sz="2500" spc="-5" dirty="0">
                <a:latin typeface="+mj-lt"/>
                <a:cs typeface="Lucida Sans"/>
              </a:rPr>
            </a:br>
            <a:r>
              <a:rPr lang="en-US" b="0" dirty="0"/>
              <a:t>Wavelength 1.5-1.6 µm (step 0.01 µm) – width 1.2 µm</a:t>
            </a:r>
            <a:endParaRPr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Rectángulo 4">
            <a:extLst>
              <a:ext uri="{FF2B5EF4-FFF2-40B4-BE49-F238E27FC236}">
                <a16:creationId xmlns:a16="http://schemas.microsoft.com/office/drawing/2014/main" id="{88F19863-7091-B8CA-F848-DBEA5CEEA027}"/>
              </a:ext>
            </a:extLst>
          </p:cNvPr>
          <p:cNvSpPr/>
          <p:nvPr/>
        </p:nvSpPr>
        <p:spPr>
          <a:xfrm>
            <a:off x="609441" y="1418373"/>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ángulo 6">
            <a:extLst>
              <a:ext uri="{FF2B5EF4-FFF2-40B4-BE49-F238E27FC236}">
                <a16:creationId xmlns:a16="http://schemas.microsoft.com/office/drawing/2014/main" id="{21F754A5-65BC-14A3-5F55-75716FFA9027}"/>
              </a:ext>
            </a:extLst>
          </p:cNvPr>
          <p:cNvSpPr/>
          <p:nvPr/>
        </p:nvSpPr>
        <p:spPr>
          <a:xfrm>
            <a:off x="6476841" y="1418373"/>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uadroTexto 8">
            <a:extLst>
              <a:ext uri="{FF2B5EF4-FFF2-40B4-BE49-F238E27FC236}">
                <a16:creationId xmlns:a16="http://schemas.microsoft.com/office/drawing/2014/main" id="{8BD4C233-B5D9-B6AA-93A8-CF2F130CFF9C}"/>
              </a:ext>
            </a:extLst>
          </p:cNvPr>
          <p:cNvSpPr txBox="1"/>
          <p:nvPr/>
        </p:nvSpPr>
        <p:spPr>
          <a:xfrm>
            <a:off x="542887" y="5045798"/>
            <a:ext cx="3267113" cy="369332"/>
          </a:xfrm>
          <a:prstGeom prst="rect">
            <a:avLst/>
          </a:prstGeom>
          <a:noFill/>
        </p:spPr>
        <p:txBody>
          <a:bodyPr wrap="square">
            <a:spAutoFit/>
          </a:bodyPr>
          <a:lstStyle/>
          <a:p>
            <a:r>
              <a:rPr lang="en-US" dirty="0" err="1"/>
              <a:t>slab_thickness</a:t>
            </a:r>
            <a:r>
              <a:rPr lang="en-US" dirty="0"/>
              <a:t> = 150nm</a:t>
            </a:r>
            <a:endParaRPr lang="es-ES" dirty="0"/>
          </a:p>
        </p:txBody>
      </p:sp>
      <p:pic>
        <p:nvPicPr>
          <p:cNvPr id="10" name="Imagen 9" descr="Gráfico&#10;&#10;El contenido generado por IA puede ser incorrecto.">
            <a:extLst>
              <a:ext uri="{FF2B5EF4-FFF2-40B4-BE49-F238E27FC236}">
                <a16:creationId xmlns:a16="http://schemas.microsoft.com/office/drawing/2014/main" id="{0E2661E7-F8B1-FC85-20AA-858D01336D29}"/>
              </a:ext>
            </a:extLst>
          </p:cNvPr>
          <p:cNvPicPr>
            <a:picLocks noChangeAspect="1"/>
          </p:cNvPicPr>
          <p:nvPr/>
        </p:nvPicPr>
        <p:blipFill>
          <a:blip r:embed="rId5"/>
          <a:srcRect b="2187"/>
          <a:stretch>
            <a:fillRect/>
          </a:stretch>
        </p:blipFill>
        <p:spPr>
          <a:xfrm>
            <a:off x="6550910" y="1508141"/>
            <a:ext cx="5258502" cy="3010670"/>
          </a:xfrm>
          <a:prstGeom prst="rect">
            <a:avLst/>
          </a:prstGeom>
        </p:spPr>
      </p:pic>
      <p:pic>
        <p:nvPicPr>
          <p:cNvPr id="12" name="Imagen 11" descr="Gráfico&#10;&#10;El contenido generado por IA puede ser incorrecto.">
            <a:extLst>
              <a:ext uri="{FF2B5EF4-FFF2-40B4-BE49-F238E27FC236}">
                <a16:creationId xmlns:a16="http://schemas.microsoft.com/office/drawing/2014/main" id="{D207EA98-5B09-BC58-0A08-FC2F68FB5952}"/>
              </a:ext>
            </a:extLst>
          </p:cNvPr>
          <p:cNvPicPr>
            <a:picLocks noChangeAspect="1"/>
          </p:cNvPicPr>
          <p:nvPr/>
        </p:nvPicPr>
        <p:blipFill>
          <a:blip r:embed="rId6"/>
          <a:stretch>
            <a:fillRect/>
          </a:stretch>
        </p:blipFill>
        <p:spPr>
          <a:xfrm>
            <a:off x="664029" y="1573281"/>
            <a:ext cx="5143103" cy="2996211"/>
          </a:xfrm>
          <a:prstGeom prst="rect">
            <a:avLst/>
          </a:prstGeom>
        </p:spPr>
      </p:pic>
    </p:spTree>
    <p:extLst>
      <p:ext uri="{BB962C8B-B14F-4D97-AF65-F5344CB8AC3E}">
        <p14:creationId xmlns:p14="http://schemas.microsoft.com/office/powerpoint/2010/main" val="37123560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AE487D-A41E-9467-90C4-9B4FFD31689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B639599-FD86-26FE-4494-F92E30A0B3A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Wavelength behavior</a:t>
            </a:r>
            <a:br>
              <a:rPr lang="es-ES" sz="2500" spc="-5" dirty="0">
                <a:latin typeface="+mj-lt"/>
                <a:cs typeface="Lucida Sans"/>
              </a:rPr>
            </a:br>
            <a:r>
              <a:rPr lang="en-US" b="0" dirty="0"/>
              <a:t>Wavelength 1.5-1.6 µm (step 0.01 µm) – width 1.2 µm</a:t>
            </a:r>
            <a:endParaRPr sz="2500" b="0" dirty="0">
              <a:latin typeface="+mj-lt"/>
              <a:cs typeface="Lucida Sans"/>
            </a:endParaRPr>
          </a:p>
        </p:txBody>
      </p:sp>
      <p:pic>
        <p:nvPicPr>
          <p:cNvPr id="83" name="Gráfico 82">
            <a:extLst>
              <a:ext uri="{FF2B5EF4-FFF2-40B4-BE49-F238E27FC236}">
                <a16:creationId xmlns:a16="http://schemas.microsoft.com/office/drawing/2014/main" id="{6E7E29A8-0A3F-E680-4995-0B73838555B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B2E448D-F90B-316C-9A22-37B89D747027}"/>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5F50A87A-25D7-AC78-2D3C-65977DD80EED}"/>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6D243C48-D0CB-2131-C493-8E5DFCAD1557}"/>
                  </a:ext>
                </a:extLst>
              </p:cNvPr>
              <p:cNvSpPr txBox="1"/>
              <p:nvPr/>
            </p:nvSpPr>
            <p:spPr>
              <a:xfrm>
                <a:off x="685798" y="2183808"/>
                <a:ext cx="11199971" cy="245631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En primer </a:t>
                </a:r>
                <a:r>
                  <a:rPr lang="en-US" sz="1200" dirty="0" err="1">
                    <a:latin typeface="Arial" panose="020B0604020202020204" pitchFamily="34" charset="0"/>
                    <a:cs typeface="Arial" panose="020B0604020202020204" pitchFamily="34" charset="0"/>
                  </a:rPr>
                  <a:t>lugar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podemos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para la </a:t>
                </a:r>
                <a:r>
                  <a:rPr lang="en-US" sz="1200" dirty="0" err="1">
                    <a:latin typeface="Arial" panose="020B0604020202020204" pitchFamily="34" charset="0"/>
                    <a:cs typeface="Arial" panose="020B0604020202020204" pitchFamily="34" charset="0"/>
                  </a:rPr>
                  <a:t>guia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deep </a:t>
                </a:r>
                <a:r>
                  <a:rPr lang="en-US" sz="1200" dirty="0" err="1">
                    <a:latin typeface="Arial" panose="020B0604020202020204" pitchFamily="34" charset="0"/>
                    <a:cs typeface="Arial" panose="020B0604020202020204" pitchFamily="34" charset="0"/>
                  </a:rPr>
                  <a:t>solamente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propaga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modo 0 y 1, </a:t>
                </a:r>
                <a:r>
                  <a:rPr lang="en-US" sz="1200" dirty="0" err="1">
                    <a:latin typeface="Arial" panose="020B0604020202020204" pitchFamily="34" charset="0"/>
                    <a:cs typeface="Arial" panose="020B0604020202020204" pitchFamily="34" charset="0"/>
                  </a:rPr>
                  <a:t>mientras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otro</a:t>
                </a:r>
                <a:r>
                  <a:rPr lang="en-US" sz="1200" dirty="0">
                    <a:latin typeface="Arial" panose="020B0604020202020204" pitchFamily="34" charset="0"/>
                    <a:cs typeface="Arial" panose="020B0604020202020204" pitchFamily="34" charset="0"/>
                  </a:rPr>
                  <a:t> ado, para la </a:t>
                </a:r>
                <a:r>
                  <a:rPr lang="en-US" sz="1200" dirty="0" err="1">
                    <a:latin typeface="Arial" panose="020B0604020202020204" pitchFamily="34" charset="0"/>
                    <a:cs typeface="Arial" panose="020B0604020202020204" pitchFamily="34" charset="0"/>
                  </a:rPr>
                  <a:t>guia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shallow se </a:t>
                </a:r>
                <a:r>
                  <a:rPr lang="en-US" sz="1200" dirty="0" err="1">
                    <a:latin typeface="Arial" panose="020B0604020202020204" pitchFamily="34" charset="0"/>
                    <a:cs typeface="Arial" panose="020B0604020202020204" pitchFamily="34" charset="0"/>
                  </a:rPr>
                  <a:t>propagan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todas</a:t>
                </a:r>
                <a:r>
                  <a:rPr lang="en-US" sz="1200" dirty="0">
                    <a:latin typeface="Arial" panose="020B0604020202020204" pitchFamily="34" charset="0"/>
                    <a:cs typeface="Arial" panose="020B0604020202020204" pitchFamily="34" charset="0"/>
                  </a:rPr>
                  <a:t>. </a:t>
                </a:r>
              </a:p>
              <a:p>
                <a:pPr algn="just"/>
                <a:r>
                  <a:rPr lang="en-US" sz="1200" dirty="0">
                    <a:latin typeface="Arial" panose="020B0604020202020204" pitchFamily="34" charset="0"/>
                    <a:cs typeface="Arial" panose="020B0604020202020204" pitchFamily="34" charset="0"/>
                  </a:rPr>
                  <a:t>Para </a:t>
                </a:r>
                <a:r>
                  <a:rPr lang="en-US" sz="1200" dirty="0" err="1">
                    <a:latin typeface="Arial" panose="020B0604020202020204" pitchFamily="34" charset="0"/>
                    <a:cs typeface="Arial" panose="020B0604020202020204" pitchFamily="34" charset="0"/>
                  </a:rPr>
                  <a:t>entender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esto</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necesario</a:t>
                </a:r>
                <a:r>
                  <a:rPr lang="en-US" sz="1200" dirty="0">
                    <a:latin typeface="Arial" panose="020B0604020202020204" pitchFamily="34" charset="0"/>
                    <a:cs typeface="Arial" panose="020B0604020202020204" pitchFamily="34" charset="0"/>
                  </a:rPr>
                  <a:t> saber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considere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un modo se </a:t>
                </a:r>
                <a:r>
                  <a:rPr lang="en-US" sz="1200" dirty="0" err="1">
                    <a:latin typeface="Arial" panose="020B0604020202020204" pitchFamily="34" charset="0"/>
                    <a:cs typeface="Arial" panose="020B0604020202020204" pitchFamily="34" charset="0"/>
                  </a:rPr>
                  <a:t>está</a:t>
                </a:r>
                <a:r>
                  <a:rPr lang="en-US" sz="1200" dirty="0">
                    <a:latin typeface="Arial" panose="020B0604020202020204" pitchFamily="34" charset="0"/>
                    <a:cs typeface="Arial" panose="020B0604020202020204" pitchFamily="34" charset="0"/>
                  </a:rPr>
                  <a:t> propaganda, </a:t>
                </a:r>
                <a:r>
                  <a:rPr lang="en-US" sz="1200" dirty="0" err="1">
                    <a:latin typeface="Arial" panose="020B0604020202020204" pitchFamily="34" charset="0"/>
                    <a:cs typeface="Arial" panose="020B0604020202020204" pitchFamily="34" charset="0"/>
                  </a:rPr>
                  <a:t>su</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indice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tiene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menor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del </a:t>
                </a:r>
                <a:r>
                  <a:rPr lang="en-US" sz="1200" dirty="0" err="1">
                    <a:latin typeface="Arial" panose="020B0604020202020204" pitchFamily="34" charset="0"/>
                    <a:cs typeface="Arial" panose="020B0604020202020204" pitchFamily="34" charset="0"/>
                  </a:rPr>
                  <a:t>núcleo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caso</a:t>
                </a:r>
                <a:r>
                  <a:rPr lang="en-US" sz="1200" dirty="0">
                    <a:latin typeface="Arial" panose="020B0604020202020204" pitchFamily="34" charset="0"/>
                    <a:cs typeface="Arial" panose="020B0604020202020204" pitchFamily="34" charset="0"/>
                  </a:rPr>
                  <a:t> 2), y mayor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cubierta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caso</a:t>
                </a:r>
                <a:r>
                  <a:rPr lang="en-US" sz="1200" dirty="0">
                    <a:latin typeface="Arial" panose="020B0604020202020204" pitchFamily="34" charset="0"/>
                    <a:cs typeface="Arial" panose="020B0604020202020204" pitchFamily="34" charset="0"/>
                  </a:rPr>
                  <a:t> 1.55). </a:t>
                </a:r>
                <a:r>
                  <a:rPr lang="en-US" sz="1200" dirty="0" err="1">
                    <a:latin typeface="Arial" panose="020B0604020202020204" pitchFamily="34" charset="0"/>
                    <a:cs typeface="Arial" panose="020B0604020202020204" pitchFamily="34" charset="0"/>
                  </a:rPr>
                  <a:t>Además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visto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figuras</a:t>
                </a:r>
                <a:r>
                  <a:rPr lang="en-US" sz="1200" dirty="0">
                    <a:latin typeface="Arial" panose="020B0604020202020204" pitchFamily="34" charset="0"/>
                    <a:cs typeface="Arial" panose="020B0604020202020204" pitchFamily="34" charset="0"/>
                  </a:rPr>
                  <a:t> de las cross sections, la </a:t>
                </a:r>
                <a:r>
                  <a:rPr lang="en-US" sz="1200" dirty="0" err="1">
                    <a:latin typeface="Arial" panose="020B0604020202020204" pitchFamily="34" charset="0"/>
                    <a:cs typeface="Arial" panose="020B0604020202020204" pitchFamily="34" charset="0"/>
                  </a:rPr>
                  <a:t>guia</a:t>
                </a:r>
                <a:r>
                  <a:rPr lang="en-US" sz="1200" dirty="0">
                    <a:latin typeface="Arial" panose="020B0604020202020204" pitchFamily="34" charset="0"/>
                    <a:cs typeface="Arial" panose="020B0604020202020204" pitchFamily="34" charset="0"/>
                  </a:rPr>
                  <a:t> shallow al </a:t>
                </a:r>
                <a:r>
                  <a:rPr lang="en-US" sz="1200" dirty="0" err="1">
                    <a:latin typeface="Arial" panose="020B0604020202020204" pitchFamily="34" charset="0"/>
                    <a:cs typeface="Arial" panose="020B0604020202020204" pitchFamily="34" charset="0"/>
                  </a:rPr>
                  <a:t>tener</a:t>
                </a:r>
                <a:r>
                  <a:rPr lang="en-US" sz="1200" dirty="0">
                    <a:latin typeface="Arial" panose="020B0604020202020204" pitchFamily="34" charset="0"/>
                    <a:cs typeface="Arial" panose="020B0604020202020204" pitchFamily="34" charset="0"/>
                  </a:rPr>
                  <a:t> un slab  </a:t>
                </a:r>
                <a:r>
                  <a:rPr lang="en-US" sz="1200" dirty="0" err="1">
                    <a:latin typeface="Arial" panose="020B0604020202020204" pitchFamily="34" charset="0"/>
                    <a:cs typeface="Arial" panose="020B0604020202020204" pitchFamily="34" charset="0"/>
                  </a:rPr>
                  <a:t>hace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su</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indice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efectrivo</a:t>
                </a:r>
                <a:r>
                  <a:rPr lang="en-US" sz="1200" dirty="0">
                    <a:latin typeface="Arial" panose="020B0604020202020204" pitchFamily="34" charset="0"/>
                    <a:cs typeface="Arial" panose="020B0604020202020204" pitchFamily="34" charset="0"/>
                  </a:rPr>
                  <a:t> sea mayor para </a:t>
                </a:r>
                <a:r>
                  <a:rPr lang="en-US" sz="1200" dirty="0" err="1">
                    <a:latin typeface="Arial" panose="020B0604020202020204" pitchFamily="34" charset="0"/>
                    <a:cs typeface="Arial" panose="020B0604020202020204" pitchFamily="34" charset="0"/>
                  </a:rPr>
                  <a:t>todos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al </a:t>
                </a:r>
                <a:r>
                  <a:rPr lang="en-US" sz="1200" dirty="0" err="1">
                    <a:latin typeface="Arial" panose="020B0604020202020204" pitchFamily="34" charset="0"/>
                    <a:cs typeface="Arial" panose="020B0604020202020204" pitchFamily="34" charset="0"/>
                  </a:rPr>
                  <a:t>estar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mejor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confinado</a:t>
                </a:r>
                <a:r>
                  <a:rPr lang="en-US" sz="1200" dirty="0">
                    <a:latin typeface="Arial" panose="020B0604020202020204" pitchFamily="34" charset="0"/>
                    <a:cs typeface="Arial" panose="020B0604020202020204" pitchFamily="34" charset="0"/>
                  </a:rPr>
                  <a:t>. Por </a:t>
                </a:r>
                <a:r>
                  <a:rPr lang="en-US" sz="1200" dirty="0" err="1">
                    <a:latin typeface="Arial" panose="020B0604020202020204" pitchFamily="34" charset="0"/>
                    <a:cs typeface="Arial" panose="020B0604020202020204" pitchFamily="34" charset="0"/>
                  </a:rPr>
                  <a:t>otro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deep al no </a:t>
                </a:r>
                <a:r>
                  <a:rPr lang="en-US" sz="1200" dirty="0" err="1">
                    <a:latin typeface="Arial" panose="020B0604020202020204" pitchFamily="34" charset="0"/>
                    <a:cs typeface="Arial" panose="020B0604020202020204" pitchFamily="34" charset="0"/>
                  </a:rPr>
                  <a:t>tener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material, lo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hay </a:t>
                </a:r>
                <a:r>
                  <a:rPr lang="en-US" sz="1200" dirty="0" err="1">
                    <a:latin typeface="Arial" panose="020B0604020202020204" pitchFamily="34" charset="0"/>
                    <a:cs typeface="Arial" panose="020B0604020202020204" pitchFamily="34" charset="0"/>
                  </a:rPr>
                  <a:t>despues</a:t>
                </a:r>
                <a:r>
                  <a:rPr lang="en-US" sz="1200" dirty="0">
                    <a:latin typeface="Arial" panose="020B0604020202020204" pitchFamily="34" charset="0"/>
                    <a:cs typeface="Arial" panose="020B0604020202020204" pitchFamily="34" charset="0"/>
                  </a:rPr>
                  <a:t> del </a:t>
                </a:r>
                <a:r>
                  <a:rPr lang="en-US" sz="1200" dirty="0" err="1">
                    <a:latin typeface="Arial" panose="020B0604020202020204" pitchFamily="34" charset="0"/>
                    <a:cs typeface="Arial" panose="020B0604020202020204" pitchFamily="34" charset="0"/>
                  </a:rPr>
                  <a:t>nucleo</a:t>
                </a:r>
                <a:r>
                  <a:rPr lang="en-US" sz="1200" dirty="0">
                    <a:latin typeface="Arial" panose="020B0604020202020204" pitchFamily="34" charset="0"/>
                    <a:cs typeface="Arial" panose="020B0604020202020204" pitchFamily="34" charset="0"/>
                  </a:rPr>
                  <a:t> es material de Si02,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lo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su</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indice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disminuye</a:t>
                </a:r>
                <a:r>
                  <a:rPr lang="en-US" sz="1200" dirty="0">
                    <a:latin typeface="Arial" panose="020B0604020202020204" pitchFamily="34" charset="0"/>
                    <a:cs typeface="Arial" panose="020B0604020202020204" pitchFamily="34" charset="0"/>
                  </a:rPr>
                  <a:t> mas </a:t>
                </a:r>
                <a:r>
                  <a:rPr lang="en-US" sz="1200" dirty="0" err="1">
                    <a:latin typeface="Arial" panose="020B0604020202020204" pitchFamily="34" charset="0"/>
                    <a:cs typeface="Arial" panose="020B0604020202020204" pitchFamily="34" charset="0"/>
                  </a:rPr>
                  <a:t>rapidamente</a:t>
                </a:r>
                <a:r>
                  <a:rPr lang="en-US" sz="1200" dirty="0">
                    <a:latin typeface="Arial" panose="020B0604020202020204" pitchFamily="34" charset="0"/>
                    <a:cs typeface="Arial" panose="020B0604020202020204" pitchFamily="34" charset="0"/>
                  </a:rPr>
                  <a:t>, lo </a:t>
                </a:r>
                <a:r>
                  <a:rPr lang="en-US" sz="1200" dirty="0" err="1">
                    <a:latin typeface="Arial" panose="020B0604020202020204" pitchFamily="34" charset="0"/>
                    <a:cs typeface="Arial" panose="020B0604020202020204" pitchFamily="34" charset="0"/>
                  </a:rPr>
                  <a:t>cual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consiguiente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hace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esté</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menos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confinado</a:t>
                </a:r>
                <a:r>
                  <a:rPr lang="en-US" sz="1200" dirty="0">
                    <a:latin typeface="Arial" panose="020B0604020202020204" pitchFamily="34" charset="0"/>
                    <a:cs typeface="Arial" panose="020B0604020202020204" pitchFamily="34" charset="0"/>
                  </a:rPr>
                  <a:t>. </a:t>
                </a:r>
              </a:p>
              <a:p>
                <a:pPr algn="just"/>
                <a:r>
                  <a:rPr lang="es-ES" sz="1200" dirty="0"/>
                  <a:t>Además, en las gráficas se observa que el índice efectivo disminuye ligeramente al aumentar la longitud de onda para todos los modos y en ambas guías. Esto se debe a que, a mayores longitudes de onda, el modo se desconfina más y parte del campo se extiende hacia la cubierta, reduciendo el valor de </a:t>
                </a:r>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𝑛</m:t>
                        </m:r>
                      </m:e>
                      <m:sub>
                        <m:r>
                          <m:rPr>
                            <m:nor/>
                          </m:rPr>
                          <a:rPr lang="es-ES" i="1"/>
                          <m:t>eff</m:t>
                        </m:r>
                      </m:sub>
                    </m:sSub>
                  </m:oMath>
                </a14:m>
                <a:r>
                  <a:rPr lang="ar-AE" sz="1200" dirty="0"/>
                  <a:t>.</a:t>
                </a:r>
                <a:r>
                  <a:rPr lang="es-ES" sz="1200" dirty="0"/>
                  <a:t>, DEBIDO A QUE CUANDO AUMENTAMOS LAS LONGIUTDES DE ONDA AUMENTA SU TAMAÑO Y POR TANTO DISMINUUYE SU CONFINAMIENTO.</a:t>
                </a:r>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Cabe </a:t>
                </a:r>
                <a:r>
                  <a:rPr lang="en-US" sz="1200" dirty="0" err="1">
                    <a:latin typeface="Arial" panose="020B0604020202020204" pitchFamily="34" charset="0"/>
                    <a:cs typeface="Arial" panose="020B0604020202020204" pitchFamily="34" charset="0"/>
                  </a:rPr>
                  <a:t>mencionar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tambien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propaguen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todos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no es </a:t>
                </a:r>
                <a:r>
                  <a:rPr lang="en-US" sz="1200" dirty="0" err="1">
                    <a:latin typeface="Arial" panose="020B0604020202020204" pitchFamily="34" charset="0"/>
                    <a:cs typeface="Arial" panose="020B0604020202020204" pitchFamily="34" charset="0"/>
                  </a:rPr>
                  <a:t>tampoco</a:t>
                </a:r>
                <a:r>
                  <a:rPr lang="en-US" sz="1200" dirty="0">
                    <a:latin typeface="Arial" panose="020B0604020202020204" pitchFamily="34" charset="0"/>
                    <a:cs typeface="Arial" panose="020B0604020202020204" pitchFamily="34" charset="0"/>
                  </a:rPr>
                  <a:t> bueno, </a:t>
                </a:r>
                <a:r>
                  <a:rPr lang="en-US" sz="1200" dirty="0" err="1">
                    <a:latin typeface="Arial" panose="020B0604020202020204" pitchFamily="34" charset="0"/>
                    <a:cs typeface="Arial" panose="020B0604020202020204" pitchFamily="34" charset="0"/>
                  </a:rPr>
                  <a:t>ya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normalmente</a:t>
                </a:r>
                <a:r>
                  <a:rPr lang="en-US" sz="1200" dirty="0">
                    <a:latin typeface="Arial" panose="020B0604020202020204" pitchFamily="34" charset="0"/>
                    <a:cs typeface="Arial" panose="020B0604020202020204" pitchFamily="34" charset="0"/>
                  </a:rPr>
                  <a:t> solo </a:t>
                </a:r>
                <a:r>
                  <a:rPr lang="en-US" sz="1200" dirty="0" err="1">
                    <a:latin typeface="Arial" panose="020B0604020202020204" pitchFamily="34" charset="0"/>
                    <a:cs typeface="Arial" panose="020B0604020202020204" pitchFamily="34" charset="0"/>
                  </a:rPr>
                  <a:t>deseamos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propague</a:t>
                </a:r>
                <a:r>
                  <a:rPr lang="en-US" sz="1200" dirty="0">
                    <a:latin typeface="Arial" panose="020B0604020202020204" pitchFamily="34" charset="0"/>
                    <a:cs typeface="Arial" panose="020B0604020202020204" pitchFamily="34" charset="0"/>
                  </a:rPr>
                  <a:t> uno,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hecho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propaguen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distintos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a la </a:t>
                </a:r>
                <a:r>
                  <a:rPr lang="en-US" sz="1200" dirty="0" err="1">
                    <a:latin typeface="Arial" panose="020B0604020202020204" pitchFamily="34" charset="0"/>
                    <a:cs typeface="Arial" panose="020B0604020202020204" pitchFamily="34" charset="0"/>
                  </a:rPr>
                  <a:t>vez</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puede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conllevar</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veces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interferencias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intermodales</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6D243C48-D0CB-2131-C493-8E5DFCAD1557}"/>
                  </a:ext>
                </a:extLst>
              </p:cNvPr>
              <p:cNvSpPr txBox="1">
                <a:spLocks noRot="1" noChangeAspect="1" noMove="1" noResize="1" noEditPoints="1" noAdjustHandles="1" noChangeArrowheads="1" noChangeShapeType="1" noTextEdit="1"/>
              </p:cNvSpPr>
              <p:nvPr/>
            </p:nvSpPr>
            <p:spPr>
              <a:xfrm>
                <a:off x="685798" y="2183808"/>
                <a:ext cx="11199971" cy="2456313"/>
              </a:xfrm>
              <a:prstGeom prst="rect">
                <a:avLst/>
              </a:prstGeom>
              <a:blipFill>
                <a:blip r:embed="rId5"/>
                <a:stretch>
                  <a:fillRect/>
                </a:stretch>
              </a:blipFill>
              <a:ln w="28575">
                <a:solidFill>
                  <a:srgbClr val="E0700D"/>
                </a:solidFill>
              </a:ln>
            </p:spPr>
            <p:txBody>
              <a:bodyPr/>
              <a:lstStyle/>
              <a:p>
                <a:r>
                  <a:rPr lang="es-ES">
                    <a:noFill/>
                  </a:rPr>
                  <a:t> </a:t>
                </a:r>
              </a:p>
            </p:txBody>
          </p:sp>
        </mc:Fallback>
      </mc:AlternateContent>
      <p:sp>
        <p:nvSpPr>
          <p:cNvPr id="6" name="CuadroTexto 5">
            <a:extLst>
              <a:ext uri="{FF2B5EF4-FFF2-40B4-BE49-F238E27FC236}">
                <a16:creationId xmlns:a16="http://schemas.microsoft.com/office/drawing/2014/main" id="{83CA6113-EDE4-221A-895C-6660C9379186}"/>
              </a:ext>
            </a:extLst>
          </p:cNvPr>
          <p:cNvSpPr txBox="1"/>
          <p:nvPr/>
        </p:nvSpPr>
        <p:spPr>
          <a:xfrm>
            <a:off x="583019" y="1325840"/>
            <a:ext cx="11199971" cy="646331"/>
          </a:xfrm>
          <a:prstGeom prst="rect">
            <a:avLst/>
          </a:prstGeom>
          <a:noFill/>
        </p:spPr>
        <p:txBody>
          <a:bodyPr wrap="square">
            <a:spAutoFit/>
          </a:bodyPr>
          <a:lstStyle/>
          <a:p>
            <a:pPr algn="just"/>
            <a:r>
              <a:rPr lang="en-US" sz="1800" i="1" dirty="0">
                <a:latin typeface="Arial" panose="020B0604020202020204" pitchFamily="34" charset="0"/>
                <a:cs typeface="Arial" panose="020B0604020202020204" pitchFamily="34" charset="0"/>
              </a:rPr>
              <a:t>Comment results (</a:t>
            </a:r>
            <a:r>
              <a:rPr lang="en-US" sz="1800" i="1" dirty="0" err="1">
                <a:latin typeface="Arial" panose="020B0604020202020204" pitchFamily="34" charset="0"/>
                <a:cs typeface="Arial" panose="020B0604020202020204" pitchFamily="34" charset="0"/>
              </a:rPr>
              <a:t>neff</a:t>
            </a:r>
            <a:r>
              <a:rPr lang="en-US" sz="1800" i="1" dirty="0">
                <a:latin typeface="Arial" panose="020B0604020202020204" pitchFamily="34" charset="0"/>
                <a:cs typeface="Arial" panose="020B0604020202020204" pitchFamily="34" charset="0"/>
              </a:rPr>
              <a:t> changes this way with wavelength, comparison between different waveguide </a:t>
            </a:r>
          </a:p>
          <a:p>
            <a:pPr algn="just"/>
            <a:r>
              <a:rPr lang="en-US" sz="1800" i="1" dirty="0">
                <a:latin typeface="Arial" panose="020B0604020202020204" pitchFamily="34" charset="0"/>
                <a:cs typeface="Arial" panose="020B0604020202020204" pitchFamily="34" charset="0"/>
              </a:rPr>
              <a:t>cross-sections …</a:t>
            </a:r>
            <a:r>
              <a:rPr lang="en-US" sz="1800" i="1" dirty="0" err="1">
                <a:latin typeface="Arial" panose="020B0604020202020204" pitchFamily="34" charset="0"/>
                <a:cs typeface="Arial" panose="020B0604020202020204" pitchFamily="34" charset="0"/>
              </a:rPr>
              <a:t>etc</a:t>
            </a:r>
            <a:r>
              <a:rPr lang="en-US" sz="1800" i="1"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641289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Width dependence</a:t>
            </a:r>
            <a:br>
              <a:rPr lang="es-ES" sz="2500" spc="-5" dirty="0">
                <a:latin typeface="+mj-lt"/>
                <a:cs typeface="Lucida Sans"/>
              </a:rPr>
            </a:br>
            <a:r>
              <a:rPr lang="en-US" b="0" dirty="0"/>
              <a:t>Width 0.6 - 1.6 µm (step 0.1 µm) – Wavelength 1.55 µm </a:t>
            </a:r>
            <a:endParaRPr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2"/>
            <a:ext cx="11199971" cy="46776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descr="Gráfico&#10;&#10;El contenido generado por IA puede ser incorrecto.">
            <a:extLst>
              <a:ext uri="{FF2B5EF4-FFF2-40B4-BE49-F238E27FC236}">
                <a16:creationId xmlns:a16="http://schemas.microsoft.com/office/drawing/2014/main" id="{7FE8EEDD-8993-BCEA-0B41-201B4F53E4FF}"/>
              </a:ext>
            </a:extLst>
          </p:cNvPr>
          <p:cNvPicPr>
            <a:picLocks noChangeAspect="1"/>
          </p:cNvPicPr>
          <p:nvPr/>
        </p:nvPicPr>
        <p:blipFill>
          <a:blip r:embed="rId5"/>
          <a:stretch>
            <a:fillRect/>
          </a:stretch>
        </p:blipFill>
        <p:spPr>
          <a:xfrm>
            <a:off x="2247900" y="1517970"/>
            <a:ext cx="7696200" cy="4478429"/>
          </a:xfrm>
          <a:prstGeom prst="rect">
            <a:avLst/>
          </a:prstGeom>
        </p:spPr>
      </p:pic>
    </p:spTree>
    <p:extLst>
      <p:ext uri="{BB962C8B-B14F-4D97-AF65-F5344CB8AC3E}">
        <p14:creationId xmlns:p14="http://schemas.microsoft.com/office/powerpoint/2010/main" val="29001174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C7E4B9-ABBB-87A8-4B17-C171028A99D7}"/>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9C23C97-D7CF-497D-A5D2-21CC05D1013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Width dependence</a:t>
            </a:r>
            <a:br>
              <a:rPr lang="es-ES" sz="2500" spc="-5" dirty="0">
                <a:latin typeface="+mj-lt"/>
                <a:cs typeface="Lucida Sans"/>
              </a:rPr>
            </a:br>
            <a:r>
              <a:rPr lang="en-US" b="0" dirty="0"/>
              <a:t>Width 0.6 - 1.6 µm (step 0.1 µm) – Wavelength 1.55 µm </a:t>
            </a:r>
            <a:endParaRPr sz="2500" b="0" dirty="0">
              <a:latin typeface="+mj-lt"/>
              <a:cs typeface="Lucida Sans"/>
            </a:endParaRPr>
          </a:p>
        </p:txBody>
      </p:sp>
      <p:pic>
        <p:nvPicPr>
          <p:cNvPr id="83" name="Gráfico 82">
            <a:extLst>
              <a:ext uri="{FF2B5EF4-FFF2-40B4-BE49-F238E27FC236}">
                <a16:creationId xmlns:a16="http://schemas.microsoft.com/office/drawing/2014/main" id="{522F4EF9-AE55-C48A-8B2E-3848EC3518C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1001561-763B-091A-D701-C675075E0AB0}"/>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9C443C3E-55F8-F709-A423-226B9F3EFED6}"/>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9" name="CuadroTexto 8">
            <a:extLst>
              <a:ext uri="{FF2B5EF4-FFF2-40B4-BE49-F238E27FC236}">
                <a16:creationId xmlns:a16="http://schemas.microsoft.com/office/drawing/2014/main" id="{71F9A7E5-D46C-0453-20FD-6B7360905609}"/>
              </a:ext>
            </a:extLst>
          </p:cNvPr>
          <p:cNvSpPr txBox="1"/>
          <p:nvPr/>
        </p:nvSpPr>
        <p:spPr>
          <a:xfrm>
            <a:off x="583019" y="1371600"/>
            <a:ext cx="11199971" cy="3416320"/>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(neff changes this way with width, polarization behavior, </a:t>
            </a:r>
            <a:r>
              <a:rPr lang="en-US" sz="1200" dirty="0" err="1">
                <a:latin typeface="Arial" panose="020B0604020202020204" pitchFamily="34" charset="0"/>
                <a:cs typeface="Arial" panose="020B0604020202020204" pitchFamily="34" charset="0"/>
              </a:rPr>
              <a:t>etc</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En </a:t>
            </a:r>
            <a:r>
              <a:rPr lang="en-US" sz="1200" dirty="0" err="1">
                <a:latin typeface="Arial" panose="020B0604020202020204" pitchFamily="34" charset="0"/>
                <a:cs typeface="Arial" panose="020B0604020202020204" pitchFamily="34" charset="0"/>
              </a:rPr>
              <a:t>esta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figura</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observa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comportamiento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índices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distintos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función</a:t>
            </a:r>
            <a:r>
              <a:rPr lang="en-US" sz="1200" dirty="0">
                <a:latin typeface="Arial" panose="020B0604020202020204" pitchFamily="34" charset="0"/>
                <a:cs typeface="Arial" panose="020B0604020202020204" pitchFamily="34" charset="0"/>
              </a:rPr>
              <a:t> del ancho de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Primeramente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cabe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destacar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tal</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está</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representada</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figura</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líneas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rojas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corresponden</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TE, </a:t>
            </a:r>
            <a:r>
              <a:rPr lang="en-US" sz="1200" dirty="0" err="1">
                <a:latin typeface="Arial" panose="020B0604020202020204" pitchFamily="34" charset="0"/>
                <a:cs typeface="Arial" panose="020B0604020202020204" pitchFamily="34" charset="0"/>
              </a:rPr>
              <a:t>mientras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azules</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TM. Esto se ha </a:t>
            </a:r>
            <a:r>
              <a:rPr lang="en-US" sz="1200" dirty="0" err="1">
                <a:latin typeface="Arial" panose="020B0604020202020204" pitchFamily="34" charset="0"/>
                <a:cs typeface="Arial" panose="020B0604020202020204" pitchFamily="34" charset="0"/>
              </a:rPr>
              <a:t>deducido</a:t>
            </a:r>
            <a:r>
              <a:rPr lang="en-US" sz="1200" dirty="0">
                <a:latin typeface="Arial" panose="020B0604020202020204" pitchFamily="34" charset="0"/>
                <a:cs typeface="Arial" panose="020B0604020202020204" pitchFamily="34" charset="0"/>
              </a:rPr>
              <a:t> gracias a la </a:t>
            </a:r>
            <a:r>
              <a:rPr lang="en-US" sz="1200" dirty="0" err="1">
                <a:latin typeface="Arial" panose="020B0604020202020204" pitchFamily="34" charset="0"/>
                <a:cs typeface="Arial" panose="020B0604020202020204" pitchFamily="34" charset="0"/>
              </a:rPr>
              <a:t>representación</a:t>
            </a:r>
            <a:r>
              <a:rPr lang="en-US" sz="1200" dirty="0">
                <a:latin typeface="Arial" panose="020B0604020202020204" pitchFamily="34" charset="0"/>
                <a:cs typeface="Arial" panose="020B0604020202020204" pitchFamily="34" charset="0"/>
              </a:rPr>
              <a:t> del </a:t>
            </a:r>
            <a:r>
              <a:rPr lang="en-US" sz="1200" dirty="0" err="1">
                <a:latin typeface="Arial" panose="020B0604020202020204" pitchFamily="34" charset="0"/>
                <a:cs typeface="Arial" panose="020B0604020202020204" pitchFamily="34" charset="0"/>
              </a:rPr>
              <a:t>porcentaje</a:t>
            </a:r>
            <a:r>
              <a:rPr lang="en-US" sz="1200" dirty="0">
                <a:latin typeface="Arial" panose="020B0604020202020204" pitchFamily="34" charset="0"/>
                <a:cs typeface="Arial" panose="020B0604020202020204" pitchFamily="34" charset="0"/>
              </a:rPr>
              <a:t> de modo TE y </a:t>
            </a:r>
            <a:r>
              <a:rPr lang="en-US" sz="1200" dirty="0" err="1">
                <a:latin typeface="Arial" panose="020B0604020202020204" pitchFamily="34" charset="0"/>
                <a:cs typeface="Arial" panose="020B0604020202020204" pitchFamily="34" charset="0"/>
              </a:rPr>
              <a:t>su</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correspondencia</a:t>
            </a:r>
            <a:r>
              <a:rPr lang="en-US" sz="1200" dirty="0">
                <a:latin typeface="Arial" panose="020B0604020202020204" pitchFamily="34" charset="0"/>
                <a:cs typeface="Arial" panose="020B0604020202020204" pitchFamily="34" charset="0"/>
              </a:rPr>
              <a:t> con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colores</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Por un </a:t>
            </a:r>
            <a:r>
              <a:rPr lang="en-US" sz="1200" dirty="0" err="1">
                <a:latin typeface="Arial" panose="020B0604020202020204" pitchFamily="34" charset="0"/>
                <a:cs typeface="Arial" panose="020B0604020202020204" pitchFamily="34" charset="0"/>
              </a:rPr>
              <a:t>lado</a:t>
            </a:r>
            <a:r>
              <a:rPr lang="en-US" sz="1200" dirty="0">
                <a:latin typeface="Arial" panose="020B0604020202020204" pitchFamily="34" charset="0"/>
                <a:cs typeface="Arial" panose="020B0604020202020204" pitchFamily="34" charset="0"/>
              </a:rPr>
              <a:t>, temenos tanto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modo 0 TE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modo 0 TM,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cuales</a:t>
            </a:r>
            <a:r>
              <a:rPr lang="en-US" sz="1200" dirty="0">
                <a:latin typeface="Arial" panose="020B0604020202020204" pitchFamily="34" charset="0"/>
                <a:cs typeface="Arial" panose="020B0604020202020204" pitchFamily="34" charset="0"/>
              </a:rPr>
              <a:t> se van a </a:t>
            </a:r>
            <a:r>
              <a:rPr lang="en-US" sz="1200" dirty="0" err="1">
                <a:latin typeface="Arial" panose="020B0604020202020204" pitchFamily="34" charset="0"/>
                <a:cs typeface="Arial" panose="020B0604020202020204" pitchFamily="34" charset="0"/>
              </a:rPr>
              <a:t>propagar</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todos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anchos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representados</a:t>
            </a:r>
            <a:r>
              <a:rPr lang="en-US" sz="1200" dirty="0">
                <a:latin typeface="Arial" panose="020B0604020202020204" pitchFamily="34" charset="0"/>
                <a:cs typeface="Arial" panose="020B0604020202020204" pitchFamily="34" charset="0"/>
              </a:rPr>
              <a:t>. Sin embargo, se </a:t>
            </a:r>
            <a:r>
              <a:rPr lang="en-US" sz="1200" dirty="0" err="1">
                <a:latin typeface="Arial" panose="020B0604020202020204" pitchFamily="34" charset="0"/>
                <a:cs typeface="Arial" panose="020B0604020202020204" pitchFamily="34" charset="0"/>
              </a:rPr>
              <a:t>puede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observar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conforme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aumenta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ancho de la </a:t>
            </a:r>
            <a:r>
              <a:rPr lang="en-US" sz="1200" dirty="0" err="1">
                <a:latin typeface="Arial" panose="020B0604020202020204" pitchFamily="34" charset="0"/>
                <a:cs typeface="Arial" panose="020B0604020202020204" pitchFamily="34" charset="0"/>
              </a:rPr>
              <a:t>guia</a:t>
            </a:r>
            <a:r>
              <a:rPr lang="en-US" sz="1200" dirty="0">
                <a:latin typeface="Arial" panose="020B0604020202020204" pitchFamily="34" charset="0"/>
                <a:cs typeface="Arial" panose="020B0604020202020204" pitchFamily="34" charset="0"/>
              </a:rPr>
              <a:t>, al </a:t>
            </a:r>
            <a:r>
              <a:rPr lang="en-US" sz="1200" dirty="0" err="1">
                <a:latin typeface="Arial" panose="020B0604020202020204" pitchFamily="34" charset="0"/>
                <a:cs typeface="Arial" panose="020B0604020202020204" pitchFamily="34" charset="0"/>
              </a:rPr>
              <a:t>mantener</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misma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índice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estos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aumenta</a:t>
            </a:r>
            <a:r>
              <a:rPr lang="en-US" sz="1200" dirty="0">
                <a:latin typeface="Arial" panose="020B0604020202020204" pitchFamily="34" charset="0"/>
                <a:cs typeface="Arial" panose="020B0604020202020204" pitchFamily="34" charset="0"/>
              </a:rPr>
              <a:t>, al </a:t>
            </a:r>
            <a:r>
              <a:rPr lang="en-US" sz="1200" dirty="0" err="1">
                <a:latin typeface="Arial" panose="020B0604020202020204" pitchFamily="34" charset="0"/>
                <a:cs typeface="Arial" panose="020B0604020202020204" pitchFamily="34" charset="0"/>
              </a:rPr>
              <a:t>tener</a:t>
            </a:r>
            <a:r>
              <a:rPr lang="en-US" sz="1200" dirty="0">
                <a:latin typeface="Arial" panose="020B0604020202020204" pitchFamily="34" charset="0"/>
                <a:cs typeface="Arial" panose="020B0604020202020204" pitchFamily="34" charset="0"/>
              </a:rPr>
              <a:t> mas </a:t>
            </a:r>
            <a:r>
              <a:rPr lang="en-US" sz="1200" dirty="0" err="1">
                <a:latin typeface="Arial" panose="020B0604020202020204" pitchFamily="34" charset="0"/>
                <a:cs typeface="Arial" panose="020B0604020202020204" pitchFamily="34" charset="0"/>
              </a:rPr>
              <a:t>espacio</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poder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tener</a:t>
            </a:r>
            <a:r>
              <a:rPr lang="en-US" sz="1200" dirty="0">
                <a:latin typeface="Arial" panose="020B0604020202020204" pitchFamily="34" charset="0"/>
                <a:cs typeface="Arial" panose="020B0604020202020204" pitchFamily="34" charset="0"/>
              </a:rPr>
              <a:t> un major </a:t>
            </a:r>
            <a:r>
              <a:rPr lang="en-US" sz="1200" dirty="0" err="1">
                <a:latin typeface="Arial" panose="020B0604020202020204" pitchFamily="34" charset="0"/>
                <a:cs typeface="Arial" panose="020B0604020202020204" pitchFamily="34" charset="0"/>
              </a:rPr>
              <a:t>confinamiento</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Por </a:t>
            </a:r>
            <a:r>
              <a:rPr lang="en-US" sz="1200" dirty="0" err="1">
                <a:latin typeface="Arial" panose="020B0604020202020204" pitchFamily="34" charset="0"/>
                <a:cs typeface="Arial" panose="020B0604020202020204" pitchFamily="34" charset="0"/>
              </a:rPr>
              <a:t>otro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tenemos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modo 1 TE,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corresponde</a:t>
            </a:r>
            <a:r>
              <a:rPr lang="en-US" sz="1200" dirty="0">
                <a:latin typeface="Arial" panose="020B0604020202020204" pitchFamily="34" charset="0"/>
                <a:cs typeface="Arial" panose="020B0604020202020204" pitchFamily="34" charset="0"/>
              </a:rPr>
              <a:t> al modo 2 de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cual</a:t>
            </a:r>
            <a:r>
              <a:rPr lang="en-US" sz="1200" dirty="0">
                <a:latin typeface="Arial" panose="020B0604020202020204" pitchFamily="34" charset="0"/>
                <a:cs typeface="Arial" panose="020B0604020202020204" pitchFamily="34" charset="0"/>
              </a:rPr>
              <a:t> hasta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no </a:t>
            </a:r>
            <a:r>
              <a:rPr lang="en-US" sz="1200" dirty="0" err="1">
                <a:latin typeface="Arial" panose="020B0604020202020204" pitchFamily="34" charset="0"/>
                <a:cs typeface="Arial" panose="020B0604020202020204" pitchFamily="34" charset="0"/>
              </a:rPr>
              <a:t>consigue</a:t>
            </a:r>
            <a:r>
              <a:rPr lang="en-US" sz="1200" dirty="0">
                <a:latin typeface="Arial" panose="020B0604020202020204" pitchFamily="34" charset="0"/>
                <a:cs typeface="Arial" panose="020B0604020202020204" pitchFamily="34" charset="0"/>
              </a:rPr>
              <a:t> un ancho de 1.25um </a:t>
            </a:r>
            <a:r>
              <a:rPr lang="en-US" sz="1200" dirty="0" err="1">
                <a:latin typeface="Arial" panose="020B0604020202020204" pitchFamily="34" charset="0"/>
                <a:cs typeface="Arial" panose="020B0604020202020204" pitchFamily="34" charset="0"/>
              </a:rPr>
              <a:t>aproximadamente</a:t>
            </a:r>
            <a:r>
              <a:rPr lang="en-US" sz="1200" dirty="0">
                <a:latin typeface="Arial" panose="020B0604020202020204" pitchFamily="34" charset="0"/>
                <a:cs typeface="Arial" panose="020B0604020202020204" pitchFamily="34" charset="0"/>
              </a:rPr>
              <a:t>, no </a:t>
            </a:r>
            <a:r>
              <a:rPr lang="en-US" sz="1200" dirty="0" err="1">
                <a:latin typeface="Arial" panose="020B0604020202020204" pitchFamily="34" charset="0"/>
                <a:cs typeface="Arial" panose="020B0604020202020204" pitchFamily="34" charset="0"/>
              </a:rPr>
              <a:t>empieza</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propagarse</a:t>
            </a:r>
            <a:r>
              <a:rPr lang="en-US" sz="1200" dirty="0">
                <a:latin typeface="Arial" panose="020B0604020202020204" pitchFamily="34" charset="0"/>
                <a:cs typeface="Arial" panose="020B0604020202020204" pitchFamily="34" charset="0"/>
              </a:rPr>
              <a:t>. En </a:t>
            </a:r>
            <a:r>
              <a:rPr lang="en-US" sz="1200" dirty="0" err="1">
                <a:latin typeface="Arial" panose="020B0604020202020204" pitchFamily="34" charset="0"/>
                <a:cs typeface="Arial" panose="020B0604020202020204" pitchFamily="34" charset="0"/>
              </a:rPr>
              <a:t>dicho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momento</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cuando</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pasa</a:t>
            </a:r>
            <a:r>
              <a:rPr lang="en-US" sz="1200" dirty="0">
                <a:latin typeface="Arial" panose="020B0604020202020204" pitchFamily="34" charset="0"/>
                <a:cs typeface="Arial" panose="020B0604020202020204" pitchFamily="34" charset="0"/>
              </a:rPr>
              <a:t> a ser </a:t>
            </a:r>
            <a:r>
              <a:rPr lang="en-US" sz="1200" dirty="0" err="1">
                <a:latin typeface="Arial" panose="020B0604020202020204" pitchFamily="34" charset="0"/>
                <a:cs typeface="Arial" panose="020B0604020202020204" pitchFamily="34" charset="0"/>
              </a:rPr>
              <a:t>multimodo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debido</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estarían</a:t>
            </a:r>
            <a:r>
              <a:rPr lang="en-US" sz="1200" dirty="0">
                <a:latin typeface="Arial" panose="020B0604020202020204" pitchFamily="34" charset="0"/>
                <a:cs typeface="Arial" panose="020B0604020202020204" pitchFamily="34" charset="0"/>
              </a:rPr>
              <a:t> propaganda dos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TE. Por </a:t>
            </a:r>
            <a:r>
              <a:rPr lang="en-US" sz="1200" dirty="0" err="1">
                <a:latin typeface="Arial" panose="020B0604020202020204" pitchFamily="34" charset="0"/>
                <a:cs typeface="Arial" panose="020B0604020202020204" pitchFamily="34" charset="0"/>
              </a:rPr>
              <a:t>último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encontramos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modo 3,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corresponde</a:t>
            </a:r>
            <a:r>
              <a:rPr lang="en-US" sz="1200" dirty="0">
                <a:latin typeface="Arial" panose="020B0604020202020204" pitchFamily="34" charset="0"/>
                <a:cs typeface="Arial" panose="020B0604020202020204" pitchFamily="34" charset="0"/>
              </a:rPr>
              <a:t> al modo TM 1,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cual</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rango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anchos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guia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elegido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nunca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va</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propagarse</a:t>
            </a:r>
            <a:r>
              <a:rPr lang="en-US" sz="1200" dirty="0">
                <a:latin typeface="Arial" panose="020B0604020202020204" pitchFamily="34" charset="0"/>
                <a:cs typeface="Arial" panose="020B0604020202020204" pitchFamily="34" charset="0"/>
              </a:rPr>
              <a:t>. </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Si </a:t>
            </a:r>
            <a:r>
              <a:rPr lang="en-US" sz="1200" dirty="0" err="1">
                <a:latin typeface="Arial" panose="020B0604020202020204" pitchFamily="34" charset="0"/>
                <a:cs typeface="Arial" panose="020B0604020202020204" pitchFamily="34" charset="0"/>
              </a:rPr>
              <a:t>comparamos</a:t>
            </a:r>
            <a:r>
              <a:rPr lang="en-US" sz="1200" dirty="0">
                <a:latin typeface="Arial" panose="020B0604020202020204" pitchFamily="34" charset="0"/>
                <a:cs typeface="Arial" panose="020B0604020202020204" pitchFamily="34" charset="0"/>
              </a:rPr>
              <a:t> con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ejercicio</a:t>
            </a:r>
            <a:r>
              <a:rPr lang="en-US" sz="1200" dirty="0">
                <a:latin typeface="Arial" panose="020B0604020202020204" pitchFamily="34" charset="0"/>
                <a:cs typeface="Arial" panose="020B0604020202020204" pitchFamily="34" charset="0"/>
              </a:rPr>
              <a:t> dos,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guias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deep </a:t>
            </a:r>
            <a:r>
              <a:rPr lang="en-US" sz="1200" dirty="0" err="1">
                <a:latin typeface="Arial" panose="020B0604020202020204" pitchFamily="34" charset="0"/>
                <a:cs typeface="Arial" panose="020B0604020202020204" pitchFamily="34" charset="0"/>
              </a:rPr>
              <a:t>nunca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llegaban</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propagarse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estos</a:t>
            </a:r>
            <a:r>
              <a:rPr lang="en-US" sz="1200" dirty="0">
                <a:latin typeface="Arial" panose="020B0604020202020204" pitchFamily="34" charset="0"/>
                <a:cs typeface="Arial" panose="020B0604020202020204" pitchFamily="34" charset="0"/>
              </a:rPr>
              <a:t> dos </a:t>
            </a:r>
            <a:r>
              <a:rPr lang="en-US" sz="1200" dirty="0" err="1">
                <a:latin typeface="Arial" panose="020B0604020202020204" pitchFamily="34" charset="0"/>
                <a:cs typeface="Arial" panose="020B0604020202020204" pitchFamily="34" charset="0"/>
              </a:rPr>
              <a:t>últimos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(modo TM1 y TE1), </a:t>
            </a:r>
            <a:r>
              <a:rPr lang="en-US" sz="1200" dirty="0" err="1">
                <a:latin typeface="Arial" panose="020B0604020202020204" pitchFamily="34" charset="0"/>
                <a:cs typeface="Arial" panose="020B0604020202020204" pitchFamily="34" charset="0"/>
              </a:rPr>
              <a:t>ya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estabamos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variando</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Sin embargo, para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caso</a:t>
            </a:r>
            <a:r>
              <a:rPr lang="en-US" sz="1200" dirty="0">
                <a:latin typeface="Arial" panose="020B0604020202020204" pitchFamily="34" charset="0"/>
                <a:cs typeface="Arial" panose="020B0604020202020204" pitchFamily="34" charset="0"/>
              </a:rPr>
              <a:t> actual </a:t>
            </a:r>
            <a:r>
              <a:rPr lang="en-US" sz="1200" dirty="0" err="1">
                <a:latin typeface="Arial" panose="020B0604020202020204" pitchFamily="34" charset="0"/>
                <a:cs typeface="Arial" panose="020B0604020202020204" pitchFamily="34" charset="0"/>
              </a:rPr>
              <a:t>donde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están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variando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anchos</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guia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llegados</a:t>
            </a:r>
            <a:r>
              <a:rPr lang="en-US" sz="1200" dirty="0">
                <a:latin typeface="Arial" panose="020B0604020202020204" pitchFamily="34" charset="0"/>
                <a:cs typeface="Arial" panose="020B0604020202020204" pitchFamily="34" charset="0"/>
              </a:rPr>
              <a:t> a un </a:t>
            </a:r>
            <a:r>
              <a:rPr lang="en-US" sz="1200" dirty="0" err="1">
                <a:latin typeface="Arial" panose="020B0604020202020204" pitchFamily="34" charset="0"/>
                <a:cs typeface="Arial" panose="020B0604020202020204" pitchFamily="34" charset="0"/>
              </a:rPr>
              <a:t>determinado</a:t>
            </a:r>
            <a:r>
              <a:rPr lang="en-US" sz="1200" dirty="0">
                <a:latin typeface="Arial" panose="020B0604020202020204" pitchFamily="34" charset="0"/>
                <a:cs typeface="Arial" panose="020B0604020202020204" pitchFamily="34" charset="0"/>
              </a:rPr>
              <a:t> valor, </a:t>
            </a:r>
            <a:r>
              <a:rPr lang="en-US" sz="1200" dirty="0" err="1">
                <a:latin typeface="Arial" panose="020B0604020202020204" pitchFamily="34" charset="0"/>
                <a:cs typeface="Arial" panose="020B0604020202020204" pitchFamily="34" charset="0"/>
              </a:rPr>
              <a:t>si</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comenzarian</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propagarse</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244250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DA0F9-B230-D9FC-3CE7-03BD08CF54F7}"/>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394400B4-EE16-8E85-AB54-E82FE3B29345}"/>
              </a:ext>
            </a:extLst>
          </p:cNvPr>
          <p:cNvSpPr txBox="1">
            <a:spLocks noGrp="1"/>
          </p:cNvSpPr>
          <p:nvPr>
            <p:ph type="title"/>
          </p:nvPr>
        </p:nvSpPr>
        <p:spPr>
          <a:xfrm>
            <a:off x="685800" y="408883"/>
            <a:ext cx="10994410" cy="1397819"/>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Waveguide compact model</a:t>
            </a:r>
            <a:br>
              <a:rPr lang="en-US" sz="2500" spc="-5" dirty="0">
                <a:latin typeface="+mj-lt"/>
                <a:cs typeface="Lucida Sans"/>
              </a:rPr>
            </a:br>
            <a:r>
              <a:rPr lang="en-US" b="0" dirty="0"/>
              <a:t>- Find the compact models of the following waveguides: </a:t>
            </a:r>
            <a:br>
              <a:rPr lang="en-US" b="0" dirty="0"/>
            </a:br>
            <a:r>
              <a:rPr lang="en-US" dirty="0"/>
              <a:t>Deep</a:t>
            </a:r>
            <a:r>
              <a:rPr lang="en-US" b="0" dirty="0"/>
              <a:t> waveguide, h=300nm, w=1.2um   - </a:t>
            </a:r>
            <a:r>
              <a:rPr lang="en-US" dirty="0"/>
              <a:t>Shallow</a:t>
            </a:r>
            <a:r>
              <a:rPr lang="en-US" b="0" dirty="0"/>
              <a:t> waveguide, core h=300nm, slab h=150 nm, w = 1.2um </a:t>
            </a:r>
            <a:br>
              <a:rPr lang="en-US" b="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4D53B68D-17ED-7EFB-F2B4-10DA7A772E1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9AB8697-C1EE-6E9A-6550-ACA2C3AE6630}"/>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970D4A6C-5B37-EDF5-6242-74B16127E96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Rectángulo 4">
            <a:extLst>
              <a:ext uri="{FF2B5EF4-FFF2-40B4-BE49-F238E27FC236}">
                <a16:creationId xmlns:a16="http://schemas.microsoft.com/office/drawing/2014/main" id="{A6B92C76-6772-2E00-346F-532321092C0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2886628E-6E58-1F7E-B6C6-432B9A22839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0F38E924-A0E7-A039-C837-916BA77FE89B}"/>
              </a:ext>
            </a:extLst>
          </p:cNvPr>
          <p:cNvSpPr txBox="1"/>
          <p:nvPr/>
        </p:nvSpPr>
        <p:spPr>
          <a:xfrm>
            <a:off x="6347361" y="4498712"/>
            <a:ext cx="5486560" cy="276999"/>
          </a:xfrm>
          <a:prstGeom prst="rect">
            <a:avLst/>
          </a:prstGeom>
          <a:noFill/>
        </p:spPr>
        <p:txBody>
          <a:bodyPr wrap="square">
            <a:spAutoFit/>
          </a:bodyPr>
          <a:lstStyle/>
          <a:p>
            <a:pPr algn="r"/>
            <a:r>
              <a:rPr lang="en-US" sz="1200" b="1" dirty="0">
                <a:solidFill>
                  <a:schemeClr val="tx1"/>
                </a:solidFill>
                <a:latin typeface="Arial" panose="020B0604020202020204" pitchFamily="34" charset="0"/>
                <a:cs typeface="Arial" panose="020B0604020202020204" pitchFamily="34" charset="0"/>
              </a:rPr>
              <a:t>slab: 150nm</a:t>
            </a:r>
            <a:endParaRPr lang="en-US" sz="1200" dirty="0">
              <a:solidFill>
                <a:schemeClr val="tx1"/>
              </a:solidFill>
              <a:latin typeface="Arial" panose="020B0604020202020204" pitchFamily="34" charset="0"/>
              <a:cs typeface="Arial" panose="020B0604020202020204" pitchFamily="34" charset="0"/>
            </a:endParaRPr>
          </a:p>
        </p:txBody>
      </p:sp>
      <p:pic>
        <p:nvPicPr>
          <p:cNvPr id="7" name="Imagen 6" descr="Gráfico&#10;&#10;El contenido generado por IA puede ser incorrecto.">
            <a:extLst>
              <a:ext uri="{FF2B5EF4-FFF2-40B4-BE49-F238E27FC236}">
                <a16:creationId xmlns:a16="http://schemas.microsoft.com/office/drawing/2014/main" id="{6EE6A301-802F-71A8-D45A-719DDCE2374F}"/>
              </a:ext>
            </a:extLst>
          </p:cNvPr>
          <p:cNvPicPr>
            <a:picLocks noChangeAspect="1"/>
          </p:cNvPicPr>
          <p:nvPr/>
        </p:nvPicPr>
        <p:blipFill>
          <a:blip r:embed="rId5"/>
          <a:stretch>
            <a:fillRect/>
          </a:stretch>
        </p:blipFill>
        <p:spPr>
          <a:xfrm>
            <a:off x="609440" y="1462655"/>
            <a:ext cx="5486560" cy="3291174"/>
          </a:xfrm>
          <a:prstGeom prst="rect">
            <a:avLst/>
          </a:prstGeom>
        </p:spPr>
      </p:pic>
      <p:pic>
        <p:nvPicPr>
          <p:cNvPr id="12" name="Imagen 11" descr="Gráfico, Gráfico de líneas&#10;&#10;El contenido generado por IA puede ser incorrecto.">
            <a:extLst>
              <a:ext uri="{FF2B5EF4-FFF2-40B4-BE49-F238E27FC236}">
                <a16:creationId xmlns:a16="http://schemas.microsoft.com/office/drawing/2014/main" id="{53B7AF3B-D6BB-A7C0-88D3-336824D54616}"/>
              </a:ext>
            </a:extLst>
          </p:cNvPr>
          <p:cNvPicPr>
            <a:picLocks noChangeAspect="1"/>
          </p:cNvPicPr>
          <p:nvPr/>
        </p:nvPicPr>
        <p:blipFill>
          <a:blip r:embed="rId6"/>
          <a:stretch>
            <a:fillRect/>
          </a:stretch>
        </p:blipFill>
        <p:spPr>
          <a:xfrm>
            <a:off x="6321423" y="1462655"/>
            <a:ext cx="5486560" cy="3291173"/>
          </a:xfrm>
          <a:prstGeom prst="rect">
            <a:avLst/>
          </a:prstGeom>
        </p:spPr>
      </p:pic>
    </p:spTree>
    <p:extLst>
      <p:ext uri="{BB962C8B-B14F-4D97-AF65-F5344CB8AC3E}">
        <p14:creationId xmlns:p14="http://schemas.microsoft.com/office/powerpoint/2010/main" val="2360544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EFB58-B666-0C41-4C72-3ABC0EC43882}"/>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83DF2B24-AC21-643D-B8C0-62993AB27B88}"/>
              </a:ext>
            </a:extLst>
          </p:cNvPr>
          <p:cNvSpPr txBox="1">
            <a:spLocks noGrp="1"/>
          </p:cNvSpPr>
          <p:nvPr>
            <p:ph type="title"/>
          </p:nvPr>
        </p:nvSpPr>
        <p:spPr>
          <a:xfrm>
            <a:off x="685800" y="408883"/>
            <a:ext cx="10994410" cy="1397819"/>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Waveguide compact model</a:t>
            </a:r>
            <a:br>
              <a:rPr lang="en-US" sz="2500" spc="-5" dirty="0">
                <a:latin typeface="+mj-lt"/>
                <a:cs typeface="Lucida Sans"/>
              </a:rPr>
            </a:br>
            <a:r>
              <a:rPr lang="en-US" b="0" dirty="0"/>
              <a:t>- Find the compact models of the following waveguides: </a:t>
            </a:r>
            <a:br>
              <a:rPr lang="en-US" b="0" dirty="0"/>
            </a:br>
            <a:r>
              <a:rPr lang="en-US" dirty="0"/>
              <a:t>Deep</a:t>
            </a:r>
            <a:r>
              <a:rPr lang="en-US" b="0" dirty="0"/>
              <a:t> waveguide, h=300nm, w=1.2um   - </a:t>
            </a:r>
            <a:r>
              <a:rPr lang="en-US" dirty="0"/>
              <a:t>Shallow</a:t>
            </a:r>
            <a:r>
              <a:rPr lang="en-US" b="0" dirty="0"/>
              <a:t> waveguide, core h=300nm, slab h=150 nm, w = 1.2um </a:t>
            </a:r>
            <a:br>
              <a:rPr lang="en-US" b="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37813654-26E9-7238-D73E-68BA1316A3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8E2D0D11-BF34-FF92-6520-B37F368C0D94}"/>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FB835810-53AB-5DA6-6898-CDFC21E038D3}"/>
              </a:ext>
            </a:extLst>
          </p:cNvPr>
          <p:cNvSpPr>
            <a:spLocks noGrp="1"/>
          </p:cNvSpPr>
          <p:nvPr>
            <p:ph type="ftr" sz="quarter" idx="5"/>
          </p:nvPr>
        </p:nvSpPr>
        <p:spPr/>
        <p:txBody>
          <a:bodyPr/>
          <a:lstStyle/>
          <a:p>
            <a:pPr marL="12700">
              <a:spcBef>
                <a:spcPts val="15"/>
              </a:spcBef>
            </a:pPr>
            <a:r>
              <a:rPr lang="es-ES" spc="-5" dirty="0"/>
              <a:t>LAB 1.0 WAVEGUIDES</a:t>
            </a: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11E2B217-7A2F-7F84-8CFC-E023D5FB8F3B}"/>
                  </a:ext>
                </a:extLst>
              </p:cNvPr>
              <p:cNvSpPr txBox="1"/>
              <p:nvPr/>
            </p:nvSpPr>
            <p:spPr>
              <a:xfrm>
                <a:off x="481668" y="1690095"/>
                <a:ext cx="11198542" cy="3849324"/>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cs typeface="Arial" panose="020B0604020202020204" pitchFamily="34" charset="0"/>
                  </a:rPr>
                  <a:t>Find the second-degree polynomial coefficients and relate them with the group index and the dispersion parameter. </a:t>
                </a:r>
                <a14:m>
                  <m:oMath xmlns:m="http://schemas.openxmlformats.org/officeDocument/2006/math">
                    <m:d>
                      <m:dPr>
                        <m:begChr m:val="{"/>
                        <m:endChr m:val=""/>
                        <m:ctrlPr>
                          <a:rPr lang="es-ES" sz="1200" b="0" i="1" smtClean="0">
                            <a:latin typeface="Cambria Math" panose="02040503050406030204" pitchFamily="18" charset="0"/>
                            <a:cs typeface="Arial" panose="020B0604020202020204" pitchFamily="34" charset="0"/>
                          </a:rPr>
                        </m:ctrlPr>
                      </m:dPr>
                      <m:e>
                        <m:eqArr>
                          <m:eqArrPr>
                            <m:ctrlPr>
                              <a:rPr lang="es-ES" sz="1200" b="0" i="1" smtClean="0">
                                <a:latin typeface="Cambria Math" panose="02040503050406030204" pitchFamily="18" charset="0"/>
                                <a:cs typeface="Arial" panose="020B0604020202020204" pitchFamily="34" charset="0"/>
                              </a:rPr>
                            </m:ctrlPr>
                          </m:eqArrPr>
                          <m:e>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𝑒𝑓𝑓</m:t>
                                </m:r>
                              </m:sub>
                            </m:sSub>
                            <m:r>
                              <a:rPr lang="es-ES" sz="1200" b="0" i="1" smtClean="0">
                                <a:latin typeface="Cambria Math" panose="02040503050406030204" pitchFamily="18" charset="0"/>
                                <a:cs typeface="Arial" panose="020B0604020202020204" pitchFamily="34" charset="0"/>
                              </a:rPr>
                              <m:t>=</m:t>
                            </m:r>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1</m:t>
                                </m:r>
                              </m:sub>
                            </m:sSub>
                          </m:e>
                          <m:e>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𝑔</m:t>
                                </m:r>
                              </m:sub>
                            </m:sSub>
                            <m:r>
                              <a:rPr lang="es-ES" sz="1200" b="0" i="1" smtClean="0">
                                <a:latin typeface="Cambria Math" panose="02040503050406030204" pitchFamily="18" charset="0"/>
                                <a:cs typeface="Arial" panose="020B0604020202020204" pitchFamily="34" charset="0"/>
                              </a:rPr>
                              <m:t>=</m:t>
                            </m:r>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1</m:t>
                                </m:r>
                              </m:sub>
                            </m:sSub>
                            <m:r>
                              <a:rPr lang="es-ES" sz="1200" b="0" i="1" smtClean="0">
                                <a:latin typeface="Cambria Math" panose="02040503050406030204" pitchFamily="18" charset="0"/>
                                <a:cs typeface="Arial" panose="020B0604020202020204" pitchFamily="34" charset="0"/>
                              </a:rPr>
                              <m:t>−</m:t>
                            </m:r>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2</m:t>
                                </m:r>
                              </m:sub>
                            </m:sSub>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𝜆</m:t>
                                </m:r>
                              </m:e>
                              <m:sub>
                                <m:r>
                                  <a:rPr lang="es-ES" sz="1200" b="0" i="1" smtClean="0">
                                    <a:latin typeface="Cambria Math" panose="02040503050406030204" pitchFamily="18" charset="0"/>
                                    <a:cs typeface="Arial" panose="020B0604020202020204" pitchFamily="34" charset="0"/>
                                  </a:rPr>
                                  <m:t>0</m:t>
                                </m:r>
                              </m:sub>
                            </m:sSub>
                          </m:e>
                          <m:e>
                            <m:r>
                              <a:rPr lang="es-ES" sz="1200" b="0" i="1" smtClean="0">
                                <a:latin typeface="Cambria Math" panose="02040503050406030204" pitchFamily="18" charset="0"/>
                                <a:cs typeface="Arial" panose="020B0604020202020204" pitchFamily="34" charset="0"/>
                              </a:rPr>
                              <m:t>𝐷</m:t>
                            </m:r>
                            <m:r>
                              <a:rPr lang="es-ES" sz="1200" b="0" i="1" smtClean="0">
                                <a:latin typeface="Cambria Math" panose="02040503050406030204" pitchFamily="18" charset="0"/>
                                <a:cs typeface="Arial" panose="020B0604020202020204" pitchFamily="34" charset="0"/>
                              </a:rPr>
                              <m:t>=−</m:t>
                            </m:r>
                            <m:f>
                              <m:fPr>
                                <m:ctrlPr>
                                  <a:rPr lang="es-ES" sz="1200" b="0" i="1" smtClean="0">
                                    <a:latin typeface="Cambria Math" panose="02040503050406030204" pitchFamily="18" charset="0"/>
                                    <a:cs typeface="Arial" panose="020B0604020202020204" pitchFamily="34" charset="0"/>
                                  </a:rPr>
                                </m:ctrlPr>
                              </m:fPr>
                              <m:num>
                                <m:r>
                                  <a:rPr lang="es-ES" sz="1200" b="0" i="1" smtClean="0">
                                    <a:latin typeface="Cambria Math" panose="02040503050406030204" pitchFamily="18" charset="0"/>
                                    <a:cs typeface="Arial" panose="020B0604020202020204" pitchFamily="34" charset="0"/>
                                  </a:rPr>
                                  <m:t>2</m:t>
                                </m:r>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𝜆</m:t>
                                    </m:r>
                                  </m:e>
                                  <m:sub>
                                    <m:r>
                                      <a:rPr lang="es-ES" sz="1200" b="0" i="1" smtClean="0">
                                        <a:latin typeface="Cambria Math" panose="02040503050406030204" pitchFamily="18" charset="0"/>
                                        <a:cs typeface="Arial" panose="020B0604020202020204" pitchFamily="34" charset="0"/>
                                      </a:rPr>
                                      <m:t>0</m:t>
                                    </m:r>
                                  </m:sub>
                                </m:sSub>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3</m:t>
                                    </m:r>
                                  </m:sub>
                                </m:sSub>
                              </m:num>
                              <m:den>
                                <m:r>
                                  <a:rPr lang="es-ES" sz="1200" b="0" i="1" smtClean="0">
                                    <a:latin typeface="Cambria Math" panose="02040503050406030204" pitchFamily="18" charset="0"/>
                                    <a:cs typeface="Arial" panose="020B0604020202020204" pitchFamily="34" charset="0"/>
                                  </a:rPr>
                                  <m:t>𝑐</m:t>
                                </m:r>
                              </m:den>
                            </m:f>
                            <m:d>
                              <m:dPr>
                                <m:begChr m:val="["/>
                                <m:endChr m:val="]"/>
                                <m:ctrlPr>
                                  <a:rPr lang="es-ES" sz="1200" b="0" i="1" smtClean="0">
                                    <a:latin typeface="Cambria Math" panose="02040503050406030204" pitchFamily="18" charset="0"/>
                                    <a:cs typeface="Arial" panose="020B0604020202020204" pitchFamily="34" charset="0"/>
                                  </a:rPr>
                                </m:ctrlPr>
                              </m:dPr>
                              <m:e>
                                <m:f>
                                  <m:fPr>
                                    <m:ctrlPr>
                                      <a:rPr lang="es-ES" sz="1200" b="0" i="1" smtClean="0">
                                        <a:latin typeface="Cambria Math" panose="02040503050406030204" pitchFamily="18" charset="0"/>
                                        <a:cs typeface="Arial" panose="020B0604020202020204" pitchFamily="34" charset="0"/>
                                      </a:rPr>
                                    </m:ctrlPr>
                                  </m:fPr>
                                  <m:num>
                                    <m:sSup>
                                      <m:sSupPr>
                                        <m:ctrlPr>
                                          <a:rPr lang="es-ES" sz="1200" b="0" i="1" smtClean="0">
                                            <a:latin typeface="Cambria Math" panose="02040503050406030204" pitchFamily="18" charset="0"/>
                                            <a:cs typeface="Arial" panose="020B0604020202020204" pitchFamily="34" charset="0"/>
                                          </a:rPr>
                                        </m:ctrlPr>
                                      </m:sSupPr>
                                      <m:e>
                                        <m:r>
                                          <a:rPr lang="es-ES" sz="1200" b="0" i="1" smtClean="0">
                                            <a:latin typeface="Cambria Math" panose="02040503050406030204" pitchFamily="18" charset="0"/>
                                            <a:cs typeface="Arial" panose="020B0604020202020204" pitchFamily="34" charset="0"/>
                                          </a:rPr>
                                          <m:t>𝑠</m:t>
                                        </m:r>
                                      </m:e>
                                      <m:sup>
                                        <m:r>
                                          <a:rPr lang="es-ES" sz="1200" b="0" i="1" smtClean="0">
                                            <a:latin typeface="Cambria Math" panose="02040503050406030204" pitchFamily="18" charset="0"/>
                                            <a:cs typeface="Arial" panose="020B0604020202020204" pitchFamily="34" charset="0"/>
                                          </a:rPr>
                                          <m:t>2</m:t>
                                        </m:r>
                                      </m:sup>
                                    </m:sSup>
                                  </m:num>
                                  <m:den>
                                    <m:r>
                                      <a:rPr lang="es-ES" sz="1200" b="0" i="1" smtClean="0">
                                        <a:latin typeface="Cambria Math" panose="02040503050406030204" pitchFamily="18" charset="0"/>
                                        <a:cs typeface="Arial" panose="020B0604020202020204" pitchFamily="34" charset="0"/>
                                      </a:rPr>
                                      <m:t>𝑚</m:t>
                                    </m:r>
                                  </m:den>
                                </m:f>
                              </m:e>
                            </m:d>
                          </m:e>
                        </m:eqArr>
                      </m:e>
                    </m:d>
                  </m:oMath>
                </a14:m>
                <a:endParaRPr lang="es-ES" sz="1200" b="0" dirty="0">
                  <a:cs typeface="Arial" panose="020B0604020202020204" pitchFamily="34" charset="0"/>
                </a:endParaRPr>
              </a:p>
              <a:p>
                <a:pPr algn="just"/>
                <a:r>
                  <a:rPr lang="en-US" sz="1200" dirty="0">
                    <a:cs typeface="Arial" panose="020B0604020202020204" pitchFamily="34" charset="0"/>
                  </a:rPr>
                  <a:t>Comment on the results found for the TE0 and TM0 for both deep and shallow waveguides. </a:t>
                </a:r>
              </a:p>
              <a:p>
                <a:pPr algn="just"/>
                <a:endParaRPr lang="en-US" sz="1200" dirty="0">
                  <a:cs typeface="Arial" panose="020B0604020202020204" pitchFamily="34" charset="0"/>
                </a:endParaRPr>
              </a:p>
              <a:p>
                <a:pPr algn="just"/>
                <a:r>
                  <a:rPr lang="en-US" sz="1200" dirty="0">
                    <a:cs typeface="Arial" panose="020B0604020202020204" pitchFamily="34" charset="0"/>
                  </a:rPr>
                  <a:t>A </a:t>
                </a:r>
                <a:r>
                  <a:rPr lang="en-US" sz="1200" dirty="0" err="1">
                    <a:cs typeface="Arial" panose="020B0604020202020204" pitchFamily="34" charset="0"/>
                  </a:rPr>
                  <a:t>continuación</a:t>
                </a:r>
                <a:r>
                  <a:rPr lang="en-US" sz="1200" dirty="0">
                    <a:cs typeface="Arial" panose="020B0604020202020204" pitchFamily="34" charset="0"/>
                  </a:rPr>
                  <a:t> se </a:t>
                </a:r>
                <a:r>
                  <a:rPr lang="en-US" sz="1200" dirty="0" err="1">
                    <a:cs typeface="Arial" panose="020B0604020202020204" pitchFamily="34" charset="0"/>
                  </a:rPr>
                  <a:t>presenta</a:t>
                </a:r>
                <a:r>
                  <a:rPr lang="en-US" sz="1200" dirty="0">
                    <a:cs typeface="Arial" panose="020B0604020202020204" pitchFamily="34" charset="0"/>
                  </a:rPr>
                  <a:t> la </a:t>
                </a:r>
                <a:r>
                  <a:rPr lang="en-US" sz="1200" dirty="0" err="1">
                    <a:cs typeface="Arial" panose="020B0604020202020204" pitchFamily="34" charset="0"/>
                  </a:rPr>
                  <a:t>ecuacion</a:t>
                </a:r>
                <a:r>
                  <a:rPr lang="en-US" sz="1200" dirty="0">
                    <a:cs typeface="Arial" panose="020B0604020202020204" pitchFamily="34" charset="0"/>
                  </a:rPr>
                  <a:t> de </a:t>
                </a:r>
                <a:r>
                  <a:rPr lang="en-US" sz="1200" dirty="0" err="1">
                    <a:cs typeface="Arial" panose="020B0604020202020204" pitchFamily="34" charset="0"/>
                  </a:rPr>
                  <a:t>segundo</a:t>
                </a:r>
                <a:r>
                  <a:rPr lang="en-US" sz="1200" dirty="0">
                    <a:cs typeface="Arial" panose="020B0604020202020204" pitchFamily="34" charset="0"/>
                  </a:rPr>
                  <a:t> </a:t>
                </a:r>
                <a:r>
                  <a:rPr lang="en-US" sz="1200" dirty="0" err="1">
                    <a:cs typeface="Arial" panose="020B0604020202020204" pitchFamily="34" charset="0"/>
                  </a:rPr>
                  <a:t>grado</a:t>
                </a:r>
                <a:r>
                  <a:rPr lang="en-US" sz="1200" dirty="0">
                    <a:cs typeface="Arial" panose="020B0604020202020204" pitchFamily="34" charset="0"/>
                  </a:rPr>
                  <a:t> con </a:t>
                </a:r>
                <a:r>
                  <a:rPr lang="en-US" sz="1200" dirty="0" err="1">
                    <a:cs typeface="Arial" panose="020B0604020202020204" pitchFamily="34" charset="0"/>
                  </a:rPr>
                  <a:t>los</a:t>
                </a:r>
                <a:r>
                  <a:rPr lang="en-US" sz="1200" dirty="0">
                    <a:cs typeface="Arial" panose="020B0604020202020204" pitchFamily="34" charset="0"/>
                  </a:rPr>
                  <a:t> </a:t>
                </a:r>
                <a:r>
                  <a:rPr lang="en-US" sz="1200" dirty="0" err="1">
                    <a:cs typeface="Arial" panose="020B0604020202020204" pitchFamily="34" charset="0"/>
                  </a:rPr>
                  <a:t>coeficientes</a:t>
                </a:r>
                <a:r>
                  <a:rPr lang="en-US" sz="1200" dirty="0">
                    <a:cs typeface="Arial" panose="020B0604020202020204" pitchFamily="34" charset="0"/>
                  </a:rPr>
                  <a:t> </a:t>
                </a:r>
                <a:r>
                  <a:rPr lang="en-US" sz="1200" dirty="0" err="1">
                    <a:cs typeface="Arial" panose="020B0604020202020204" pitchFamily="34" charset="0"/>
                  </a:rPr>
                  <a:t>polinomicos</a:t>
                </a:r>
                <a:r>
                  <a:rPr lang="en-US" sz="1200" dirty="0">
                    <a:cs typeface="Arial" panose="020B0604020202020204" pitchFamily="34" charset="0"/>
                  </a:rPr>
                  <a:t>. Su </a:t>
                </a:r>
                <a:r>
                  <a:rPr lang="en-US" sz="1200" dirty="0" err="1">
                    <a:cs typeface="Arial" panose="020B0604020202020204" pitchFamily="34" charset="0"/>
                  </a:rPr>
                  <a:t>objetivo</a:t>
                </a:r>
                <a:r>
                  <a:rPr lang="en-US" sz="1200" dirty="0">
                    <a:cs typeface="Arial" panose="020B0604020202020204" pitchFamily="34" charset="0"/>
                  </a:rPr>
                  <a:t> es </a:t>
                </a:r>
                <a:r>
                  <a:rPr lang="en-US" sz="1200" dirty="0" err="1">
                    <a:cs typeface="Arial" panose="020B0604020202020204" pitchFamily="34" charset="0"/>
                  </a:rPr>
                  <a:t>disminuir</a:t>
                </a:r>
                <a:r>
                  <a:rPr lang="en-US" sz="1200" dirty="0">
                    <a:cs typeface="Arial" panose="020B0604020202020204" pitchFamily="34" charset="0"/>
                  </a:rPr>
                  <a:t> la </a:t>
                </a:r>
                <a:r>
                  <a:rPr lang="en-US" sz="1200" dirty="0" err="1">
                    <a:cs typeface="Arial" panose="020B0604020202020204" pitchFamily="34" charset="0"/>
                  </a:rPr>
                  <a:t>complejidad</a:t>
                </a:r>
                <a:r>
                  <a:rPr lang="en-US" sz="1200" dirty="0">
                    <a:cs typeface="Arial" panose="020B0604020202020204" pitchFamily="34" charset="0"/>
                  </a:rPr>
                  <a:t> de la </a:t>
                </a:r>
                <a:r>
                  <a:rPr lang="en-US" sz="1200" dirty="0" err="1">
                    <a:cs typeface="Arial" panose="020B0604020202020204" pitchFamily="34" charset="0"/>
                  </a:rPr>
                  <a:t>representacion</a:t>
                </a:r>
                <a:r>
                  <a:rPr lang="en-US" sz="1200" dirty="0">
                    <a:cs typeface="Arial" panose="020B0604020202020204" pitchFamily="34" charset="0"/>
                  </a:rPr>
                  <a:t> y del </a:t>
                </a:r>
                <a:r>
                  <a:rPr lang="en-US" sz="1200" dirty="0" err="1">
                    <a:cs typeface="Arial" panose="020B0604020202020204" pitchFamily="34" charset="0"/>
                  </a:rPr>
                  <a:t>calculo</a:t>
                </a:r>
                <a:r>
                  <a:rPr lang="en-US" sz="1200" dirty="0">
                    <a:cs typeface="Arial" panose="020B0604020202020204" pitchFamily="34" charset="0"/>
                  </a:rPr>
                  <a:t> de las </a:t>
                </a:r>
                <a:r>
                  <a:rPr lang="en-US" sz="1200" dirty="0" err="1">
                    <a:cs typeface="Arial" panose="020B0604020202020204" pitchFamily="34" charset="0"/>
                  </a:rPr>
                  <a:t>guias</a:t>
                </a:r>
                <a:r>
                  <a:rPr lang="en-US" sz="1200" dirty="0">
                    <a:cs typeface="Arial" panose="020B0604020202020204" pitchFamily="34" charset="0"/>
                  </a:rPr>
                  <a:t> de </a:t>
                </a:r>
                <a:r>
                  <a:rPr lang="en-US" sz="1200" dirty="0" err="1">
                    <a:cs typeface="Arial" panose="020B0604020202020204" pitchFamily="34" charset="0"/>
                  </a:rPr>
                  <a:t>onda</a:t>
                </a:r>
                <a:r>
                  <a:rPr lang="en-US" sz="1200" dirty="0">
                    <a:cs typeface="Arial" panose="020B0604020202020204" pitchFamily="34" charset="0"/>
                  </a:rPr>
                  <a:t>, </a:t>
                </a:r>
                <a:r>
                  <a:rPr lang="en-US" sz="1200" dirty="0" err="1">
                    <a:cs typeface="Arial" panose="020B0604020202020204" pitchFamily="34" charset="0"/>
                  </a:rPr>
                  <a:t>llevando</a:t>
                </a:r>
                <a:r>
                  <a:rPr lang="en-US" sz="1200" dirty="0">
                    <a:cs typeface="Arial" panose="020B0604020202020204" pitchFamily="34" charset="0"/>
                  </a:rPr>
                  <a:t> a </a:t>
                </a:r>
                <a:r>
                  <a:rPr lang="en-US" sz="1200" dirty="0" err="1">
                    <a:cs typeface="Arial" panose="020B0604020202020204" pitchFamily="34" charset="0"/>
                  </a:rPr>
                  <a:t>cabo</a:t>
                </a:r>
                <a:r>
                  <a:rPr lang="en-US" sz="1200" dirty="0">
                    <a:cs typeface="Arial" panose="020B0604020202020204" pitchFamily="34" charset="0"/>
                  </a:rPr>
                  <a:t> </a:t>
                </a:r>
                <a:r>
                  <a:rPr lang="en-US" sz="1200" dirty="0" err="1">
                    <a:cs typeface="Arial" panose="020B0604020202020204" pitchFamily="34" charset="0"/>
                  </a:rPr>
                  <a:t>una</a:t>
                </a:r>
                <a:r>
                  <a:rPr lang="en-US" sz="1200" dirty="0">
                    <a:cs typeface="Arial" panose="020B0604020202020204" pitchFamily="34" charset="0"/>
                  </a:rPr>
                  <a:t> </a:t>
                </a:r>
                <a:r>
                  <a:rPr lang="en-US" sz="1200" dirty="0" err="1">
                    <a:cs typeface="Arial" panose="020B0604020202020204" pitchFamily="34" charset="0"/>
                  </a:rPr>
                  <a:t>aproximacion</a:t>
                </a:r>
                <a:r>
                  <a:rPr lang="en-US" sz="1200" dirty="0">
                    <a:cs typeface="Arial" panose="020B0604020202020204" pitchFamily="34" charset="0"/>
                  </a:rPr>
                  <a:t> de sus indices </a:t>
                </a:r>
                <a:r>
                  <a:rPr lang="en-US" sz="1200" dirty="0" err="1">
                    <a:cs typeface="Arial" panose="020B0604020202020204" pitchFamily="34" charset="0"/>
                  </a:rPr>
                  <a:t>efectivos</a:t>
                </a:r>
                <a:r>
                  <a:rPr lang="en-US" sz="1200" dirty="0">
                    <a:cs typeface="Arial" panose="020B0604020202020204" pitchFamily="34" charset="0"/>
                  </a:rPr>
                  <a:t> </a:t>
                </a:r>
                <a:r>
                  <a:rPr lang="en-US" sz="1200" dirty="0" err="1">
                    <a:cs typeface="Arial" panose="020B0604020202020204" pitchFamily="34" charset="0"/>
                  </a:rPr>
                  <a:t>en</a:t>
                </a:r>
                <a:r>
                  <a:rPr lang="en-US" sz="1200" dirty="0">
                    <a:cs typeface="Arial" panose="020B0604020202020204" pitchFamily="34" charset="0"/>
                  </a:rPr>
                  <a:t> </a:t>
                </a:r>
                <a:r>
                  <a:rPr lang="en-US" sz="1200" dirty="0" err="1">
                    <a:cs typeface="Arial" panose="020B0604020202020204" pitchFamily="34" charset="0"/>
                  </a:rPr>
                  <a:t>el</a:t>
                </a:r>
                <a:r>
                  <a:rPr lang="en-US" sz="1200" dirty="0">
                    <a:cs typeface="Arial" panose="020B0604020202020204" pitchFamily="34" charset="0"/>
                  </a:rPr>
                  <a:t> </a:t>
                </a:r>
                <a:r>
                  <a:rPr lang="en-US" sz="1200" dirty="0" err="1">
                    <a:cs typeface="Arial" panose="020B0604020202020204" pitchFamily="34" charset="0"/>
                  </a:rPr>
                  <a:t>rango</a:t>
                </a:r>
                <a:r>
                  <a:rPr lang="en-US" sz="1200" dirty="0">
                    <a:cs typeface="Arial" panose="020B0604020202020204" pitchFamily="34" charset="0"/>
                  </a:rPr>
                  <a:t> de longitudes de </a:t>
                </a:r>
                <a:r>
                  <a:rPr lang="en-US" sz="1200" dirty="0" err="1">
                    <a:cs typeface="Arial" panose="020B0604020202020204" pitchFamily="34" charset="0"/>
                  </a:rPr>
                  <a:t>onda</a:t>
                </a:r>
                <a:r>
                  <a:rPr lang="en-US" sz="1200" dirty="0">
                    <a:cs typeface="Arial" panose="020B0604020202020204" pitchFamily="34" charset="0"/>
                  </a:rPr>
                  <a:t> de 1.50 a 1.6, </a:t>
                </a:r>
                <a:r>
                  <a:rPr lang="en-US" sz="1200" dirty="0" err="1">
                    <a:cs typeface="Arial" panose="020B0604020202020204" pitchFamily="34" charset="0"/>
                  </a:rPr>
                  <a:t>tomando</a:t>
                </a:r>
                <a:r>
                  <a:rPr lang="en-US" sz="1200" dirty="0">
                    <a:cs typeface="Arial" panose="020B0604020202020204" pitchFamily="34" charset="0"/>
                  </a:rPr>
                  <a:t> </a:t>
                </a:r>
                <a:r>
                  <a:rPr lang="en-US" sz="1200" dirty="0" err="1">
                    <a:cs typeface="Arial" panose="020B0604020202020204" pitchFamily="34" charset="0"/>
                  </a:rPr>
                  <a:t>como</a:t>
                </a:r>
                <a:r>
                  <a:rPr lang="en-US" sz="1200" dirty="0">
                    <a:cs typeface="Arial" panose="020B0604020202020204" pitchFamily="34" charset="0"/>
                  </a:rPr>
                  <a:t> </a:t>
                </a:r>
                <a:r>
                  <a:rPr lang="en-US" sz="1200" dirty="0" err="1">
                    <a:cs typeface="Arial" panose="020B0604020202020204" pitchFamily="34" charset="0"/>
                  </a:rPr>
                  <a:t>referencia</a:t>
                </a:r>
                <a:r>
                  <a:rPr lang="en-US" sz="1200" dirty="0">
                    <a:cs typeface="Arial" panose="020B0604020202020204" pitchFamily="34" charset="0"/>
                  </a:rPr>
                  <a:t> 1.55.</a:t>
                </a:r>
              </a:p>
              <a:p>
                <a:pPr algn="just"/>
                <a:endParaRPr lang="en-US" sz="1200" dirty="0">
                  <a:cs typeface="Arial" panose="020B0604020202020204" pitchFamily="34" charset="0"/>
                </a:endParaRPr>
              </a:p>
              <a:p>
                <a:pPr algn="just"/>
                <a:r>
                  <a:rPr lang="en-US" sz="1200" dirty="0">
                    <a:cs typeface="Arial" panose="020B0604020202020204" pitchFamily="34" charset="0"/>
                  </a:rPr>
                  <a:t>Para </a:t>
                </a:r>
                <a:r>
                  <a:rPr lang="en-US" sz="1200" dirty="0" err="1">
                    <a:cs typeface="Arial" panose="020B0604020202020204" pitchFamily="34" charset="0"/>
                  </a:rPr>
                  <a:t>ello</a:t>
                </a:r>
                <a:r>
                  <a:rPr lang="en-US" sz="1200" dirty="0">
                    <a:cs typeface="Arial" panose="020B0604020202020204" pitchFamily="34" charset="0"/>
                  </a:rPr>
                  <a:t>, se </a:t>
                </a:r>
                <a:r>
                  <a:rPr lang="en-US" sz="1200" dirty="0" err="1">
                    <a:cs typeface="Arial" panose="020B0604020202020204" pitchFamily="34" charset="0"/>
                  </a:rPr>
                  <a:t>han</a:t>
                </a:r>
                <a:r>
                  <a:rPr lang="en-US" sz="1200" dirty="0">
                    <a:cs typeface="Arial" panose="020B0604020202020204" pitchFamily="34" charset="0"/>
                  </a:rPr>
                  <a:t> </a:t>
                </a:r>
                <a:r>
                  <a:rPr lang="en-US" sz="1200" dirty="0" err="1">
                    <a:cs typeface="Arial" panose="020B0604020202020204" pitchFamily="34" charset="0"/>
                  </a:rPr>
                  <a:t>tomado</a:t>
                </a:r>
                <a:r>
                  <a:rPr lang="en-US" sz="1200" dirty="0">
                    <a:cs typeface="Arial" panose="020B0604020202020204" pitchFamily="34" charset="0"/>
                  </a:rPr>
                  <a:t> las dos </a:t>
                </a:r>
                <a:r>
                  <a:rPr lang="en-US" sz="1200" dirty="0" err="1">
                    <a:cs typeface="Arial" panose="020B0604020202020204" pitchFamily="34" charset="0"/>
                  </a:rPr>
                  <a:t>funciones</a:t>
                </a:r>
                <a:r>
                  <a:rPr lang="en-US" sz="1200" dirty="0">
                    <a:cs typeface="Arial" panose="020B0604020202020204" pitchFamily="34" charset="0"/>
                  </a:rPr>
                  <a:t> </a:t>
                </a:r>
                <a:r>
                  <a:rPr lang="en-US" sz="1200" dirty="0" err="1">
                    <a:cs typeface="Arial" panose="020B0604020202020204" pitchFamily="34" charset="0"/>
                  </a:rPr>
                  <a:t>creadas</a:t>
                </a:r>
                <a:r>
                  <a:rPr lang="en-US" sz="1200" dirty="0">
                    <a:cs typeface="Arial" panose="020B0604020202020204" pitchFamily="34" charset="0"/>
                  </a:rPr>
                  <a:t> </a:t>
                </a:r>
                <a:r>
                  <a:rPr lang="en-US" sz="1200" dirty="0" err="1">
                    <a:cs typeface="Arial" panose="020B0604020202020204" pitchFamily="34" charset="0"/>
                  </a:rPr>
                  <a:t>en</a:t>
                </a:r>
                <a:r>
                  <a:rPr lang="en-US" sz="1200" dirty="0">
                    <a:cs typeface="Arial" panose="020B0604020202020204" pitchFamily="34" charset="0"/>
                  </a:rPr>
                  <a:t> </a:t>
                </a:r>
                <a:r>
                  <a:rPr lang="en-US" sz="1200" dirty="0" err="1">
                    <a:cs typeface="Arial" panose="020B0604020202020204" pitchFamily="34" charset="0"/>
                  </a:rPr>
                  <a:t>el</a:t>
                </a:r>
                <a:r>
                  <a:rPr lang="en-US" sz="1200" dirty="0">
                    <a:cs typeface="Arial" panose="020B0604020202020204" pitchFamily="34" charset="0"/>
                  </a:rPr>
                  <a:t> LO.2, tanto para la deep </a:t>
                </a:r>
                <a:r>
                  <a:rPr lang="en-US" sz="1200" dirty="0" err="1">
                    <a:cs typeface="Arial" panose="020B0604020202020204" pitchFamily="34" charset="0"/>
                  </a:rPr>
                  <a:t>como</a:t>
                </a:r>
                <a:r>
                  <a:rPr lang="en-US" sz="1200" dirty="0">
                    <a:cs typeface="Arial" panose="020B0604020202020204" pitchFamily="34" charset="0"/>
                  </a:rPr>
                  <a:t> para la shallow. A </a:t>
                </a:r>
                <a:r>
                  <a:rPr lang="en-US" sz="1200" dirty="0" err="1">
                    <a:cs typeface="Arial" panose="020B0604020202020204" pitchFamily="34" charset="0"/>
                  </a:rPr>
                  <a:t>partir</a:t>
                </a:r>
                <a:r>
                  <a:rPr lang="en-US" sz="1200" dirty="0">
                    <a:cs typeface="Arial" panose="020B0604020202020204" pitchFamily="34" charset="0"/>
                  </a:rPr>
                  <a:t> </a:t>
                </a:r>
                <a:r>
                  <a:rPr lang="es-ES" sz="1200" dirty="0"/>
                  <a:t>de los resultados obtenidos con el </a:t>
                </a:r>
                <a:r>
                  <a:rPr lang="es-ES" sz="1200" dirty="0" err="1"/>
                  <a:t>ModeSolver</a:t>
                </a:r>
                <a:r>
                  <a:rPr lang="en-US" sz="1200" dirty="0">
                    <a:cs typeface="Arial" panose="020B0604020202020204" pitchFamily="34" charset="0"/>
                  </a:rPr>
                  <a:t>, </a:t>
                </a:r>
                <a:r>
                  <a:rPr lang="es-ES" sz="1200" dirty="0"/>
                  <a:t>se ha realizado un ajuste polinómico de segundo orden en torno a </a:t>
                </a:r>
                <a:r>
                  <a:rPr lang="el-GR" sz="1200" dirty="0"/>
                  <a:t>λ₀, </a:t>
                </a:r>
                <a:r>
                  <a:rPr lang="es-ES" sz="1200" dirty="0"/>
                  <a:t>obteniendo los coeficientes </a:t>
                </a:r>
                <a14:m>
                  <m:oMath xmlns:m="http://schemas.openxmlformats.org/officeDocument/2006/math">
                    <m:sSub>
                      <m:sSubPr>
                        <m:ctrlPr>
                          <a:rPr lang="ar-AE" sz="1200" i="1">
                            <a:latin typeface="Cambria Math" panose="02040503050406030204" pitchFamily="18" charset="0"/>
                          </a:rPr>
                        </m:ctrlPr>
                      </m:sSubPr>
                      <m:e>
                        <m:r>
                          <a:rPr lang="ar-AE" sz="1200" i="1">
                            <a:latin typeface="Cambria Math" panose="02040503050406030204" pitchFamily="18" charset="0"/>
                          </a:rPr>
                          <m:t>𝑛</m:t>
                        </m:r>
                      </m:e>
                      <m:sub>
                        <m:r>
                          <a:rPr lang="ar-AE" sz="1200">
                            <a:latin typeface="Cambria Math" panose="02040503050406030204" pitchFamily="18" charset="0"/>
                          </a:rPr>
                          <m:t>1</m:t>
                        </m:r>
                      </m:sub>
                    </m:sSub>
                  </m:oMath>
                </a14:m>
                <a:r>
                  <a:rPr lang="ar-AE" sz="1200" dirty="0"/>
                  <a:t>, </a:t>
                </a:r>
                <a14:m>
                  <m:oMath xmlns:m="http://schemas.openxmlformats.org/officeDocument/2006/math">
                    <m:sSub>
                      <m:sSubPr>
                        <m:ctrlPr>
                          <a:rPr lang="ar-AE" sz="1200" i="1">
                            <a:latin typeface="Cambria Math" panose="02040503050406030204" pitchFamily="18" charset="0"/>
                          </a:rPr>
                        </m:ctrlPr>
                      </m:sSubPr>
                      <m:e>
                        <m:r>
                          <a:rPr lang="ar-AE" sz="1200" i="1">
                            <a:latin typeface="Cambria Math" panose="02040503050406030204" pitchFamily="18" charset="0"/>
                          </a:rPr>
                          <m:t>𝑛</m:t>
                        </m:r>
                      </m:e>
                      <m:sub>
                        <m:r>
                          <a:rPr lang="ar-AE" sz="1200">
                            <a:latin typeface="Cambria Math" panose="02040503050406030204" pitchFamily="18" charset="0"/>
                          </a:rPr>
                          <m:t>2</m:t>
                        </m:r>
                      </m:sub>
                    </m:sSub>
                  </m:oMath>
                </a14:m>
                <a:r>
                  <a:rPr lang="es-ES" sz="1200" dirty="0"/>
                  <a:t>y </a:t>
                </a:r>
                <a14:m>
                  <m:oMath xmlns:m="http://schemas.openxmlformats.org/officeDocument/2006/math">
                    <m:sSub>
                      <m:sSubPr>
                        <m:ctrlPr>
                          <a:rPr lang="ar-AE" sz="1200" i="1">
                            <a:latin typeface="Cambria Math" panose="02040503050406030204" pitchFamily="18" charset="0"/>
                          </a:rPr>
                        </m:ctrlPr>
                      </m:sSubPr>
                      <m:e>
                        <m:r>
                          <a:rPr lang="ar-AE" sz="1200" i="1">
                            <a:latin typeface="Cambria Math" panose="02040503050406030204" pitchFamily="18" charset="0"/>
                          </a:rPr>
                          <m:t>𝑛</m:t>
                        </m:r>
                      </m:e>
                      <m:sub>
                        <m:r>
                          <a:rPr lang="ar-AE" sz="1200">
                            <a:latin typeface="Cambria Math" panose="02040503050406030204" pitchFamily="18" charset="0"/>
                          </a:rPr>
                          <m:t>3</m:t>
                        </m:r>
                      </m:sub>
                    </m:sSub>
                  </m:oMath>
                </a14:m>
                <a:r>
                  <a:rPr lang="ar-AE" sz="1200" dirty="0"/>
                  <a:t>, </a:t>
                </a:r>
                <a:r>
                  <a:rPr lang="es-ES" sz="1200" dirty="0"/>
                  <a:t>así como el índice de grupo y el parámetro de dispersión.</a:t>
                </a:r>
                <a:r>
                  <a:rPr lang="en-US" sz="1200" dirty="0">
                    <a:cs typeface="Arial" panose="020B0604020202020204" pitchFamily="34" charset="0"/>
                  </a:rPr>
                  <a:t>. </a:t>
                </a:r>
              </a:p>
              <a:p>
                <a:pPr algn="just"/>
                <a:endParaRPr lang="en-US" sz="1200" dirty="0">
                  <a:cs typeface="Arial" panose="020B0604020202020204" pitchFamily="34" charset="0"/>
                </a:endParaRPr>
              </a:p>
              <a:p>
                <a:pPr algn="just"/>
                <a:r>
                  <a:rPr lang="en-US" sz="1200" dirty="0" err="1">
                    <a:cs typeface="Arial" panose="020B0604020202020204" pitchFamily="34" charset="0"/>
                  </a:rPr>
                  <a:t>Posteriormente</a:t>
                </a:r>
                <a:r>
                  <a:rPr lang="en-US" sz="1200" dirty="0">
                    <a:cs typeface="Arial" panose="020B0604020202020204" pitchFamily="34" charset="0"/>
                  </a:rPr>
                  <a:t>, se </a:t>
                </a:r>
                <a:r>
                  <a:rPr lang="en-US" sz="1200" dirty="0" err="1">
                    <a:cs typeface="Arial" panose="020B0604020202020204" pitchFamily="34" charset="0"/>
                  </a:rPr>
                  <a:t>han</a:t>
                </a:r>
                <a:r>
                  <a:rPr lang="en-US" sz="1200" dirty="0">
                    <a:cs typeface="Arial" panose="020B0604020202020204" pitchFamily="34" charset="0"/>
                  </a:rPr>
                  <a:t> </a:t>
                </a:r>
                <a:r>
                  <a:rPr lang="en-US" sz="1200" dirty="0" err="1">
                    <a:cs typeface="Arial" panose="020B0604020202020204" pitchFamily="34" charset="0"/>
                  </a:rPr>
                  <a:t>analizado</a:t>
                </a:r>
                <a:r>
                  <a:rPr lang="en-US" sz="1200" dirty="0">
                    <a:cs typeface="Arial" panose="020B0604020202020204" pitchFamily="34" charset="0"/>
                  </a:rPr>
                  <a:t> </a:t>
                </a:r>
                <a:r>
                  <a:rPr lang="en-US" sz="1200" dirty="0" err="1">
                    <a:cs typeface="Arial" panose="020B0604020202020204" pitchFamily="34" charset="0"/>
                  </a:rPr>
                  <a:t>los</a:t>
                </a:r>
                <a:r>
                  <a:rPr lang="en-US" sz="1200" dirty="0">
                    <a:cs typeface="Arial" panose="020B0604020202020204" pitchFamily="34" charset="0"/>
                  </a:rPr>
                  <a:t> </a:t>
                </a:r>
                <a:r>
                  <a:rPr lang="en-US" sz="1200" dirty="0" err="1">
                    <a:cs typeface="Arial" panose="020B0604020202020204" pitchFamily="34" charset="0"/>
                  </a:rPr>
                  <a:t>resultados</a:t>
                </a:r>
                <a:r>
                  <a:rPr lang="en-US" sz="1200" dirty="0">
                    <a:cs typeface="Arial" panose="020B0604020202020204" pitchFamily="34" charset="0"/>
                  </a:rPr>
                  <a:t> y se ha </a:t>
                </a:r>
                <a:r>
                  <a:rPr lang="en-US" sz="1200" dirty="0" err="1">
                    <a:cs typeface="Arial" panose="020B0604020202020204" pitchFamily="34" charset="0"/>
                  </a:rPr>
                  <a:t>llegado</a:t>
                </a:r>
                <a:r>
                  <a:rPr lang="en-US" sz="1200" dirty="0">
                    <a:cs typeface="Arial" panose="020B0604020202020204" pitchFamily="34" charset="0"/>
                  </a:rPr>
                  <a:t> a la conclusion de </a:t>
                </a:r>
                <a:r>
                  <a:rPr lang="en-US" sz="1200" dirty="0" err="1">
                    <a:cs typeface="Arial" panose="020B0604020202020204" pitchFamily="34" charset="0"/>
                  </a:rPr>
                  <a:t>que</a:t>
                </a:r>
                <a:r>
                  <a:rPr lang="en-US" sz="1200" dirty="0">
                    <a:cs typeface="Arial" panose="020B0604020202020204" pitchFamily="34" charset="0"/>
                  </a:rPr>
                  <a:t> son </a:t>
                </a:r>
                <a:r>
                  <a:rPr lang="en-US" sz="1200" dirty="0" err="1">
                    <a:cs typeface="Arial" panose="020B0604020202020204" pitchFamily="34" charset="0"/>
                  </a:rPr>
                  <a:t>correctos</a:t>
                </a:r>
                <a:r>
                  <a:rPr lang="en-US" sz="1200" dirty="0">
                    <a:cs typeface="Arial" panose="020B0604020202020204" pitchFamily="34" charset="0"/>
                  </a:rPr>
                  <a:t>, </a:t>
                </a:r>
                <a:r>
                  <a:rPr lang="en-US" sz="1200" dirty="0" err="1">
                    <a:cs typeface="Arial" panose="020B0604020202020204" pitchFamily="34" charset="0"/>
                  </a:rPr>
                  <a:t>ya</a:t>
                </a:r>
                <a:r>
                  <a:rPr lang="en-US" sz="1200" dirty="0">
                    <a:cs typeface="Arial" panose="020B0604020202020204" pitchFamily="34" charset="0"/>
                  </a:rPr>
                  <a:t> </a:t>
                </a:r>
                <a:r>
                  <a:rPr lang="en-US" sz="1200" dirty="0" err="1">
                    <a:cs typeface="Arial" panose="020B0604020202020204" pitchFamily="34" charset="0"/>
                  </a:rPr>
                  <a:t>que</a:t>
                </a:r>
                <a:r>
                  <a:rPr lang="en-US" sz="1200" dirty="0">
                    <a:cs typeface="Arial" panose="020B0604020202020204" pitchFamily="34" charset="0"/>
                  </a:rPr>
                  <a:t> </a:t>
                </a:r>
                <a:r>
                  <a:rPr lang="en-US" sz="1200" dirty="0" err="1">
                    <a:cs typeface="Arial" panose="020B0604020202020204" pitchFamily="34" charset="0"/>
                  </a:rPr>
                  <a:t>el</a:t>
                </a:r>
                <a:r>
                  <a:rPr lang="en-US" sz="1200" dirty="0">
                    <a:cs typeface="Arial" panose="020B0604020202020204" pitchFamily="34" charset="0"/>
                  </a:rPr>
                  <a:t> </a:t>
                </a:r>
                <a:r>
                  <a:rPr lang="en-US" sz="1200" dirty="0" err="1">
                    <a:cs typeface="Arial" panose="020B0604020202020204" pitchFamily="34" charset="0"/>
                  </a:rPr>
                  <a:t>coeficiente</a:t>
                </a:r>
                <a:r>
                  <a:rPr lang="en-US" sz="1200" dirty="0">
                    <a:cs typeface="Arial" panose="020B0604020202020204" pitchFamily="34" charset="0"/>
                  </a:rPr>
                  <a:t> n1 </a:t>
                </a:r>
                <a:r>
                  <a:rPr lang="en-US" sz="1200" dirty="0" err="1">
                    <a:cs typeface="Arial" panose="020B0604020202020204" pitchFamily="34" charset="0"/>
                  </a:rPr>
                  <a:t>corresponde</a:t>
                </a:r>
                <a:r>
                  <a:rPr lang="en-US" sz="1200" dirty="0">
                    <a:cs typeface="Arial" panose="020B0604020202020204" pitchFamily="34" charset="0"/>
                  </a:rPr>
                  <a:t> al </a:t>
                </a:r>
                <a:r>
                  <a:rPr lang="en-US" sz="1200" dirty="0" err="1">
                    <a:cs typeface="Arial" panose="020B0604020202020204" pitchFamily="34" charset="0"/>
                  </a:rPr>
                  <a:t>indice</a:t>
                </a:r>
                <a:r>
                  <a:rPr lang="en-US" sz="1200" dirty="0">
                    <a:cs typeface="Arial" panose="020B0604020202020204" pitchFamily="34" charset="0"/>
                  </a:rPr>
                  <a:t> </a:t>
                </a:r>
                <a:r>
                  <a:rPr lang="en-US" sz="1200" dirty="0" err="1">
                    <a:cs typeface="Arial" panose="020B0604020202020204" pitchFamily="34" charset="0"/>
                  </a:rPr>
                  <a:t>efectivo</a:t>
                </a:r>
                <a:r>
                  <a:rPr lang="en-US" sz="1200" dirty="0">
                    <a:cs typeface="Arial" panose="020B0604020202020204" pitchFamily="34" charset="0"/>
                  </a:rPr>
                  <a:t> </a:t>
                </a:r>
                <a:r>
                  <a:rPr lang="en-US" sz="1200" dirty="0" err="1">
                    <a:cs typeface="Arial" panose="020B0604020202020204" pitchFamily="34" charset="0"/>
                  </a:rPr>
                  <a:t>en</a:t>
                </a:r>
                <a:r>
                  <a:rPr lang="en-US" sz="1200" dirty="0">
                    <a:cs typeface="Arial" panose="020B0604020202020204" pitchFamily="34" charset="0"/>
                  </a:rPr>
                  <a:t> </a:t>
                </a:r>
                <a:r>
                  <a:rPr lang="en-US" sz="1200" dirty="0" err="1">
                    <a:cs typeface="Arial" panose="020B0604020202020204" pitchFamily="34" charset="0"/>
                  </a:rPr>
                  <a:t>cada</a:t>
                </a:r>
                <a:r>
                  <a:rPr lang="en-US" sz="1200" dirty="0">
                    <a:cs typeface="Arial" panose="020B0604020202020204" pitchFamily="34" charset="0"/>
                  </a:rPr>
                  <a:t> modo </a:t>
                </a:r>
                <a:r>
                  <a:rPr lang="en-US" sz="1200" dirty="0" err="1">
                    <a:cs typeface="Arial" panose="020B0604020202020204" pitchFamily="34" charset="0"/>
                  </a:rPr>
                  <a:t>en</a:t>
                </a:r>
                <a:r>
                  <a:rPr lang="en-US" sz="1200" dirty="0">
                    <a:cs typeface="Arial" panose="020B0604020202020204" pitchFamily="34" charset="0"/>
                  </a:rPr>
                  <a:t> la </a:t>
                </a:r>
                <a:r>
                  <a:rPr lang="en-US" sz="1200" dirty="0" err="1">
                    <a:cs typeface="Arial" panose="020B0604020202020204" pitchFamily="34" charset="0"/>
                  </a:rPr>
                  <a:t>longitud</a:t>
                </a:r>
                <a:r>
                  <a:rPr lang="en-US" sz="1200" dirty="0">
                    <a:cs typeface="Arial" panose="020B0604020202020204" pitchFamily="34" charset="0"/>
                  </a:rPr>
                  <a:t> de de </a:t>
                </a:r>
                <a:r>
                  <a:rPr lang="en-US" sz="1200" dirty="0" err="1">
                    <a:cs typeface="Arial" panose="020B0604020202020204" pitchFamily="34" charset="0"/>
                  </a:rPr>
                  <a:t>onda</a:t>
                </a:r>
                <a:r>
                  <a:rPr lang="en-US" sz="1200" dirty="0">
                    <a:cs typeface="Arial" panose="020B0604020202020204" pitchFamily="34" charset="0"/>
                  </a:rPr>
                  <a:t> de </a:t>
                </a:r>
                <a:r>
                  <a:rPr lang="en-US" sz="1200" dirty="0" err="1">
                    <a:cs typeface="Arial" panose="020B0604020202020204" pitchFamily="34" charset="0"/>
                  </a:rPr>
                  <a:t>referencia</a:t>
                </a:r>
                <a:r>
                  <a:rPr lang="en-US" sz="1200" dirty="0">
                    <a:cs typeface="Arial" panose="020B0604020202020204" pitchFamily="34" charset="0"/>
                  </a:rPr>
                  <a:t>. </a:t>
                </a:r>
                <a:r>
                  <a:rPr lang="es-ES" sz="1200" dirty="0"/>
                  <a:t>Además, </a:t>
                </a:r>
                <a14:m>
                  <m:oMath xmlns:m="http://schemas.openxmlformats.org/officeDocument/2006/math">
                    <m:sSub>
                      <m:sSubPr>
                        <m:ctrlPr>
                          <a:rPr lang="ar-AE" sz="1200" i="1">
                            <a:latin typeface="Cambria Math" panose="02040503050406030204" pitchFamily="18" charset="0"/>
                          </a:rPr>
                        </m:ctrlPr>
                      </m:sSubPr>
                      <m:e>
                        <m:r>
                          <a:rPr lang="ar-AE" sz="1200" i="1">
                            <a:latin typeface="Cambria Math" panose="02040503050406030204" pitchFamily="18" charset="0"/>
                          </a:rPr>
                          <m:t>𝑛</m:t>
                        </m:r>
                      </m:e>
                      <m:sub>
                        <m:r>
                          <a:rPr lang="ar-AE" sz="1200">
                            <a:latin typeface="Cambria Math" panose="02040503050406030204" pitchFamily="18" charset="0"/>
                          </a:rPr>
                          <m:t>2</m:t>
                        </m:r>
                      </m:sub>
                    </m:sSub>
                  </m:oMath>
                </a14:m>
                <a:r>
                  <a:rPr lang="es-ES" sz="1200" dirty="0"/>
                  <a:t>es menor que cero, lo que indica que el índice efectivo disminuye al aumentar la longitud de onda debido al </a:t>
                </a:r>
                <a:r>
                  <a:rPr lang="es-ES" sz="1200" dirty="0" err="1"/>
                  <a:t>desconfiamiento</a:t>
                </a:r>
                <a:r>
                  <a:rPr lang="es-ES" sz="1200" dirty="0"/>
                  <a:t> modal. Por otro lado, la dispersión resulta negativa porque el coeficiente </a:t>
                </a:r>
                <a14:m>
                  <m:oMath xmlns:m="http://schemas.openxmlformats.org/officeDocument/2006/math">
                    <m:sSub>
                      <m:sSubPr>
                        <m:ctrlPr>
                          <a:rPr lang="ar-AE" sz="1200" i="1">
                            <a:latin typeface="Cambria Math" panose="02040503050406030204" pitchFamily="18" charset="0"/>
                          </a:rPr>
                        </m:ctrlPr>
                      </m:sSubPr>
                      <m:e>
                        <m:r>
                          <a:rPr lang="ar-AE" sz="1200" i="1">
                            <a:latin typeface="Cambria Math" panose="02040503050406030204" pitchFamily="18" charset="0"/>
                          </a:rPr>
                          <m:t>𝑛</m:t>
                        </m:r>
                      </m:e>
                      <m:sub>
                        <m:r>
                          <a:rPr lang="ar-AE" sz="1200">
                            <a:latin typeface="Cambria Math" panose="02040503050406030204" pitchFamily="18" charset="0"/>
                          </a:rPr>
                          <m:t>3</m:t>
                        </m:r>
                      </m:sub>
                    </m:sSub>
                  </m:oMath>
                </a14:m>
                <a:r>
                  <a:rPr lang="es-ES" sz="1200" dirty="0"/>
                  <a:t>es positivo, según la relación </a:t>
                </a:r>
                <a14:m>
                  <m:oMath xmlns:m="http://schemas.openxmlformats.org/officeDocument/2006/math">
                    <m:r>
                      <a:rPr lang="es-ES" sz="1200" i="1">
                        <a:latin typeface="Cambria Math" panose="02040503050406030204" pitchFamily="18" charset="0"/>
                      </a:rPr>
                      <m:t>𝐷</m:t>
                    </m:r>
                    <m:r>
                      <a:rPr lang="es-ES" sz="1200">
                        <a:latin typeface="Cambria Math" panose="02040503050406030204" pitchFamily="18" charset="0"/>
                      </a:rPr>
                      <m:t>=−</m:t>
                    </m:r>
                    <m:f>
                      <m:fPr>
                        <m:ctrlPr>
                          <a:rPr lang="ar-AE" sz="1200" i="1">
                            <a:latin typeface="Cambria Math" panose="02040503050406030204" pitchFamily="18" charset="0"/>
                          </a:rPr>
                        </m:ctrlPr>
                      </m:fPr>
                      <m:num>
                        <m:r>
                          <a:rPr lang="ar-AE" sz="1200">
                            <a:latin typeface="Cambria Math" panose="02040503050406030204" pitchFamily="18" charset="0"/>
                          </a:rPr>
                          <m:t>2</m:t>
                        </m:r>
                        <m:sSub>
                          <m:sSubPr>
                            <m:ctrlPr>
                              <a:rPr lang="ar-AE" sz="1200" i="1">
                                <a:latin typeface="Cambria Math" panose="02040503050406030204" pitchFamily="18" charset="0"/>
                              </a:rPr>
                            </m:ctrlPr>
                          </m:sSubPr>
                          <m:e>
                            <m:r>
                              <a:rPr lang="ar-AE" sz="1200" i="1">
                                <a:latin typeface="Cambria Math" panose="02040503050406030204" pitchFamily="18" charset="0"/>
                              </a:rPr>
                              <m:t>𝜆</m:t>
                            </m:r>
                          </m:e>
                          <m:sub>
                            <m:r>
                              <a:rPr lang="ar-AE" sz="1200">
                                <a:latin typeface="Cambria Math" panose="02040503050406030204" pitchFamily="18" charset="0"/>
                              </a:rPr>
                              <m:t>0</m:t>
                            </m:r>
                          </m:sub>
                        </m:sSub>
                        <m:sSub>
                          <m:sSubPr>
                            <m:ctrlPr>
                              <a:rPr lang="ar-AE" sz="1200" i="1">
                                <a:latin typeface="Cambria Math" panose="02040503050406030204" pitchFamily="18" charset="0"/>
                              </a:rPr>
                            </m:ctrlPr>
                          </m:sSubPr>
                          <m:e>
                            <m:r>
                              <a:rPr lang="ar-AE" sz="1200" i="1">
                                <a:latin typeface="Cambria Math" panose="02040503050406030204" pitchFamily="18" charset="0"/>
                              </a:rPr>
                              <m:t>𝑛</m:t>
                            </m:r>
                          </m:e>
                          <m:sub>
                            <m:r>
                              <a:rPr lang="ar-AE" sz="1200">
                                <a:latin typeface="Cambria Math" panose="02040503050406030204" pitchFamily="18" charset="0"/>
                              </a:rPr>
                              <m:t>3</m:t>
                            </m:r>
                          </m:sub>
                        </m:sSub>
                      </m:num>
                      <m:den>
                        <m:r>
                          <a:rPr lang="ar-AE" sz="1200" i="1">
                            <a:latin typeface="Cambria Math" panose="02040503050406030204" pitchFamily="18" charset="0"/>
                          </a:rPr>
                          <m:t>𝑐</m:t>
                        </m:r>
                      </m:den>
                    </m:f>
                  </m:oMath>
                </a14:m>
                <a:r>
                  <a:rPr lang="ar-AE" sz="1200" dirty="0"/>
                  <a:t>, </a:t>
                </a:r>
                <a:r>
                  <a:rPr lang="es-ES" sz="1200" dirty="0"/>
                  <a:t>lo que implica una curvatura cóncava hacia arriba del índice efectivo en el rango analizado.</a:t>
                </a:r>
              </a:p>
              <a:p>
                <a:pPr algn="just"/>
                <a:endParaRPr lang="en-US" sz="1200" dirty="0">
                  <a:cs typeface="Arial" panose="020B0604020202020204" pitchFamily="34" charset="0"/>
                </a:endParaRPr>
              </a:p>
              <a:p>
                <a:pPr algn="just"/>
                <a:r>
                  <a:rPr lang="es-ES" sz="1200" dirty="0"/>
                  <a:t>Asimismo, se observa que la guía </a:t>
                </a:r>
                <a:r>
                  <a:rPr lang="es-ES" sz="1200" dirty="0" err="1"/>
                  <a:t>shallow</a:t>
                </a:r>
                <a:r>
                  <a:rPr lang="es-ES" sz="1200" dirty="0"/>
                  <a:t> presenta valores ligeramente mayores de índice efectivo que la </a:t>
                </a:r>
                <a:r>
                  <a:rPr lang="es-ES" sz="1200" dirty="0" err="1"/>
                  <a:t>deep</a:t>
                </a:r>
                <a:r>
                  <a:rPr lang="es-ES" sz="1200" dirty="0"/>
                  <a:t>, lo que indica un mayor confinamiento modal debido a la presencia del </a:t>
                </a:r>
                <a:r>
                  <a:rPr lang="es-ES" sz="1200" dirty="0" err="1"/>
                  <a:t>slab</a:t>
                </a:r>
                <a:r>
                  <a:rPr lang="es-ES" sz="1200" dirty="0"/>
                  <a:t>.</a:t>
                </a:r>
                <a:endParaRPr lang="en-US" sz="1200" dirty="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11E2B217-7A2F-7F84-8CFC-E023D5FB8F3B}"/>
                  </a:ext>
                </a:extLst>
              </p:cNvPr>
              <p:cNvSpPr txBox="1">
                <a:spLocks noRot="1" noChangeAspect="1" noMove="1" noResize="1" noEditPoints="1" noAdjustHandles="1" noChangeArrowheads="1" noChangeShapeType="1" noTextEdit="1"/>
              </p:cNvSpPr>
              <p:nvPr/>
            </p:nvSpPr>
            <p:spPr>
              <a:xfrm>
                <a:off x="481668" y="1690095"/>
                <a:ext cx="11198542" cy="3849324"/>
              </a:xfrm>
              <a:prstGeom prst="rect">
                <a:avLst/>
              </a:prstGeom>
              <a:blipFill>
                <a:blip r:embed="rId5"/>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34633982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Bend waveguide radius vs. loss – deep</a:t>
            </a:r>
            <a:br>
              <a:rPr lang="en-US" sz="2500" dirty="0"/>
            </a:br>
            <a:r>
              <a:rPr lang="en-US" b="0" dirty="0"/>
              <a:t>Find  neff_TE0 for </a:t>
            </a:r>
            <a:r>
              <a:rPr lang="en-US" b="0" dirty="0" err="1"/>
              <a:t>wvl</a:t>
            </a:r>
            <a:r>
              <a:rPr lang="en-US" b="0" dirty="0"/>
              <a:t> 1.55 µm, width 1.2 µm for R=25,50,75,100, 125,150 µm</a:t>
            </a: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7" name="Rectángulo 6">
            <a:extLst>
              <a:ext uri="{FF2B5EF4-FFF2-40B4-BE49-F238E27FC236}">
                <a16:creationId xmlns:a16="http://schemas.microsoft.com/office/drawing/2014/main" id="{B5FE8755-B0BF-14B7-64E6-4BBB2560B9A6}"/>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331EBD86-BA6C-68C9-2D38-FC8CFBA7ADC4}"/>
              </a:ext>
            </a:extLst>
          </p:cNvPr>
          <p:cNvSpPr txBox="1"/>
          <p:nvPr/>
        </p:nvSpPr>
        <p:spPr>
          <a:xfrm>
            <a:off x="6078894" y="1816202"/>
            <a:ext cx="6235717"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Total Loss (dB/90º) vs R &amp; neff_TE0 vs R</a:t>
            </a:r>
          </a:p>
        </p:txBody>
      </p:sp>
      <p:pic>
        <p:nvPicPr>
          <p:cNvPr id="5" name="Imagen 4" descr="Gráfico, Gráfico de dispersión&#10;&#10;El contenido generado por IA puede ser incorrecto.">
            <a:extLst>
              <a:ext uri="{FF2B5EF4-FFF2-40B4-BE49-F238E27FC236}">
                <a16:creationId xmlns:a16="http://schemas.microsoft.com/office/drawing/2014/main" id="{70A89036-EB7E-9A46-D116-F1BAD743101C}"/>
              </a:ext>
            </a:extLst>
          </p:cNvPr>
          <p:cNvPicPr>
            <a:picLocks noChangeAspect="1"/>
          </p:cNvPicPr>
          <p:nvPr/>
        </p:nvPicPr>
        <p:blipFill>
          <a:blip r:embed="rId5"/>
          <a:srcRect l="1995" t="902" r="1855" b="2727"/>
          <a:stretch>
            <a:fillRect/>
          </a:stretch>
        </p:blipFill>
        <p:spPr>
          <a:xfrm>
            <a:off x="609441" y="1418373"/>
            <a:ext cx="5118270" cy="3306028"/>
          </a:xfrm>
          <a:prstGeom prst="rect">
            <a:avLst/>
          </a:prstGeom>
        </p:spPr>
      </p:pic>
      <p:pic>
        <p:nvPicPr>
          <p:cNvPr id="9" name="Imagen 8" descr="Gráfico, Gráfico de líneas&#10;&#10;El contenido generado por IA puede ser incorrecto.">
            <a:extLst>
              <a:ext uri="{FF2B5EF4-FFF2-40B4-BE49-F238E27FC236}">
                <a16:creationId xmlns:a16="http://schemas.microsoft.com/office/drawing/2014/main" id="{9A312882-DF5D-CE26-F7E3-9D817AD22C22}"/>
              </a:ext>
            </a:extLst>
          </p:cNvPr>
          <p:cNvPicPr>
            <a:picLocks noChangeAspect="1"/>
          </p:cNvPicPr>
          <p:nvPr/>
        </p:nvPicPr>
        <p:blipFill>
          <a:blip r:embed="rId6"/>
          <a:srcRect t="2021" b="733"/>
          <a:stretch>
            <a:fillRect/>
          </a:stretch>
        </p:blipFill>
        <p:spPr>
          <a:xfrm>
            <a:off x="5867400" y="1453282"/>
            <a:ext cx="5942011" cy="3270101"/>
          </a:xfrm>
          <a:prstGeom prst="rect">
            <a:avLst/>
          </a:prstGeom>
        </p:spPr>
      </p:pic>
    </p:spTree>
    <p:extLst>
      <p:ext uri="{BB962C8B-B14F-4D97-AF65-F5344CB8AC3E}">
        <p14:creationId xmlns:p14="http://schemas.microsoft.com/office/powerpoint/2010/main" val="36604382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3D025F-7C56-CF6A-394E-203CB01B0E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D811E270-6497-C24F-31EF-DFFBAE5521EA}"/>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Bend waveguide radius vs. loss – deep</a:t>
            </a:r>
            <a:br>
              <a:rPr lang="en-US" sz="2500" dirty="0"/>
            </a:br>
            <a:r>
              <a:rPr lang="en-US" b="0" dirty="0"/>
              <a:t>Find  neff_TE0 for </a:t>
            </a:r>
            <a:r>
              <a:rPr lang="en-US" b="0" dirty="0" err="1"/>
              <a:t>wvl</a:t>
            </a:r>
            <a:r>
              <a:rPr lang="en-US" b="0" dirty="0"/>
              <a:t> 1.55 µm, width 1.2 µm for R=25,50,75,100, 125,150 µm</a:t>
            </a: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BBE2C89A-E812-F179-8A96-5A335CB2A3A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4571273-BA80-70DE-5420-91DCEDAF3C4C}"/>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01FB8752-4AC3-FBE5-E695-D52471548915}"/>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C1DBD8C0-0238-565F-ED3C-EDDA517BD7D2}"/>
              </a:ext>
            </a:extLst>
          </p:cNvPr>
          <p:cNvSpPr txBox="1"/>
          <p:nvPr/>
        </p:nvSpPr>
        <p:spPr>
          <a:xfrm>
            <a:off x="228600" y="1219200"/>
            <a:ext cx="11734800" cy="507831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which is the safe radius?, consider safe means less than 0.1 dB/90º</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Para la </a:t>
            </a:r>
            <a:r>
              <a:rPr lang="en-US" sz="1200" dirty="0" err="1">
                <a:latin typeface="Arial" panose="020B0604020202020204" pitchFamily="34" charset="0"/>
                <a:cs typeface="Arial" panose="020B0604020202020204" pitchFamily="34" charset="0"/>
              </a:rPr>
              <a:t>ejecución</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ejercicio</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han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simulado</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función</a:t>
            </a:r>
            <a:r>
              <a:rPr lang="en-US" sz="1200" dirty="0">
                <a:latin typeface="Arial" panose="020B0604020202020204" pitchFamily="34" charset="0"/>
                <a:cs typeface="Arial" panose="020B0604020202020204" pitchFamily="34" charset="0"/>
              </a:rPr>
              <a:t> del radio de </a:t>
            </a:r>
            <a:r>
              <a:rPr lang="en-US" sz="1200" dirty="0" err="1">
                <a:latin typeface="Arial" panose="020B0604020202020204" pitchFamily="34" charset="0"/>
                <a:cs typeface="Arial" panose="020B0604020202020204" pitchFamily="34" charset="0"/>
              </a:rPr>
              <a:t>curvatura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cual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caso</a:t>
            </a:r>
            <a:r>
              <a:rPr lang="en-US" sz="1200" dirty="0">
                <a:latin typeface="Arial" panose="020B0604020202020204" pitchFamily="34" charset="0"/>
                <a:cs typeface="Arial" panose="020B0604020202020204" pitchFamily="34" charset="0"/>
              </a:rPr>
              <a:t> se ha </a:t>
            </a:r>
            <a:r>
              <a:rPr lang="en-US" sz="1200" dirty="0" err="1">
                <a:latin typeface="Arial" panose="020B0604020202020204" pitchFamily="34" charset="0"/>
                <a:cs typeface="Arial" panose="020B0604020202020204" pitchFamily="34" charset="0"/>
              </a:rPr>
              <a:t>simulado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un </a:t>
            </a:r>
            <a:r>
              <a:rPr lang="en-US" sz="1200" dirty="0" err="1">
                <a:latin typeface="Arial" panose="020B0604020202020204" pitchFamily="34" charset="0"/>
                <a:cs typeface="Arial" panose="020B0604020202020204" pitchFamily="34" charset="0"/>
              </a:rPr>
              <a:t>rango</a:t>
            </a:r>
            <a:r>
              <a:rPr lang="en-US" sz="1200" dirty="0">
                <a:latin typeface="Arial" panose="020B0604020202020204" pitchFamily="34" charset="0"/>
                <a:cs typeface="Arial" panose="020B0604020202020204" pitchFamily="34" charset="0"/>
              </a:rPr>
              <a:t> de 25 a 150 um. Cabe </a:t>
            </a:r>
            <a:r>
              <a:rPr lang="en-US" sz="1200" dirty="0" err="1">
                <a:latin typeface="Arial" panose="020B0604020202020204" pitchFamily="34" charset="0"/>
                <a:cs typeface="Arial" panose="020B0604020202020204" pitchFamily="34" charset="0"/>
              </a:rPr>
              <a:t>mencionar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dichas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resultan</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suma</a:t>
            </a:r>
            <a:r>
              <a:rPr lang="en-US" sz="1200" dirty="0">
                <a:latin typeface="Arial" panose="020B0604020202020204" pitchFamily="34" charset="0"/>
                <a:cs typeface="Arial" panose="020B0604020202020204" pitchFamily="34" charset="0"/>
              </a:rPr>
              <a:t> de las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modo y las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propagacion</a:t>
            </a:r>
            <a:r>
              <a:rPr lang="en-US" sz="1200" dirty="0">
                <a:latin typeface="Arial" panose="020B0604020202020204" pitchFamily="34" charset="0"/>
                <a:cs typeface="Arial" panose="020B0604020202020204" pitchFamily="34" charset="0"/>
              </a:rPr>
              <a:t>. Las de </a:t>
            </a:r>
            <a:r>
              <a:rPr lang="en-US" sz="1200" dirty="0" err="1">
                <a:latin typeface="Arial" panose="020B0604020202020204" pitchFamily="34" charset="0"/>
                <a:cs typeface="Arial" panose="020B0604020202020204" pitchFamily="34" charset="0"/>
              </a:rPr>
              <a:t>radiación</a:t>
            </a:r>
            <a:r>
              <a:rPr lang="en-US" sz="1200" dirty="0">
                <a:latin typeface="Arial" panose="020B0604020202020204" pitchFamily="34" charset="0"/>
                <a:cs typeface="Arial" panose="020B0604020202020204" pitchFamily="34" charset="0"/>
              </a:rPr>
              <a:t> no se </a:t>
            </a:r>
            <a:r>
              <a:rPr lang="en-US" sz="1200" dirty="0" err="1">
                <a:latin typeface="Arial" panose="020B0604020202020204" pitchFamily="34" charset="0"/>
                <a:cs typeface="Arial" panose="020B0604020202020204" pitchFamily="34" charset="0"/>
              </a:rPr>
              <a:t>han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tenido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cuenta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debido</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esta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nitruro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silicio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dichas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radiación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resultan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muy</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pequeñas</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tanto no es </a:t>
            </a:r>
            <a:r>
              <a:rPr lang="en-US" sz="1200" dirty="0" err="1">
                <a:latin typeface="Arial" panose="020B0604020202020204" pitchFamily="34" charset="0"/>
                <a:cs typeface="Arial" panose="020B0604020202020204" pitchFamily="34" charset="0"/>
              </a:rPr>
              <a:t>necesario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su</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estudio</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En la </a:t>
            </a:r>
            <a:r>
              <a:rPr lang="en-US" sz="1200" dirty="0" err="1">
                <a:latin typeface="Arial" panose="020B0604020202020204" pitchFamily="34" charset="0"/>
                <a:cs typeface="Arial" panose="020B0604020202020204" pitchFamily="34" charset="0"/>
              </a:rPr>
              <a:t>primera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gráfica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observamos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un </a:t>
            </a:r>
            <a:r>
              <a:rPr lang="en-US" sz="1200" dirty="0" err="1">
                <a:latin typeface="Arial" panose="020B0604020202020204" pitchFamily="34" charset="0"/>
                <a:cs typeface="Arial" panose="020B0604020202020204" pitchFamily="34" charset="0"/>
              </a:rPr>
              <a:t>lado</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de modo y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otro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lado</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propagación</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esta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simulación</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han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elegido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unas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perdidas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propagación</a:t>
            </a:r>
            <a:r>
              <a:rPr lang="en-US" sz="1200" dirty="0">
                <a:latin typeface="Arial" panose="020B0604020202020204" pitchFamily="34" charset="0"/>
                <a:cs typeface="Arial" panose="020B0604020202020204" pitchFamily="34" charset="0"/>
              </a:rPr>
              <a:t> de 1.5 dB/cm. Se </a:t>
            </a:r>
            <a:r>
              <a:rPr lang="en-US" sz="1200" dirty="0" err="1">
                <a:latin typeface="Arial" panose="020B0604020202020204" pitchFamily="34" charset="0"/>
                <a:cs typeface="Arial" panose="020B0604020202020204" pitchFamily="34" charset="0"/>
              </a:rPr>
              <a:t>puede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concluir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para radios de </a:t>
            </a:r>
            <a:r>
              <a:rPr lang="en-US" sz="1200" dirty="0" err="1">
                <a:latin typeface="Arial" panose="020B0604020202020204" pitchFamily="34" charset="0"/>
                <a:cs typeface="Arial" panose="020B0604020202020204" pitchFamily="34" charset="0"/>
              </a:rPr>
              <a:t>curvatura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menores</a:t>
            </a:r>
            <a:r>
              <a:rPr lang="en-US" sz="1200" dirty="0">
                <a:latin typeface="Arial" panose="020B0604020202020204" pitchFamily="34" charset="0"/>
                <a:cs typeface="Arial" panose="020B0604020202020204" pitchFamily="34" charset="0"/>
              </a:rPr>
              <a:t> de 75 um, las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modo son </a:t>
            </a:r>
            <a:r>
              <a:rPr lang="en-US" sz="1200" dirty="0" err="1">
                <a:latin typeface="Arial" panose="020B0604020202020204" pitchFamily="34" charset="0"/>
                <a:cs typeface="Arial" panose="020B0604020202020204" pitchFamily="34" charset="0"/>
              </a:rPr>
              <a:t>mucho</a:t>
            </a:r>
            <a:r>
              <a:rPr lang="en-US" sz="1200" dirty="0">
                <a:latin typeface="Arial" panose="020B0604020202020204" pitchFamily="34" charset="0"/>
                <a:cs typeface="Arial" panose="020B0604020202020204" pitchFamily="34" charset="0"/>
              </a:rPr>
              <a:t> mas </a:t>
            </a:r>
            <a:r>
              <a:rPr lang="en-US" sz="1200" dirty="0" err="1">
                <a:latin typeface="Arial" panose="020B0604020202020204" pitchFamily="34" charset="0"/>
                <a:cs typeface="Arial" panose="020B0604020202020204" pitchFamily="34" charset="0"/>
              </a:rPr>
              <a:t>significativas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las de </a:t>
            </a:r>
            <a:r>
              <a:rPr lang="en-US" sz="1200" dirty="0" err="1">
                <a:latin typeface="Arial" panose="020B0604020202020204" pitchFamily="34" charset="0"/>
                <a:cs typeface="Arial" panose="020B0604020202020204" pitchFamily="34" charset="0"/>
              </a:rPr>
              <a:t>propagación</a:t>
            </a:r>
            <a:r>
              <a:rPr lang="en-US" sz="1200" dirty="0">
                <a:latin typeface="Arial" panose="020B0604020202020204" pitchFamily="34" charset="0"/>
                <a:cs typeface="Arial" panose="020B0604020202020204" pitchFamily="34" charset="0"/>
              </a:rPr>
              <a:t>. Por </a:t>
            </a:r>
            <a:r>
              <a:rPr lang="en-US" sz="1200" dirty="0" err="1">
                <a:latin typeface="Arial" panose="020B0604020202020204" pitchFamily="34" charset="0"/>
                <a:cs typeface="Arial" panose="020B0604020202020204" pitchFamily="34" charset="0"/>
              </a:rPr>
              <a:t>otro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lado</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partir</a:t>
            </a:r>
            <a:r>
              <a:rPr lang="en-US" sz="1200" dirty="0">
                <a:latin typeface="Arial" panose="020B0604020202020204" pitchFamily="34" charset="0"/>
                <a:cs typeface="Arial" panose="020B0604020202020204" pitchFamily="34" charset="0"/>
              </a:rPr>
              <a:t> de radios </a:t>
            </a:r>
            <a:r>
              <a:rPr lang="en-US" sz="1200" dirty="0" err="1">
                <a:latin typeface="Arial" panose="020B0604020202020204" pitchFamily="34" charset="0"/>
                <a:cs typeface="Arial" panose="020B0604020202020204" pitchFamily="34" charset="0"/>
              </a:rPr>
              <a:t>mayores</a:t>
            </a:r>
            <a:r>
              <a:rPr lang="en-US" sz="1200" dirty="0">
                <a:latin typeface="Arial" panose="020B0604020202020204" pitchFamily="34" charset="0"/>
                <a:cs typeface="Arial" panose="020B0604020202020204" pitchFamily="34" charset="0"/>
              </a:rPr>
              <a:t> de 75 um </a:t>
            </a:r>
            <a:r>
              <a:rPr lang="en-US" sz="1200" dirty="0" err="1">
                <a:latin typeface="Arial" panose="020B0604020202020204" pitchFamily="34" charset="0"/>
                <a:cs typeface="Arial" panose="020B0604020202020204" pitchFamily="34" charset="0"/>
              </a:rPr>
              <a:t>empiezan</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predominar</a:t>
            </a:r>
            <a:r>
              <a:rPr lang="en-US" sz="1200" dirty="0">
                <a:latin typeface="Arial" panose="020B0604020202020204" pitchFamily="34" charset="0"/>
                <a:cs typeface="Arial" panose="020B0604020202020204" pitchFamily="34" charset="0"/>
              </a:rPr>
              <a:t> las de </a:t>
            </a:r>
            <a:r>
              <a:rPr lang="en-US" sz="1200" dirty="0" err="1">
                <a:latin typeface="Arial" panose="020B0604020202020204" pitchFamily="34" charset="0"/>
                <a:cs typeface="Arial" panose="020B0604020202020204" pitchFamily="34" charset="0"/>
              </a:rPr>
              <a:t>propagación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Además</a:t>
            </a:r>
            <a:r>
              <a:rPr lang="en-US" sz="1200" dirty="0">
                <a:latin typeface="Arial" panose="020B0604020202020204" pitchFamily="34" charset="0"/>
                <a:cs typeface="Arial" panose="020B0604020202020204" pitchFamily="34" charset="0"/>
              </a:rPr>
              <a:t>, se también se </a:t>
            </a:r>
            <a:r>
              <a:rPr lang="en-US" sz="1200" dirty="0" err="1">
                <a:latin typeface="Arial" panose="020B0604020202020204" pitchFamily="34" charset="0"/>
                <a:cs typeface="Arial" panose="020B0604020202020204" pitchFamily="34" charset="0"/>
              </a:rPr>
              <a:t>puede</a:t>
            </a:r>
            <a:r>
              <a:rPr lang="en-US" sz="1200" dirty="0">
                <a:latin typeface="Arial" panose="020B0604020202020204" pitchFamily="34" charset="0"/>
                <a:cs typeface="Arial" panose="020B0604020202020204" pitchFamily="34" charset="0"/>
              </a:rPr>
              <a:t> observer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de modo </a:t>
            </a:r>
            <a:r>
              <a:rPr lang="en-US" sz="1200" dirty="0" err="1">
                <a:latin typeface="Arial" panose="020B0604020202020204" pitchFamily="34" charset="0"/>
                <a:cs typeface="Arial" panose="020B0604020202020204" pitchFamily="34" charset="0"/>
              </a:rPr>
              <a:t>disminuyen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aproximadamente</a:t>
            </a:r>
            <a:r>
              <a:rPr lang="en-US" sz="1200" dirty="0">
                <a:latin typeface="Arial" panose="020B0604020202020204" pitchFamily="34" charset="0"/>
                <a:cs typeface="Arial" panose="020B0604020202020204" pitchFamily="34" charset="0"/>
              </a:rPr>
              <a:t> de forma </a:t>
            </a:r>
            <a:r>
              <a:rPr lang="en-US" sz="1200" dirty="0" err="1">
                <a:latin typeface="Arial" panose="020B0604020202020204" pitchFamily="34" charset="0"/>
                <a:cs typeface="Arial" panose="020B0604020202020204" pitchFamily="34" charset="0"/>
              </a:rPr>
              <a:t>exponencial</a:t>
            </a:r>
            <a:r>
              <a:rPr lang="en-US" sz="1200" dirty="0">
                <a:latin typeface="Arial" panose="020B0604020202020204" pitchFamily="34" charset="0"/>
                <a:cs typeface="Arial" panose="020B0604020202020204" pitchFamily="34" charset="0"/>
              </a:rPr>
              <a:t> al </a:t>
            </a:r>
            <a:r>
              <a:rPr lang="en-US" sz="1200" dirty="0" err="1">
                <a:latin typeface="Arial" panose="020B0604020202020204" pitchFamily="34" charset="0"/>
                <a:cs typeface="Arial" panose="020B0604020202020204" pitchFamily="34" charset="0"/>
              </a:rPr>
              <a:t>aumentar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radio de </a:t>
            </a:r>
            <a:r>
              <a:rPr lang="en-US" sz="1200" dirty="0" err="1">
                <a:latin typeface="Arial" panose="020B0604020202020204" pitchFamily="34" charset="0"/>
                <a:cs typeface="Arial" panose="020B0604020202020204" pitchFamily="34" charset="0"/>
              </a:rPr>
              <a:t>curvatura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mientras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propagación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aumentan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aproximadamente</a:t>
            </a:r>
            <a:r>
              <a:rPr lang="en-US" sz="1200" dirty="0">
                <a:latin typeface="Arial" panose="020B0604020202020204" pitchFamily="34" charset="0"/>
                <a:cs typeface="Arial" panose="020B0604020202020204" pitchFamily="34" charset="0"/>
              </a:rPr>
              <a:t> de forma lineal.</a:t>
            </a: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Para radios de curvatura pequeños, la fuerte curvatura provoca un desplazamiento del modo óptico hacia el borde exterior de la guía de onda, reduciendo su confinamiento y dando lugar a pérdidas significativas de modo, ya que parte del modo deja de estar guiado. A medida que el radio de curvatura aumenta, la curvatura se suaviza y las pérdidas de modo disminuyen. En este régimen, las pérdidas de propagación pasan a dominar debido al aumento de la longitud del recorrido del modo en la sección curvada.</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A partir de la gráfica de pérdidas totales también es posible determinar el radio seguro y el radio óptimo de curvatura. El radio seguro se define como aquel para el cual las pérdidas totales son menores de 0.1 dB. En este caso, dicha condición se cumple a partir de aproximadamente 30 µm. Por otro lado, el radio óptimo corresponde al valor del radio para el cual las pérdidas totales son mínimas. Observando la gráfica, este mínimo se encuentra aproximadamente en el rango de 80 a 85 µm.</a:t>
            </a:r>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a:t>
            </a:r>
          </a:p>
          <a:p>
            <a:pPr algn="just"/>
            <a:r>
              <a:rPr lang="es-ES" sz="1200" dirty="0">
                <a:latin typeface="Arial" panose="020B0604020202020204" pitchFamily="34" charset="0"/>
                <a:cs typeface="Arial" panose="020B0604020202020204" pitchFamily="34" charset="0"/>
              </a:rPr>
              <a:t>Además de las pérdidas, también se ha analizado cómo varía el índice efectivo del modo fundamental TE con el radio de curvatura. En la segunda gráfica se observa que, para radios pequeños, el índice efectivo es ligeramente mayor debido a que la fuerte curvatura altera la distribución del modo dentro de la guía. A medida que el radio de curvatura aumenta, la guía se comporta de forma más similar a una guía recta, por lo que el índice efectivo disminuye ligeramente y tiende a estabilizarse. Para radios grandes, las variaciones del índice efectivo son muy pequeñas, lo que indica que la influencia de la curvatura sobre la propagación del modo es prácticamente despreciable. El ligero aumento observado a partir de aproximadamente 125 µm se debe a que el modo vuelve a concentrarse más en el núcleo de la guía, acercándose así al valor de índice efectivo correspondiente a una guía recta.</a:t>
            </a:r>
            <a:endParaRPr lang="en-US" sz="1200" u="sng"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6778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06822-3A24-FB58-76CE-9324C16E45E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3A8B6833-B776-2CE7-8E76-D65DBBF61FA2}"/>
              </a:ext>
            </a:extLst>
          </p:cNvPr>
          <p:cNvSpPr txBox="1">
            <a:spLocks noGrp="1"/>
          </p:cNvSpPr>
          <p:nvPr>
            <p:ph type="title"/>
          </p:nvPr>
        </p:nvSpPr>
        <p:spPr>
          <a:xfrm>
            <a:off x="685800" y="408883"/>
            <a:ext cx="10994410" cy="1782539"/>
          </a:xfrm>
          <a:prstGeom prst="rect">
            <a:avLst/>
          </a:prstGeom>
        </p:spPr>
        <p:txBody>
          <a:bodyPr vert="horz" wrap="square" lIns="0" tIns="12700" rIns="0" bIns="0" rtlCol="0">
            <a:spAutoFit/>
          </a:bodyPr>
          <a:lstStyle/>
          <a:p>
            <a:pPr marL="12700">
              <a:spcBef>
                <a:spcPts val="100"/>
              </a:spcBef>
            </a:pPr>
            <a:r>
              <a:rPr lang="en-US" sz="2500" dirty="0"/>
              <a:t>EXTRA EJERCICIO 3: </a:t>
            </a:r>
            <a:br>
              <a:rPr lang="en-US" sz="2500" dirty="0"/>
            </a:br>
            <a:r>
              <a:rPr lang="en-US" b="0" dirty="0"/>
              <a:t>Find the safe radius for this technology using silicon as the core material. Consider sweeping the radius in a 5um to 30um range. </a:t>
            </a:r>
            <a:br>
              <a:rPr lang="en-US" b="0" dirty="0"/>
            </a:b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F8CA8DF3-52A3-9289-8DE3-7B7BB0DB4A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811EF6B9-DF66-2F6E-E308-A01D0BE1C4E5}"/>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BA473A4B-4497-23A4-301A-204E9E70628F}"/>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7" name="Rectángulo 6">
            <a:extLst>
              <a:ext uri="{FF2B5EF4-FFF2-40B4-BE49-F238E27FC236}">
                <a16:creationId xmlns:a16="http://schemas.microsoft.com/office/drawing/2014/main" id="{E42F5523-C7A7-5575-059C-24A284198CE1}"/>
              </a:ext>
            </a:extLst>
          </p:cNvPr>
          <p:cNvSpPr/>
          <p:nvPr/>
        </p:nvSpPr>
        <p:spPr>
          <a:xfrm>
            <a:off x="609441" y="1418373"/>
            <a:ext cx="11199971" cy="4021254"/>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8DCAFA40-BCD7-345B-29CF-394AE5BE4A73}"/>
              </a:ext>
            </a:extLst>
          </p:cNvPr>
          <p:cNvSpPr txBox="1"/>
          <p:nvPr/>
        </p:nvSpPr>
        <p:spPr>
          <a:xfrm>
            <a:off x="6078894" y="1816202"/>
            <a:ext cx="6235717"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Total Loss (dB/90º) vs R &amp; neff_TE0 vs R</a:t>
            </a:r>
          </a:p>
        </p:txBody>
      </p:sp>
      <p:pic>
        <p:nvPicPr>
          <p:cNvPr id="5" name="Imagen 4">
            <a:extLst>
              <a:ext uri="{FF2B5EF4-FFF2-40B4-BE49-F238E27FC236}">
                <a16:creationId xmlns:a16="http://schemas.microsoft.com/office/drawing/2014/main" id="{D4EFAC10-DFCF-3A7B-C489-24213B4545D2}"/>
              </a:ext>
            </a:extLst>
          </p:cNvPr>
          <p:cNvPicPr>
            <a:picLocks noChangeAspect="1"/>
          </p:cNvPicPr>
          <p:nvPr/>
        </p:nvPicPr>
        <p:blipFill>
          <a:blip r:embed="rId5"/>
          <a:stretch>
            <a:fillRect/>
          </a:stretch>
        </p:blipFill>
        <p:spPr>
          <a:xfrm>
            <a:off x="609440" y="1442806"/>
            <a:ext cx="4964255" cy="3920691"/>
          </a:xfrm>
          <a:prstGeom prst="rect">
            <a:avLst/>
          </a:prstGeom>
        </p:spPr>
      </p:pic>
      <p:pic>
        <p:nvPicPr>
          <p:cNvPr id="9" name="Imagen 8">
            <a:extLst>
              <a:ext uri="{FF2B5EF4-FFF2-40B4-BE49-F238E27FC236}">
                <a16:creationId xmlns:a16="http://schemas.microsoft.com/office/drawing/2014/main" id="{374C1AFF-12D3-AEAD-1EC6-2DD02BE72CA0}"/>
              </a:ext>
            </a:extLst>
          </p:cNvPr>
          <p:cNvPicPr>
            <a:picLocks noChangeAspect="1"/>
          </p:cNvPicPr>
          <p:nvPr/>
        </p:nvPicPr>
        <p:blipFill>
          <a:blip r:embed="rId6"/>
          <a:stretch>
            <a:fillRect/>
          </a:stretch>
        </p:blipFill>
        <p:spPr>
          <a:xfrm>
            <a:off x="5777326" y="1480423"/>
            <a:ext cx="6032086" cy="3920691"/>
          </a:xfrm>
          <a:prstGeom prst="rect">
            <a:avLst/>
          </a:prstGeom>
        </p:spPr>
      </p:pic>
    </p:spTree>
    <p:extLst>
      <p:ext uri="{BB962C8B-B14F-4D97-AF65-F5344CB8AC3E}">
        <p14:creationId xmlns:p14="http://schemas.microsoft.com/office/powerpoint/2010/main" val="22525194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30346F-1C11-6CE4-0C56-1065A674B672}"/>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5AB3941-E729-8651-6AFB-3F9FB2BFBCF8}"/>
              </a:ext>
            </a:extLst>
          </p:cNvPr>
          <p:cNvSpPr txBox="1">
            <a:spLocks noGrp="1"/>
          </p:cNvSpPr>
          <p:nvPr>
            <p:ph type="title"/>
          </p:nvPr>
        </p:nvSpPr>
        <p:spPr>
          <a:xfrm>
            <a:off x="583019" y="408883"/>
            <a:ext cx="11199971" cy="1782539"/>
          </a:xfrm>
          <a:prstGeom prst="rect">
            <a:avLst/>
          </a:prstGeom>
        </p:spPr>
        <p:txBody>
          <a:bodyPr vert="horz" wrap="square" lIns="0" tIns="12700" rIns="0" bIns="0" rtlCol="0">
            <a:spAutoFit/>
          </a:bodyPr>
          <a:lstStyle/>
          <a:p>
            <a:pPr marL="12700">
              <a:spcBef>
                <a:spcPts val="100"/>
              </a:spcBef>
            </a:pPr>
            <a:r>
              <a:rPr lang="en-US" sz="2500" dirty="0"/>
              <a:t>EXTRA EJERCICIO 3: </a:t>
            </a:r>
            <a:br>
              <a:rPr lang="en-US" sz="2500" dirty="0"/>
            </a:br>
            <a:r>
              <a:rPr lang="en-US" b="0" dirty="0"/>
              <a:t>Find the safe radius for this technology using silicon as the core material. Consider sweeping the radius in a 5um to 30um range. </a:t>
            </a:r>
            <a:br>
              <a:rPr lang="en-US" b="0" dirty="0"/>
            </a:b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ACC6507C-92BA-53C7-C456-8329F38B79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50E4FA01-F4C5-3E20-A4C9-EDA76A24D394}"/>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3683F575-02B7-209A-F54D-D143B334522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0B9C3132-D722-0D81-F5A5-5CA88DA6E9D0}"/>
              </a:ext>
            </a:extLst>
          </p:cNvPr>
          <p:cNvSpPr txBox="1"/>
          <p:nvPr/>
        </p:nvSpPr>
        <p:spPr>
          <a:xfrm>
            <a:off x="583019" y="1612918"/>
            <a:ext cx="11199971" cy="3416320"/>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which is the safe radius?, consider safe means less than 0.1 dB/90º.</a:t>
            </a:r>
          </a:p>
          <a:p>
            <a:pPr algn="just"/>
            <a:endParaRPr lang="en-US" sz="1200" u="sng" dirty="0">
              <a:latin typeface="Arial" panose="020B0604020202020204" pitchFamily="34" charset="0"/>
              <a:cs typeface="Arial" panose="020B0604020202020204" pitchFamily="34" charset="0"/>
            </a:endParaRPr>
          </a:p>
          <a:p>
            <a:r>
              <a:rPr lang="es-ES" sz="1200" dirty="0">
                <a:latin typeface="Arial" panose="020B0604020202020204" pitchFamily="34" charset="0"/>
                <a:cs typeface="Arial" panose="020B0604020202020204" pitchFamily="34" charset="0"/>
              </a:rPr>
              <a:t>En estas nuevas simulaciones se ha sustituido el núcleo de nitruro de silicio por silicio, manteniendo el dióxido de silicio como material de la cubierta. Además, en este caso se ha considerado una pérdida de propagación mayor, de 3 dB/cm. Debido al mayor índice de refracción del silicio, el modo se encuentra mucho más confinado en el núcleo, lo que da lugar a valores de índice efectivo significativamente mayores que en el caso anterior.</a:t>
            </a:r>
          </a:p>
          <a:p>
            <a:endParaRPr lang="es-ES" sz="1200" dirty="0">
              <a:latin typeface="Arial" panose="020B0604020202020204" pitchFamily="34" charset="0"/>
              <a:cs typeface="Arial" panose="020B0604020202020204" pitchFamily="34" charset="0"/>
            </a:endParaRPr>
          </a:p>
          <a:p>
            <a:r>
              <a:rPr lang="es-ES" sz="1200" dirty="0">
                <a:latin typeface="Arial" panose="020B0604020202020204" pitchFamily="34" charset="0"/>
                <a:cs typeface="Arial" panose="020B0604020202020204" pitchFamily="34" charset="0"/>
              </a:rPr>
              <a:t>En la gráfica de pérdidas de la izquierda se observa un comportamiento similar al descrito previamente: las pérdidas de modo disminuyen al aumentar el radio de curvatura, mientras que las pérdidas de propagación aumentan debido al mayor recorrido del modo. Sin embargo, al considerar una pérdida de propagación mayor, la contribución de estas pérdidas es más significativa incluso siendo radios relativamente pequeños los simulados.</a:t>
            </a:r>
          </a:p>
          <a:p>
            <a:endParaRPr lang="es-ES" sz="1200" dirty="0">
              <a:latin typeface="Arial" panose="020B0604020202020204" pitchFamily="34" charset="0"/>
              <a:cs typeface="Arial" panose="020B0604020202020204" pitchFamily="34" charset="0"/>
            </a:endParaRPr>
          </a:p>
          <a:p>
            <a:r>
              <a:rPr lang="es-ES" sz="1200" dirty="0">
                <a:latin typeface="Arial" panose="020B0604020202020204" pitchFamily="34" charset="0"/>
                <a:cs typeface="Arial" panose="020B0604020202020204" pitchFamily="34" charset="0"/>
              </a:rPr>
              <a:t>Por otro lado, en la gráfica del índice efectivo en función del radio de curvatura, se observa que los valores son considerablemente mayores que en el caso del nitruro de silicio, situándose alrededor de 3. Esto se debe al mayor índice de refracción del silicio, que provoca un confinamiento más fuerte del modo dentro del núcleo. A medida que el radio de curvatura aumenta, el índice efectivo disminuye ligeramente y tiende a estabilizarse, ya que la guía se comporta cada vez más como una guía recta.</a:t>
            </a:r>
          </a:p>
          <a:p>
            <a:endParaRPr lang="es-ES" sz="1200" dirty="0">
              <a:latin typeface="Arial" panose="020B0604020202020204" pitchFamily="34" charset="0"/>
              <a:cs typeface="Arial" panose="020B0604020202020204" pitchFamily="34" charset="0"/>
            </a:endParaRPr>
          </a:p>
          <a:p>
            <a:r>
              <a:rPr lang="es-ES" sz="1200" dirty="0">
                <a:latin typeface="Arial" panose="020B0604020202020204" pitchFamily="34" charset="0"/>
                <a:cs typeface="Arial" panose="020B0604020202020204" pitchFamily="34" charset="0"/>
              </a:rPr>
              <a:t>Por último, podríamos decir que el rango de radios óptimos de 10-15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mientras que el rango de radios seguros va a ser de todos los valores simulados como mínimo, ya que para todos estos radios, su suma de pérdidas es menor a 0.1 dB.</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504424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6" name="CuadroTexto 5">
            <a:extLst>
              <a:ext uri="{FF2B5EF4-FFF2-40B4-BE49-F238E27FC236}">
                <a16:creationId xmlns:a16="http://schemas.microsoft.com/office/drawing/2014/main" id="{30DB343B-A24E-A634-93E8-282DB996B142}"/>
              </a:ext>
            </a:extLst>
          </p:cNvPr>
          <p:cNvSpPr txBox="1"/>
          <p:nvPr/>
        </p:nvSpPr>
        <p:spPr>
          <a:xfrm>
            <a:off x="1452886" y="312322"/>
            <a:ext cx="6120880" cy="2308324"/>
          </a:xfrm>
          <a:prstGeom prst="rect">
            <a:avLst/>
          </a:prstGeom>
          <a:noFill/>
        </p:spPr>
        <p:txBody>
          <a:bodyPr wrap="square">
            <a:spAutoFit/>
          </a:bodyPr>
          <a:lstStyle/>
          <a:p>
            <a:r>
              <a:rPr lang="es-ES" b="1" dirty="0" err="1"/>
              <a:t>git</a:t>
            </a:r>
            <a:r>
              <a:rPr lang="es-ES" b="1" dirty="0"/>
              <a:t> </a:t>
            </a:r>
            <a:r>
              <a:rPr lang="es-ES" b="1" dirty="0" err="1"/>
              <a:t>config</a:t>
            </a:r>
            <a:r>
              <a:rPr lang="es-ES" b="1" dirty="0"/>
              <a:t> --global user.name "{Tu nombre de usuario}"</a:t>
            </a:r>
            <a:endParaRPr lang="es-ES" dirty="0"/>
          </a:p>
          <a:p>
            <a:r>
              <a:rPr lang="es-ES" dirty="0"/>
              <a:t> </a:t>
            </a:r>
          </a:p>
          <a:p>
            <a:pPr>
              <a:buNone/>
            </a:pPr>
            <a:r>
              <a:rPr lang="en-US" dirty="0">
                <a:effectLst/>
                <a:latin typeface="-apple-system"/>
              </a:rPr>
              <a:t>git add -A</a:t>
            </a:r>
          </a:p>
          <a:p>
            <a:pPr>
              <a:buNone/>
            </a:pPr>
            <a:r>
              <a:rPr lang="en-US" dirty="0">
                <a:effectLst/>
                <a:latin typeface="-apple-system"/>
              </a:rPr>
              <a:t> </a:t>
            </a:r>
          </a:p>
          <a:p>
            <a:pPr>
              <a:buNone/>
            </a:pPr>
            <a:r>
              <a:rPr lang="en-US" dirty="0">
                <a:effectLst/>
                <a:latin typeface="-apple-system"/>
              </a:rPr>
              <a:t>git commit -m "</a:t>
            </a:r>
            <a:r>
              <a:rPr lang="en-US" dirty="0" err="1">
                <a:effectLst/>
                <a:latin typeface="-apple-system"/>
              </a:rPr>
              <a:t>cambios</a:t>
            </a:r>
            <a:r>
              <a:rPr lang="en-US" dirty="0">
                <a:effectLst/>
                <a:latin typeface="-apple-system"/>
              </a:rPr>
              <a:t>"</a:t>
            </a:r>
          </a:p>
          <a:p>
            <a:pPr>
              <a:buNone/>
            </a:pPr>
            <a:r>
              <a:rPr lang="en-US" dirty="0">
                <a:effectLst/>
                <a:latin typeface="-apple-system"/>
              </a:rPr>
              <a:t> </a:t>
            </a:r>
          </a:p>
          <a:p>
            <a:pPr>
              <a:buNone/>
            </a:pPr>
            <a:r>
              <a:rPr lang="en-US" dirty="0">
                <a:effectLst/>
                <a:latin typeface="-apple-system"/>
              </a:rPr>
              <a:t>git push</a:t>
            </a:r>
          </a:p>
          <a:p>
            <a:pPr>
              <a:buNone/>
            </a:pPr>
            <a:r>
              <a:rPr lang="en-US" dirty="0">
                <a:effectLst/>
                <a:latin typeface="-apple-system"/>
              </a:rPr>
              <a:t> </a:t>
            </a:r>
            <a:endParaRPr lang="es-E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1570</TotalTime>
  <Words>2944</Words>
  <Application>Microsoft Office PowerPoint</Application>
  <PresentationFormat>Panorámica</PresentationFormat>
  <Paragraphs>168</Paragraphs>
  <Slides>16</Slides>
  <Notes>13</Notes>
  <HiddenSlides>0</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16</vt:i4>
      </vt:variant>
    </vt:vector>
  </HeadingPairs>
  <TitlesOfParts>
    <vt:vector size="25" baseType="lpstr">
      <vt:lpstr>-apple-system</vt: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Learning outcome #1 – Effective index of a waveguide </vt:lpstr>
      <vt:lpstr>Learning outcome #1 – Effective index of a waveguide </vt:lpstr>
      <vt:lpstr>Learning outcome #2 – Wavelength behavior Wavelength 1.5-1.6 µm (step 0.01 µm) – width 1.2 µm</vt:lpstr>
      <vt:lpstr>Learning outcome #2 – Wavelength behavior Wavelength 1.5-1.6 µm (step 0.01 µm) – width 1.2 µm</vt:lpstr>
      <vt:lpstr>Learning outcome #2 – Wavelength behavior Wavelength 1.5-1.6 µm (step 0.01 µm) – width 1.2 µm</vt:lpstr>
      <vt:lpstr>Learning outcome #3 – Width dependence Width 0.6 - 1.6 µm (step 0.1 µm) – Wavelength 1.55 µm </vt:lpstr>
      <vt:lpstr>Learning outcome #3 – Width dependence Width 0.6 - 1.6 µm (step 0.1 µm) – Wavelength 1.55 µm </vt:lpstr>
      <vt:lpstr>Learning outcome #4 – Waveguide compact model - Find the compact models of the following waveguides:  Deep waveguide, h=300nm, w=1.2um   - Shallow waveguide, core h=300nm, slab h=150 nm, w = 1.2um  </vt:lpstr>
      <vt:lpstr>Learning outcome #4 – Waveguide compact model - Find the compact models of the following waveguides:  Deep waveguide, h=300nm, w=1.2um   - Shallow waveguide, core h=300nm, slab h=150 nm, w = 1.2um  </vt:lpstr>
      <vt:lpstr>Learning outcome #5 – Bend waveguide radius vs. loss – deep Find  neff_TE0 for wvl 1.55 µm, width 1.2 µm for R=25,50,75,100, 125,150 µm </vt:lpstr>
      <vt:lpstr>Learning outcome #5 – Bend waveguide radius vs. loss – deep Find  neff_TE0 for wvl 1.55 µm, width 1.2 µm for R=25,50,75,100, 125,150 µm </vt:lpstr>
      <vt:lpstr>EXTRA EJERCICIO 3:  Find the safe radius for this technology using silicon as the core material. Consider sweeping the radius in a 5um to 30um range.   </vt:lpstr>
      <vt:lpstr>EXTRA EJERCICIO 3:  Find the safe radius for this technology using silicon as the core material. Consider sweeping the radius in a 5um to 30um range.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Lidia Tortola Juan</cp:lastModifiedBy>
  <cp:revision>21</cp:revision>
  <dcterms:created xsi:type="dcterms:W3CDTF">2025-01-27T02:46:57Z</dcterms:created>
  <dcterms:modified xsi:type="dcterms:W3CDTF">2026-03-10T17:43:26Z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