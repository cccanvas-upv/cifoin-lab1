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24"/>
  </p:notesMasterIdLst>
  <p:handoutMasterIdLst>
    <p:handoutMasterId r:id="rId25"/>
  </p:handoutMasterIdLst>
  <p:sldIdLst>
    <p:sldId id="256" r:id="rId2"/>
    <p:sldId id="295" r:id="rId3"/>
    <p:sldId id="290" r:id="rId4"/>
    <p:sldId id="314" r:id="rId5"/>
    <p:sldId id="302" r:id="rId6"/>
    <p:sldId id="315" r:id="rId7"/>
    <p:sldId id="291" r:id="rId8"/>
    <p:sldId id="301" r:id="rId9"/>
    <p:sldId id="292" r:id="rId10"/>
    <p:sldId id="303" r:id="rId11"/>
    <p:sldId id="297" r:id="rId12"/>
    <p:sldId id="304" r:id="rId13"/>
    <p:sldId id="293" r:id="rId14"/>
    <p:sldId id="306" r:id="rId15"/>
    <p:sldId id="309" r:id="rId16"/>
    <p:sldId id="308" r:id="rId17"/>
    <p:sldId id="310" r:id="rId18"/>
    <p:sldId id="311" r:id="rId19"/>
    <p:sldId id="312" r:id="rId20"/>
    <p:sldId id="305" r:id="rId21"/>
    <p:sldId id="307" r:id="rId22"/>
    <p:sldId id="288" r:id="rId23"/>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5538" autoAdjust="0"/>
    <p:restoredTop sz="95033" autoAdjust="0"/>
  </p:normalViewPr>
  <p:slideViewPr>
    <p:cSldViewPr>
      <p:cViewPr>
        <p:scale>
          <a:sx n="75" d="100"/>
          <a:sy n="75" d="100"/>
        </p:scale>
        <p:origin x="1397" y="216"/>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15/03/2026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15/03/2026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6A10D-CFDF-F305-711C-ABEAAD7740D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20409C9-3F35-A247-1158-6316D1714F04}"/>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0D94356-29E4-EB70-D5FC-5990D833D541}"/>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0293BA46-578E-933B-EDE3-77E53DF5B3A4}"/>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39259370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637379-E8F7-0EEB-24B8-B37B4D10ED2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99F7970-F455-DA80-F81B-AD9620714A0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71013AFA-2D76-E2A2-0A6B-B6931F9B2719}"/>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50898D18-FB82-D342-4D88-F5E6F4C4CBAF}"/>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328540423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30BF8B-5131-9A18-B50D-F6361CD721D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734DD8F-A640-31B9-02F6-B83C924747E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D16C7641-856B-0566-48CD-66A60DC76D30}"/>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51E0058B-60D8-D203-2AD0-CB67836D5F6B}"/>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8240820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ADEB1E-5176-F287-14B3-D6364A2089D2}"/>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024B29C-89F6-0631-BFB6-DEAC27C9516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80B46AA-E1A4-017C-CF86-9ED5E1E7E8C5}"/>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4745E78A-B74C-7E42-7D6E-923EF94C8AB2}"/>
              </a:ext>
            </a:extLst>
          </p:cNvPr>
          <p:cNvSpPr>
            <a:spLocks noGrp="1"/>
          </p:cNvSpPr>
          <p:nvPr>
            <p:ph type="sldNum" sz="quarter" idx="5"/>
          </p:nvPr>
        </p:nvSpPr>
        <p:spPr/>
        <p:txBody>
          <a:bodyPr/>
          <a:lstStyle/>
          <a:p>
            <a:fld id="{676223B9-C868-4436-87D9-1A3152E1157A}" type="slidenum">
              <a:rPr lang="es-ES" smtClean="0"/>
              <a:t>8</a:t>
            </a:fld>
            <a:endParaRPr lang="es-ES"/>
          </a:p>
        </p:txBody>
      </p:sp>
    </p:spTree>
    <p:extLst>
      <p:ext uri="{BB962C8B-B14F-4D97-AF65-F5344CB8AC3E}">
        <p14:creationId xmlns:p14="http://schemas.microsoft.com/office/powerpoint/2010/main" val="40315722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73668B-1BDE-E588-A700-CF53A78517B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B69881F-BD8C-A12F-65E4-4D38868345F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E8C4B1F-4A34-106B-FC71-A08E8F622B69}"/>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CDC752FB-22D8-AE5E-A74D-882F59A7EE23}"/>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33340580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AA65-166B-474B-A6C9-9858D86A944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8158223-A8BA-05F6-464C-EC03A9FB8C56}"/>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CB4DF-C329-8F47-9ECE-661B5B2BF9AC}"/>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041B2276-A4E2-DFBF-0088-6997E86C9FE1}"/>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236231598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E49ECA-B518-50D2-8604-23126DCCD362}"/>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0B53A5A-0048-C702-8F7E-860224547119}"/>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75348C2-C668-42AD-11C3-D9A2AAB49F17}"/>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7E2FB511-3713-07BB-835C-A6009AC63F50}"/>
              </a:ext>
            </a:extLst>
          </p:cNvPr>
          <p:cNvSpPr>
            <a:spLocks noGrp="1"/>
          </p:cNvSpPr>
          <p:nvPr>
            <p:ph type="sldNum" sz="quarter" idx="5"/>
          </p:nvPr>
        </p:nvSpPr>
        <p:spPr/>
        <p:txBody>
          <a:bodyPr/>
          <a:lstStyle/>
          <a:p>
            <a:fld id="{676223B9-C868-4436-87D9-1A3152E1157A}" type="slidenum">
              <a:rPr lang="es-ES" smtClean="0"/>
              <a:t>12</a:t>
            </a:fld>
            <a:endParaRPr lang="es-ES"/>
          </a:p>
        </p:txBody>
      </p:sp>
    </p:spTree>
    <p:extLst>
      <p:ext uri="{BB962C8B-B14F-4D97-AF65-F5344CB8AC3E}">
        <p14:creationId xmlns:p14="http://schemas.microsoft.com/office/powerpoint/2010/main" val="405601878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13</a:t>
            </a:fld>
            <a:endParaRPr lang="es-ES"/>
          </a:p>
        </p:txBody>
      </p:sp>
    </p:spTree>
    <p:extLst>
      <p:ext uri="{BB962C8B-B14F-4D97-AF65-F5344CB8AC3E}">
        <p14:creationId xmlns:p14="http://schemas.microsoft.com/office/powerpoint/2010/main" val="291738271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26408-1DE0-A656-A80B-1236EC139702}"/>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9D7B021-1265-D78A-7F4F-E71E8E9E286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BC224371-A96C-7DD9-5725-A1ABAE701B1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2E52CE88-5FEE-6A1A-9972-51BE52A267EA}"/>
              </a:ext>
            </a:extLst>
          </p:cNvPr>
          <p:cNvSpPr>
            <a:spLocks noGrp="1"/>
          </p:cNvSpPr>
          <p:nvPr>
            <p:ph type="sldNum" sz="quarter" idx="5"/>
          </p:nvPr>
        </p:nvSpPr>
        <p:spPr/>
        <p:txBody>
          <a:bodyPr/>
          <a:lstStyle/>
          <a:p>
            <a:fld id="{676223B9-C868-4436-87D9-1A3152E1157A}" type="slidenum">
              <a:rPr lang="es-ES" smtClean="0"/>
              <a:t>14</a:t>
            </a:fld>
            <a:endParaRPr lang="es-ES"/>
          </a:p>
        </p:txBody>
      </p:sp>
    </p:spTree>
    <p:extLst>
      <p:ext uri="{BB962C8B-B14F-4D97-AF65-F5344CB8AC3E}">
        <p14:creationId xmlns:p14="http://schemas.microsoft.com/office/powerpoint/2010/main" val="6026417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CFE13D-3B4E-739F-356B-1ED6EACA317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E17FAAF-7923-8437-91A7-199F79AB017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66093DF6-FD67-A5BB-E03C-1655C8630A69}"/>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61BD152-8B49-F521-00DA-4812CCF7624A}"/>
              </a:ext>
            </a:extLst>
          </p:cNvPr>
          <p:cNvSpPr>
            <a:spLocks noGrp="1"/>
          </p:cNvSpPr>
          <p:nvPr>
            <p:ph type="sldNum" sz="quarter" idx="5"/>
          </p:nvPr>
        </p:nvSpPr>
        <p:spPr/>
        <p:txBody>
          <a:bodyPr/>
          <a:lstStyle/>
          <a:p>
            <a:fld id="{676223B9-C868-4436-87D9-1A3152E1157A}" type="slidenum">
              <a:rPr lang="es-ES" smtClean="0"/>
              <a:t>15</a:t>
            </a:fld>
            <a:endParaRPr lang="es-ES"/>
          </a:p>
        </p:txBody>
      </p:sp>
    </p:spTree>
    <p:extLst>
      <p:ext uri="{BB962C8B-B14F-4D97-AF65-F5344CB8AC3E}">
        <p14:creationId xmlns:p14="http://schemas.microsoft.com/office/powerpoint/2010/main" val="27578852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B0610B-BED1-5D98-B16F-3464706DCD2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5BE0DE1-8042-E014-B858-8CA1F6BE23B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515C018B-F255-FD53-2F5B-3A2C64304014}"/>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FC4E1FFA-B94C-4CDB-A485-79DF4A7A5B37}"/>
              </a:ext>
            </a:extLst>
          </p:cNvPr>
          <p:cNvSpPr>
            <a:spLocks noGrp="1"/>
          </p:cNvSpPr>
          <p:nvPr>
            <p:ph type="sldNum" sz="quarter" idx="5"/>
          </p:nvPr>
        </p:nvSpPr>
        <p:spPr/>
        <p:txBody>
          <a:bodyPr/>
          <a:lstStyle/>
          <a:p>
            <a:fld id="{676223B9-C868-4436-87D9-1A3152E1157A}" type="slidenum">
              <a:rPr lang="es-ES" smtClean="0"/>
              <a:t>16</a:t>
            </a:fld>
            <a:endParaRPr lang="es-ES"/>
          </a:p>
        </p:txBody>
      </p:sp>
    </p:spTree>
    <p:extLst>
      <p:ext uri="{BB962C8B-B14F-4D97-AF65-F5344CB8AC3E}">
        <p14:creationId xmlns:p14="http://schemas.microsoft.com/office/powerpoint/2010/main" val="232354349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6A68AC-C58A-846E-7F46-638880890E3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10D757F-ED03-5507-C87C-1D4AE906436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49951EA6-7512-C325-406C-2DEFF3221B7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F0378E57-4CF7-C85F-6E70-31D8A10988B4}"/>
              </a:ext>
            </a:extLst>
          </p:cNvPr>
          <p:cNvSpPr>
            <a:spLocks noGrp="1"/>
          </p:cNvSpPr>
          <p:nvPr>
            <p:ph type="sldNum" sz="quarter" idx="5"/>
          </p:nvPr>
        </p:nvSpPr>
        <p:spPr/>
        <p:txBody>
          <a:bodyPr/>
          <a:lstStyle/>
          <a:p>
            <a:fld id="{676223B9-C868-4436-87D9-1A3152E1157A}" type="slidenum">
              <a:rPr lang="es-ES" smtClean="0"/>
              <a:t>17</a:t>
            </a:fld>
            <a:endParaRPr lang="es-ES"/>
          </a:p>
        </p:txBody>
      </p:sp>
    </p:spTree>
    <p:extLst>
      <p:ext uri="{BB962C8B-B14F-4D97-AF65-F5344CB8AC3E}">
        <p14:creationId xmlns:p14="http://schemas.microsoft.com/office/powerpoint/2010/main" val="32157331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8A2924-4DE5-DB9A-502C-CD2C5F87BCB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FCE5034-74D5-8549-84B9-24C49876E66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D1E3FC3-B083-70D9-3AB0-53D58AE4027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DAD32042-FA4B-3BEE-66AC-A5B970A1239D}"/>
              </a:ext>
            </a:extLst>
          </p:cNvPr>
          <p:cNvSpPr>
            <a:spLocks noGrp="1"/>
          </p:cNvSpPr>
          <p:nvPr>
            <p:ph type="sldNum" sz="quarter" idx="5"/>
          </p:nvPr>
        </p:nvSpPr>
        <p:spPr/>
        <p:txBody>
          <a:bodyPr/>
          <a:lstStyle/>
          <a:p>
            <a:fld id="{676223B9-C868-4436-87D9-1A3152E1157A}" type="slidenum">
              <a:rPr lang="es-ES" smtClean="0"/>
              <a:t>18</a:t>
            </a:fld>
            <a:endParaRPr lang="es-ES"/>
          </a:p>
        </p:txBody>
      </p:sp>
    </p:spTree>
    <p:extLst>
      <p:ext uri="{BB962C8B-B14F-4D97-AF65-F5344CB8AC3E}">
        <p14:creationId xmlns:p14="http://schemas.microsoft.com/office/powerpoint/2010/main" val="294336519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50DEA-1BDB-A16C-45B1-0AC88190C4C0}"/>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767B5BE-CD77-28ED-9AD6-E16A79DE425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BBCA1DCA-6470-56DA-C4DC-28B8BFD3F2BB}"/>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14C01E22-D5AD-CE4C-3CED-5ACD260915D3}"/>
              </a:ext>
            </a:extLst>
          </p:cNvPr>
          <p:cNvSpPr>
            <a:spLocks noGrp="1"/>
          </p:cNvSpPr>
          <p:nvPr>
            <p:ph type="sldNum" sz="quarter" idx="5"/>
          </p:nvPr>
        </p:nvSpPr>
        <p:spPr/>
        <p:txBody>
          <a:bodyPr/>
          <a:lstStyle/>
          <a:p>
            <a:fld id="{676223B9-C868-4436-87D9-1A3152E1157A}" type="slidenum">
              <a:rPr lang="es-ES" smtClean="0"/>
              <a:t>19</a:t>
            </a:fld>
            <a:endParaRPr lang="es-ES"/>
          </a:p>
        </p:txBody>
      </p:sp>
    </p:spTree>
    <p:extLst>
      <p:ext uri="{BB962C8B-B14F-4D97-AF65-F5344CB8AC3E}">
        <p14:creationId xmlns:p14="http://schemas.microsoft.com/office/powerpoint/2010/main" val="301433567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4C9DC-82CC-4670-22D4-5992593A56D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2674CF7F-E690-9508-0B5F-2BA0A5C06413}"/>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7EDAB5C4-3DE9-E2AC-1B13-49A58BDA5989}"/>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90CFDBC-951D-3FB9-8D9B-0680D6DEAB33}"/>
              </a:ext>
            </a:extLst>
          </p:cNvPr>
          <p:cNvSpPr>
            <a:spLocks noGrp="1"/>
          </p:cNvSpPr>
          <p:nvPr>
            <p:ph type="sldNum" sz="quarter" idx="5"/>
          </p:nvPr>
        </p:nvSpPr>
        <p:spPr/>
        <p:txBody>
          <a:bodyPr/>
          <a:lstStyle/>
          <a:p>
            <a:fld id="{676223B9-C868-4436-87D9-1A3152E1157A}" type="slidenum">
              <a:rPr lang="es-ES" smtClean="0"/>
              <a:t>20</a:t>
            </a:fld>
            <a:endParaRPr lang="es-ES"/>
          </a:p>
        </p:txBody>
      </p:sp>
    </p:spTree>
    <p:extLst>
      <p:ext uri="{BB962C8B-B14F-4D97-AF65-F5344CB8AC3E}">
        <p14:creationId xmlns:p14="http://schemas.microsoft.com/office/powerpoint/2010/main" val="111709166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BE712-D320-AEAC-AE88-1D20EF6D621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127AAAF-A4A4-0842-375C-2CCF552A567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CCC4585-06EE-4A93-5FD9-1010BAE00E66}"/>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332B67C-6D68-F307-323F-B762197FFD2F}"/>
              </a:ext>
            </a:extLst>
          </p:cNvPr>
          <p:cNvSpPr>
            <a:spLocks noGrp="1"/>
          </p:cNvSpPr>
          <p:nvPr>
            <p:ph type="sldNum" sz="quarter" idx="5"/>
          </p:nvPr>
        </p:nvSpPr>
        <p:spPr/>
        <p:txBody>
          <a:bodyPr/>
          <a:lstStyle/>
          <a:p>
            <a:fld id="{676223B9-C868-4436-87D9-1A3152E1157A}" type="slidenum">
              <a:rPr lang="es-ES" smtClean="0"/>
              <a:t>21</a:t>
            </a:fld>
            <a:endParaRPr lang="es-ES"/>
          </a:p>
        </p:txBody>
      </p:sp>
    </p:spTree>
    <p:extLst>
      <p:ext uri="{BB962C8B-B14F-4D97-AF65-F5344CB8AC3E}">
        <p14:creationId xmlns:p14="http://schemas.microsoft.com/office/powerpoint/2010/main" val="6810442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1.0 WAVEGUIDES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70.png"/><Relationship Id="rId4" Type="http://schemas.openxmlformats.org/officeDocument/2006/relationships/image" Target="../media/image4.sv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4.sv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4.sv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4.sv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4.sv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4.sv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4.sv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4.sv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22.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1.0. </a:t>
            </a:r>
            <a:r>
              <a:rPr lang="es-ES" sz="3200" b="1" dirty="0" err="1">
                <a:latin typeface="Lucida Sans"/>
                <a:cs typeface="Lucida Sans"/>
              </a:rPr>
              <a:t>Waveguides</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b="1" i="1" spc="165" dirty="0" err="1">
                <a:latin typeface="Arial"/>
                <a:cs typeface="Arial"/>
              </a:rPr>
              <a:t>Student</a:t>
            </a:r>
            <a:r>
              <a:rPr lang="es-ES" b="1" i="1" spc="165" dirty="0">
                <a:latin typeface="Arial"/>
                <a:cs typeface="Arial"/>
              </a:rPr>
              <a:t>:</a:t>
            </a:r>
            <a:r>
              <a:rPr lang="es-ES" spc="165" dirty="0">
                <a:latin typeface="Arial"/>
                <a:cs typeface="Arial"/>
              </a:rPr>
              <a:t> Lidia Tórtola Juan y Raúl Salido Calatayud</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
        <p:nvSpPr>
          <p:cNvPr id="2" name="CuadroTexto 1">
            <a:extLst>
              <a:ext uri="{FF2B5EF4-FFF2-40B4-BE49-F238E27FC236}">
                <a16:creationId xmlns:a16="http://schemas.microsoft.com/office/drawing/2014/main" id="{B0D34455-D259-6803-6157-D4D57EF20FC9}"/>
              </a:ext>
            </a:extLst>
          </p:cNvPr>
          <p:cNvSpPr txBox="1"/>
          <p:nvPr/>
        </p:nvSpPr>
        <p:spPr>
          <a:xfrm>
            <a:off x="2667000" y="5911435"/>
            <a:ext cx="8305800" cy="369332"/>
          </a:xfrm>
          <a:prstGeom prst="rect">
            <a:avLst/>
          </a:prstGeom>
          <a:noFill/>
        </p:spPr>
        <p:txBody>
          <a:bodyPr wrap="square">
            <a:spAutoFit/>
          </a:bodyPr>
          <a:lstStyle/>
          <a:p>
            <a:r>
              <a:rPr lang="es-ES" b="1" i="1" dirty="0">
                <a:latin typeface="Arial" panose="020B0604020202020204" pitchFamily="34" charset="0"/>
                <a:cs typeface="Arial" panose="020B0604020202020204" pitchFamily="34" charset="0"/>
              </a:rPr>
              <a:t>URL:</a:t>
            </a:r>
            <a:r>
              <a:rPr lang="es-ES" dirty="0">
                <a:latin typeface="Arial" panose="020B0604020202020204" pitchFamily="34" charset="0"/>
                <a:cs typeface="Arial" panose="020B0604020202020204" pitchFamily="34" charset="0"/>
              </a:rPr>
              <a:t> https://github.com/cccanvas-upv/cifoin-lab1/tree/Lab1_Lidia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https://github.com/cccanvas-upv/cifoin-lab1.git</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WAVEGUIDES_Student.ipynb</a:t>
            </a:r>
            <a:r>
              <a:rPr lang="en-US" kern="0" dirty="0">
                <a:solidFill>
                  <a:sysClr val="windowText" lastClr="000000"/>
                </a:solidFill>
              </a:rPr>
              <a:t> </a:t>
            </a:r>
          </a:p>
          <a:p>
            <a:pPr algn="just"/>
            <a:endParaRPr lang="en-US" sz="2000" b="1" i="1" u="sng"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902765" y="3422925"/>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a:p>
        </p:txBody>
      </p:sp>
      <p:sp>
        <p:nvSpPr>
          <p:cNvPr id="97" name="object 62">
            <a:extLst>
              <a:ext uri="{FF2B5EF4-FFF2-40B4-BE49-F238E27FC236}">
                <a16:creationId xmlns:a16="http://schemas.microsoft.com/office/drawing/2014/main" id="{13E0425E-CEDF-CBC4-B34B-0CC3951920EA}"/>
              </a:ext>
            </a:extLst>
          </p:cNvPr>
          <p:cNvSpPr/>
          <p:nvPr/>
        </p:nvSpPr>
        <p:spPr>
          <a:xfrm>
            <a:off x="1747061" y="3983757"/>
            <a:ext cx="76200" cy="986155"/>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091131" y="4210910"/>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endParaRPr sz="1400">
              <a:latin typeface="Calibri"/>
              <a:cs typeface="Calibri"/>
            </a:endParaRP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endParaRPr sz="1400">
              <a:latin typeface="Calibri"/>
              <a:cs typeface="Calibri"/>
            </a:endParaRPr>
          </a:p>
        </p:txBody>
      </p:sp>
      <p:sp>
        <p:nvSpPr>
          <p:cNvPr id="99" name="object 64">
            <a:extLst>
              <a:ext uri="{FF2B5EF4-FFF2-40B4-BE49-F238E27FC236}">
                <a16:creationId xmlns:a16="http://schemas.microsoft.com/office/drawing/2014/main" id="{ABAAA5DD-56CA-BF94-2180-F0866658B6B3}"/>
              </a:ext>
            </a:extLst>
          </p:cNvPr>
          <p:cNvSpPr/>
          <p:nvPr/>
        </p:nvSpPr>
        <p:spPr>
          <a:xfrm>
            <a:off x="1984805" y="3773445"/>
            <a:ext cx="1758314" cy="76200"/>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504743" y="3532730"/>
            <a:ext cx="733425" cy="240029"/>
          </a:xfrm>
          <a:prstGeom prst="rect">
            <a:avLst/>
          </a:prstGeom>
        </p:spPr>
        <p:txBody>
          <a:bodyPr vert="horz" wrap="square" lIns="0" tIns="13335" rIns="0" bIns="0" rtlCol="0">
            <a:spAutoFit/>
          </a:bodyPr>
          <a:lstStyle/>
          <a:p>
            <a:pPr>
              <a:lnSpc>
                <a:spcPct val="100000"/>
              </a:lnSpc>
              <a:spcBef>
                <a:spcPts val="105"/>
              </a:spcBef>
            </a:pPr>
            <a:r>
              <a:rPr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1984805" y="3983757"/>
            <a:ext cx="1758950" cy="986155"/>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3983988" y="4338253"/>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391400" y="3422925"/>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a:p>
        </p:txBody>
      </p:sp>
      <p:sp>
        <p:nvSpPr>
          <p:cNvPr id="114" name="object 64">
            <a:extLst>
              <a:ext uri="{FF2B5EF4-FFF2-40B4-BE49-F238E27FC236}">
                <a16:creationId xmlns:a16="http://schemas.microsoft.com/office/drawing/2014/main" id="{D9E5D738-CA47-1898-E0D8-DFBC514F5A50}"/>
              </a:ext>
            </a:extLst>
          </p:cNvPr>
          <p:cNvSpPr/>
          <p:nvPr/>
        </p:nvSpPr>
        <p:spPr>
          <a:xfrm>
            <a:off x="8473440" y="3773445"/>
            <a:ext cx="1758314" cy="76200"/>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93378" y="3532730"/>
            <a:ext cx="733425" cy="240029"/>
          </a:xfrm>
          <a:prstGeom prst="rect">
            <a:avLst/>
          </a:prstGeom>
        </p:spPr>
        <p:txBody>
          <a:bodyPr vert="horz" wrap="square" lIns="0" tIns="13335" rIns="0" bIns="0" rtlCol="0">
            <a:spAutoFit/>
          </a:bodyPr>
          <a:lstStyle/>
          <a:p>
            <a:pPr>
              <a:lnSpc>
                <a:spcPct val="100000"/>
              </a:lnSpc>
              <a:spcBef>
                <a:spcPts val="105"/>
              </a:spcBef>
            </a:pPr>
            <a:r>
              <a:rPr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8473440" y="3983757"/>
            <a:ext cx="1758950" cy="986155"/>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10472623" y="4338253"/>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20" name="object 73">
            <a:extLst>
              <a:ext uri="{FF2B5EF4-FFF2-40B4-BE49-F238E27FC236}">
                <a16:creationId xmlns:a16="http://schemas.microsoft.com/office/drawing/2014/main" id="{C699977C-9138-F9B9-E43D-0CCB01AEB75F}"/>
              </a:ext>
            </a:extLst>
          </p:cNvPr>
          <p:cNvSpPr txBox="1"/>
          <p:nvPr/>
        </p:nvSpPr>
        <p:spPr>
          <a:xfrm>
            <a:off x="7391400" y="4690819"/>
            <a:ext cx="39061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lang="es-ES" sz="2350" dirty="0">
              <a:latin typeface="Times New Roman"/>
              <a:cs typeface="Times New Roman"/>
            </a:endParaRPr>
          </a:p>
          <a:p>
            <a:pPr marL="18415">
              <a:lnSpc>
                <a:spcPct val="100000"/>
              </a:lnSpc>
            </a:pPr>
            <a:r>
              <a:rPr lang="es-ES" sz="1600" b="1" spc="-10" dirty="0" err="1">
                <a:latin typeface="Calibri"/>
                <a:cs typeface="Calibri"/>
              </a:rPr>
              <a:t>Slab</a:t>
            </a:r>
            <a:endParaRPr sz="1600" dirty="0">
              <a:latin typeface="Calibri"/>
              <a:cs typeface="Calibri"/>
            </a:endParaRPr>
          </a:p>
        </p:txBody>
      </p:sp>
      <p:sp>
        <p:nvSpPr>
          <p:cNvPr id="112" name="object 62">
            <a:extLst>
              <a:ext uri="{FF2B5EF4-FFF2-40B4-BE49-F238E27FC236}">
                <a16:creationId xmlns:a16="http://schemas.microsoft.com/office/drawing/2014/main" id="{04561701-4B4F-F208-98F6-2DAB5C1138D3}"/>
              </a:ext>
            </a:extLst>
          </p:cNvPr>
          <p:cNvSpPr/>
          <p:nvPr/>
        </p:nvSpPr>
        <p:spPr>
          <a:xfrm>
            <a:off x="8575910" y="3994221"/>
            <a:ext cx="56259" cy="694989"/>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1" name="object 62">
            <a:extLst>
              <a:ext uri="{FF2B5EF4-FFF2-40B4-BE49-F238E27FC236}">
                <a16:creationId xmlns:a16="http://schemas.microsoft.com/office/drawing/2014/main" id="{CCA3B0D6-0C9E-B4A6-FA43-1AB5F1821674}"/>
              </a:ext>
            </a:extLst>
          </p:cNvPr>
          <p:cNvSpPr/>
          <p:nvPr/>
        </p:nvSpPr>
        <p:spPr>
          <a:xfrm>
            <a:off x="8233207" y="4689210"/>
            <a:ext cx="55008" cy="613272"/>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13" name="object 63">
            <a:extLst>
              <a:ext uri="{FF2B5EF4-FFF2-40B4-BE49-F238E27FC236}">
                <a16:creationId xmlns:a16="http://schemas.microsoft.com/office/drawing/2014/main" id="{6394166D-0522-24AD-E666-39FE8A3FDC24}"/>
              </a:ext>
            </a:extLst>
          </p:cNvPr>
          <p:cNvSpPr txBox="1"/>
          <p:nvPr/>
        </p:nvSpPr>
        <p:spPr>
          <a:xfrm>
            <a:off x="8351994" y="4887127"/>
            <a:ext cx="674053" cy="228909"/>
          </a:xfrm>
          <a:prstGeom prst="rect">
            <a:avLst/>
          </a:prstGeom>
        </p:spPr>
        <p:txBody>
          <a:bodyPr vert="horz" wrap="square" lIns="0" tIns="13335" rIns="0" bIns="0" rtlCol="0">
            <a:spAutoFit/>
          </a:bodyPr>
          <a:lstStyle/>
          <a:p>
            <a:pPr marR="3175">
              <a:lnSpc>
                <a:spcPct val="100000"/>
              </a:lnSpc>
              <a:spcBef>
                <a:spcPts val="105"/>
              </a:spcBef>
            </a:pPr>
            <a:r>
              <a:rPr lang="es-ES" sz="1400" dirty="0" err="1">
                <a:latin typeface="Calibri"/>
                <a:cs typeface="Calibri"/>
              </a:rPr>
              <a:t>h_slab</a:t>
            </a:r>
            <a:endParaRPr sz="1400" dirty="0">
              <a:latin typeface="Calibri"/>
              <a:cs typeface="Calibri"/>
            </a:endParaRPr>
          </a:p>
        </p:txBody>
      </p:sp>
      <p:sp>
        <p:nvSpPr>
          <p:cNvPr id="122" name="object 63">
            <a:extLst>
              <a:ext uri="{FF2B5EF4-FFF2-40B4-BE49-F238E27FC236}">
                <a16:creationId xmlns:a16="http://schemas.microsoft.com/office/drawing/2014/main" id="{B589EB7D-B26E-4239-A5C2-F96DBBE82162}"/>
              </a:ext>
            </a:extLst>
          </p:cNvPr>
          <p:cNvSpPr txBox="1"/>
          <p:nvPr/>
        </p:nvSpPr>
        <p:spPr>
          <a:xfrm>
            <a:off x="8706378" y="3990085"/>
            <a:ext cx="1380175" cy="228909"/>
          </a:xfrm>
          <a:prstGeom prst="rect">
            <a:avLst/>
          </a:prstGeom>
        </p:spPr>
        <p:txBody>
          <a:bodyPr vert="horz" wrap="square" lIns="0" tIns="13335" rIns="0" bIns="0" rtlCol="0">
            <a:spAutoFit/>
          </a:bodyPr>
          <a:lstStyle/>
          <a:p>
            <a:pPr marR="3175">
              <a:lnSpc>
                <a:spcPct val="100000"/>
              </a:lnSpc>
              <a:spcBef>
                <a:spcPts val="105"/>
              </a:spcBef>
            </a:pPr>
            <a:r>
              <a:rPr lang="es-ES" sz="1400" spc="-10" dirty="0" err="1">
                <a:latin typeface="Calibri"/>
                <a:cs typeface="Calibri"/>
              </a:rPr>
              <a:t>h_core</a:t>
            </a:r>
            <a:r>
              <a:rPr lang="es-ES" sz="1400" spc="-10" dirty="0">
                <a:latin typeface="Calibri"/>
                <a:cs typeface="Calibri"/>
              </a:rPr>
              <a:t> </a:t>
            </a:r>
            <a:endParaRPr sz="14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9306491" y="5257071"/>
            <a:ext cx="1980542" cy="369332"/>
          </a:xfrm>
          <a:prstGeom prst="rect">
            <a:avLst/>
          </a:prstGeom>
          <a:noFill/>
        </p:spPr>
        <p:txBody>
          <a:bodyPr wrap="none" rtlCol="0">
            <a:spAutoFit/>
          </a:bodyPr>
          <a:lstStyle/>
          <a:p>
            <a:pPr algn="ctr"/>
            <a:r>
              <a:rPr lang="en-US" b="1" dirty="0"/>
              <a:t>shallow</a:t>
            </a:r>
            <a:r>
              <a:rPr lang="en-US" dirty="0"/>
              <a:t> waveguide</a:t>
            </a:r>
          </a:p>
        </p:txBody>
      </p:sp>
      <p:sp>
        <p:nvSpPr>
          <p:cNvPr id="8" name="CuadroTexto 7">
            <a:extLst>
              <a:ext uri="{FF2B5EF4-FFF2-40B4-BE49-F238E27FC236}">
                <a16:creationId xmlns:a16="http://schemas.microsoft.com/office/drawing/2014/main" id="{7336B5D8-2D70-3E7A-336D-AF55EC49DEB8}"/>
              </a:ext>
            </a:extLst>
          </p:cNvPr>
          <p:cNvSpPr txBox="1"/>
          <p:nvPr/>
        </p:nvSpPr>
        <p:spPr>
          <a:xfrm>
            <a:off x="2969899" y="5257071"/>
            <a:ext cx="2157554" cy="369332"/>
          </a:xfrm>
          <a:prstGeom prst="rect">
            <a:avLst/>
          </a:prstGeom>
          <a:noFill/>
        </p:spPr>
        <p:txBody>
          <a:bodyPr wrap="square">
            <a:spAutoFit/>
          </a:bodyPr>
          <a:lstStyle/>
          <a:p>
            <a:pPr algn="ctr"/>
            <a:r>
              <a:rPr lang="en-US" b="1" dirty="0"/>
              <a:t>deep</a:t>
            </a:r>
            <a:r>
              <a:rPr lang="en-US" dirty="0"/>
              <a:t> waveguide</a:t>
            </a:r>
          </a:p>
        </p:txBody>
      </p:sp>
    </p:spTree>
    <p:extLst>
      <p:ext uri="{BB962C8B-B14F-4D97-AF65-F5344CB8AC3E}">
        <p14:creationId xmlns:p14="http://schemas.microsoft.com/office/powerpoint/2010/main" val="4739228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Effective index of a waveguide</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395021" y="611673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a:xfrm>
            <a:off x="959615" y="6217737"/>
            <a:ext cx="2743200" cy="184666"/>
          </a:xfrm>
        </p:spPr>
        <p:txBody>
          <a:bodyPr/>
          <a:lstStyle/>
          <a:p>
            <a:pPr marL="12700">
              <a:spcBef>
                <a:spcPts val="15"/>
              </a:spcBef>
            </a:pPr>
            <a:r>
              <a:rPr lang="es-ES" spc="-5"/>
              <a:t>LAB 1.0 WAVEGUIDES</a:t>
            </a:r>
            <a:endParaRPr lang="es-ES" spc="-5" dirty="0"/>
          </a:p>
        </p:txBody>
      </p:sp>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838200"/>
            <a:ext cx="11048999" cy="54153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b="1" dirty="0"/>
              <a:t>INSTRUCTOR:</a:t>
            </a:r>
          </a:p>
          <a:p>
            <a:pPr marL="342900" indent="-342900" algn="just">
              <a:buFont typeface="Arial" panose="020B0604020202020204" pitchFamily="34" charset="0"/>
              <a:buChar char="•"/>
            </a:pPr>
            <a:r>
              <a:rPr lang="en-US" dirty="0"/>
              <a:t>Present Python and </a:t>
            </a:r>
            <a:r>
              <a:rPr lang="en-US" dirty="0" err="1"/>
              <a:t>GDSFactory</a:t>
            </a:r>
            <a:r>
              <a:rPr lang="en-US" dirty="0"/>
              <a:t>: materials, output, results.</a:t>
            </a:r>
          </a:p>
          <a:p>
            <a:pPr marL="342900" indent="-342900" algn="just">
              <a:buFont typeface="Arial" panose="020B0604020202020204" pitchFamily="34" charset="0"/>
              <a:buChar char="•"/>
            </a:pPr>
            <a:r>
              <a:rPr lang="en-US" dirty="0"/>
              <a:t>Explain how to run a simulation for a particular cross-section. </a:t>
            </a:r>
          </a:p>
          <a:p>
            <a:pPr marL="342900" indent="-342900" algn="just">
              <a:buFont typeface="Arial" panose="020B0604020202020204" pitchFamily="34" charset="0"/>
              <a:buChar char="•"/>
            </a:pPr>
            <a:r>
              <a:rPr lang="en-US" dirty="0"/>
              <a:t>Showcase how to change between shallow and deep waveguide.</a:t>
            </a:r>
          </a:p>
          <a:p>
            <a:pPr marL="342900" indent="-342900" algn="just">
              <a:buFont typeface="Arial" panose="020B0604020202020204" pitchFamily="34" charset="0"/>
              <a:buChar char="•"/>
            </a:pPr>
            <a:r>
              <a:rPr lang="en-US" dirty="0"/>
              <a:t>Describe how to change the wavelength and width for the waveguide analysis.</a:t>
            </a:r>
          </a:p>
          <a:p>
            <a:pPr marL="342900" indent="-342900" algn="just">
              <a:buFont typeface="Arial" panose="020B0604020202020204" pitchFamily="34" charset="0"/>
              <a:buChar char="•"/>
            </a:pPr>
            <a:r>
              <a:rPr lang="en-US" dirty="0"/>
              <a:t>Describe the outputs.</a:t>
            </a:r>
          </a:p>
          <a:p>
            <a:pPr marL="0" indent="0" algn="just">
              <a:buNone/>
            </a:pPr>
            <a:r>
              <a:rPr lang="en-US" b="1" dirty="0"/>
              <a:t>ALL EXAMPLE #1: </a:t>
            </a:r>
            <a:r>
              <a:rPr lang="en-US" dirty="0"/>
              <a:t>waveguide width 1.2 µm, deep </a:t>
            </a:r>
            <a:r>
              <a:rPr lang="en-US" dirty="0" err="1"/>
              <a:t>wvg</a:t>
            </a:r>
            <a:r>
              <a:rPr lang="en-US" dirty="0"/>
              <a:t>, wavelength start and end same 1.55 µm </a:t>
            </a:r>
            <a:r>
              <a:rPr lang="en-US" dirty="0">
                <a:sym typeface="Wingdings" pitchFamily="2" charset="2"/>
              </a:rPr>
              <a:t> all ”Run”</a:t>
            </a:r>
            <a:endParaRPr lang="en-US" b="1" i="1" dirty="0"/>
          </a:p>
        </p:txBody>
      </p:sp>
      <p:pic>
        <p:nvPicPr>
          <p:cNvPr id="5" name="Imagen 4">
            <a:extLst>
              <a:ext uri="{FF2B5EF4-FFF2-40B4-BE49-F238E27FC236}">
                <a16:creationId xmlns:a16="http://schemas.microsoft.com/office/drawing/2014/main" id="{DCA5AF43-2137-5CEE-31D1-8A5CB647D539}"/>
              </a:ext>
            </a:extLst>
          </p:cNvPr>
          <p:cNvPicPr>
            <a:picLocks noChangeAspect="1"/>
          </p:cNvPicPr>
          <p:nvPr/>
        </p:nvPicPr>
        <p:blipFill>
          <a:blip r:embed="rId5"/>
          <a:stretch>
            <a:fillRect/>
          </a:stretch>
        </p:blipFill>
        <p:spPr>
          <a:xfrm>
            <a:off x="1520274" y="2940769"/>
            <a:ext cx="4293337" cy="3094716"/>
          </a:xfrm>
          <a:prstGeom prst="rect">
            <a:avLst/>
          </a:prstGeom>
        </p:spPr>
      </p:pic>
      <p:sp>
        <p:nvSpPr>
          <p:cNvPr id="6" name="Rectángulo 5">
            <a:extLst>
              <a:ext uri="{FF2B5EF4-FFF2-40B4-BE49-F238E27FC236}">
                <a16:creationId xmlns:a16="http://schemas.microsoft.com/office/drawing/2014/main" id="{06B91297-9903-2C8D-4311-B890347C6F77}"/>
              </a:ext>
            </a:extLst>
          </p:cNvPr>
          <p:cNvSpPr/>
          <p:nvPr/>
        </p:nvSpPr>
        <p:spPr>
          <a:xfrm>
            <a:off x="1444434" y="2918998"/>
            <a:ext cx="9131818" cy="31565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Imagen 6">
            <a:extLst>
              <a:ext uri="{FF2B5EF4-FFF2-40B4-BE49-F238E27FC236}">
                <a16:creationId xmlns:a16="http://schemas.microsoft.com/office/drawing/2014/main" id="{1B8CA093-D509-5308-6726-7C5D5C86472E}"/>
              </a:ext>
            </a:extLst>
          </p:cNvPr>
          <p:cNvPicPr>
            <a:picLocks noChangeAspect="1"/>
          </p:cNvPicPr>
          <p:nvPr/>
        </p:nvPicPr>
        <p:blipFill>
          <a:blip r:embed="rId6"/>
          <a:stretch>
            <a:fillRect/>
          </a:stretch>
        </p:blipFill>
        <p:spPr>
          <a:xfrm>
            <a:off x="5898290" y="2953210"/>
            <a:ext cx="4615055" cy="2997449"/>
          </a:xfrm>
          <a:prstGeom prst="rect">
            <a:avLst/>
          </a:prstGeom>
        </p:spPr>
      </p:pic>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D2B7B6-A566-4CFA-7B1E-2ED1DC7A5ADB}"/>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475D1BE-1157-DD9D-E53F-6F8BFE2B9C05}"/>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Effective index of a waveguide</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F7990CA3-9157-2A69-7E45-6C114B76F26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395021" y="6116737"/>
            <a:ext cx="6409575" cy="363174"/>
          </a:xfrm>
          <a:prstGeom prst="rect">
            <a:avLst/>
          </a:prstGeom>
        </p:spPr>
      </p:pic>
      <p:sp>
        <p:nvSpPr>
          <p:cNvPr id="84" name="Marcador de número de diapositiva 83">
            <a:extLst>
              <a:ext uri="{FF2B5EF4-FFF2-40B4-BE49-F238E27FC236}">
                <a16:creationId xmlns:a16="http://schemas.microsoft.com/office/drawing/2014/main" id="{36D1D36A-6C85-9626-08A2-0B4613145CBA}"/>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6771AC72-6291-53C1-E2F0-B17FE1760113}"/>
              </a:ext>
            </a:extLst>
          </p:cNvPr>
          <p:cNvSpPr>
            <a:spLocks noGrp="1"/>
          </p:cNvSpPr>
          <p:nvPr>
            <p:ph type="ftr" sz="quarter" idx="5"/>
          </p:nvPr>
        </p:nvSpPr>
        <p:spPr>
          <a:xfrm>
            <a:off x="959615" y="6217737"/>
            <a:ext cx="2743200" cy="184666"/>
          </a:xfrm>
        </p:spPr>
        <p:txBody>
          <a:bodyPr/>
          <a:lstStyle/>
          <a:p>
            <a:pPr marL="12700">
              <a:spcBef>
                <a:spcPts val="15"/>
              </a:spcBef>
            </a:pPr>
            <a:r>
              <a:rPr lang="es-ES" spc="-5"/>
              <a:t>LAB 1.0 WAVEGUIDES</a:t>
            </a:r>
            <a:endParaRPr lang="es-ES" spc="-5" dirty="0"/>
          </a:p>
        </p:txBody>
      </p:sp>
      <p:sp>
        <p:nvSpPr>
          <p:cNvPr id="4" name="Marcador de texto 2">
            <a:extLst>
              <a:ext uri="{FF2B5EF4-FFF2-40B4-BE49-F238E27FC236}">
                <a16:creationId xmlns:a16="http://schemas.microsoft.com/office/drawing/2014/main" id="{BD0CF5DD-7365-A253-6182-0B54B17F4D11}"/>
              </a:ext>
            </a:extLst>
          </p:cNvPr>
          <p:cNvSpPr txBox="1">
            <a:spLocks/>
          </p:cNvSpPr>
          <p:nvPr/>
        </p:nvSpPr>
        <p:spPr>
          <a:xfrm>
            <a:off x="608012" y="838200"/>
            <a:ext cx="11048999" cy="54153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b="1" dirty="0"/>
              <a:t>INSTRUCTOR:</a:t>
            </a:r>
          </a:p>
          <a:p>
            <a:pPr marL="342900" indent="-342900" algn="just">
              <a:buFont typeface="Arial" panose="020B0604020202020204" pitchFamily="34" charset="0"/>
              <a:buChar char="•"/>
            </a:pPr>
            <a:r>
              <a:rPr lang="en-US" dirty="0"/>
              <a:t>Present Python and </a:t>
            </a:r>
            <a:r>
              <a:rPr lang="en-US" dirty="0" err="1"/>
              <a:t>GDSFactory</a:t>
            </a:r>
            <a:r>
              <a:rPr lang="en-US" dirty="0"/>
              <a:t>: materials, output, results.</a:t>
            </a:r>
          </a:p>
          <a:p>
            <a:pPr marL="342900" indent="-342900" algn="just">
              <a:buFont typeface="Arial" panose="020B0604020202020204" pitchFamily="34" charset="0"/>
              <a:buChar char="•"/>
            </a:pPr>
            <a:r>
              <a:rPr lang="en-US" dirty="0"/>
              <a:t>Explain how to run a simulation for a particular cross-section. </a:t>
            </a:r>
          </a:p>
          <a:p>
            <a:pPr marL="342900" indent="-342900" algn="just">
              <a:buFont typeface="Arial" panose="020B0604020202020204" pitchFamily="34" charset="0"/>
              <a:buChar char="•"/>
            </a:pPr>
            <a:r>
              <a:rPr lang="en-US" dirty="0"/>
              <a:t>Showcase how to change between shallow and deep waveguide.</a:t>
            </a:r>
          </a:p>
          <a:p>
            <a:pPr marL="342900" indent="-342900" algn="just">
              <a:buFont typeface="Arial" panose="020B0604020202020204" pitchFamily="34" charset="0"/>
              <a:buChar char="•"/>
            </a:pPr>
            <a:r>
              <a:rPr lang="en-US" dirty="0"/>
              <a:t>Describe how to change the wavelength and width for the waveguide analysis.</a:t>
            </a:r>
          </a:p>
          <a:p>
            <a:pPr marL="342900" indent="-342900" algn="just">
              <a:buFont typeface="Arial" panose="020B0604020202020204" pitchFamily="34" charset="0"/>
              <a:buChar char="•"/>
            </a:pPr>
            <a:r>
              <a:rPr lang="en-US" dirty="0"/>
              <a:t>Describe the outputs.</a:t>
            </a:r>
          </a:p>
          <a:p>
            <a:pPr marL="0" indent="0" algn="just">
              <a:buNone/>
            </a:pPr>
            <a:r>
              <a:rPr lang="en-US" b="1" dirty="0"/>
              <a:t>ALL EXAMPLE #1: </a:t>
            </a:r>
            <a:r>
              <a:rPr lang="en-US" dirty="0"/>
              <a:t>waveguide width 1.2 µm, deep </a:t>
            </a:r>
            <a:r>
              <a:rPr lang="en-US" dirty="0" err="1"/>
              <a:t>wvg</a:t>
            </a:r>
            <a:r>
              <a:rPr lang="en-US" dirty="0"/>
              <a:t>, wavelength start and end same 1.55 µm </a:t>
            </a:r>
            <a:r>
              <a:rPr lang="en-US" dirty="0">
                <a:sym typeface="Wingdings" pitchFamily="2" charset="2"/>
              </a:rPr>
              <a:t> all ”Run”</a:t>
            </a:r>
            <a:endParaRPr lang="en-US" b="1" i="1" dirty="0"/>
          </a:p>
        </p:txBody>
      </p:sp>
      <p:sp>
        <p:nvSpPr>
          <p:cNvPr id="2" name="CuadroTexto 1">
            <a:extLst>
              <a:ext uri="{FF2B5EF4-FFF2-40B4-BE49-F238E27FC236}">
                <a16:creationId xmlns:a16="http://schemas.microsoft.com/office/drawing/2014/main" id="{C0A9DE33-307D-ACAD-7B31-E6BC0F4DF45F}"/>
              </a:ext>
            </a:extLst>
          </p:cNvPr>
          <p:cNvSpPr txBox="1"/>
          <p:nvPr/>
        </p:nvSpPr>
        <p:spPr>
          <a:xfrm>
            <a:off x="572215" y="3044746"/>
            <a:ext cx="11047570" cy="2862322"/>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(neff, plot fields of different modes, comparison between different polarizations…)</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Para la </a:t>
            </a:r>
            <a:r>
              <a:rPr lang="en-US" sz="1200" dirty="0" err="1">
                <a:latin typeface="Arial" panose="020B0604020202020204" pitchFamily="34" charset="0"/>
                <a:cs typeface="Arial" panose="020B0604020202020204" pitchFamily="34" charset="0"/>
              </a:rPr>
              <a:t>realización</a:t>
            </a:r>
            <a:r>
              <a:rPr lang="en-US" sz="1200" dirty="0">
                <a:latin typeface="Arial" panose="020B0604020202020204" pitchFamily="34" charset="0"/>
                <a:cs typeface="Arial" panose="020B0604020202020204" pitchFamily="34" charset="0"/>
              </a:rPr>
              <a:t> del primer </a:t>
            </a:r>
            <a:r>
              <a:rPr lang="en-US" sz="1200" dirty="0" err="1">
                <a:latin typeface="Arial" panose="020B0604020202020204" pitchFamily="34" charset="0"/>
                <a:cs typeface="Arial" panose="020B0604020202020204" pitchFamily="34" charset="0"/>
              </a:rPr>
              <a:t>ejercicio</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han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usado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siguientes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materiales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silicio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nitruro</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silicio</a:t>
            </a:r>
            <a:r>
              <a:rPr lang="en-US" sz="1200" dirty="0">
                <a:latin typeface="Arial" panose="020B0604020202020204" pitchFamily="34" charset="0"/>
                <a:cs typeface="Arial" panose="020B0604020202020204" pitchFamily="34" charset="0"/>
              </a:rPr>
              <a:t> y </a:t>
            </a:r>
            <a:r>
              <a:rPr lang="en-US" sz="1200" dirty="0" err="1">
                <a:latin typeface="Arial" panose="020B0604020202020204" pitchFamily="34" charset="0"/>
                <a:cs typeface="Arial" panose="020B0604020202020204" pitchFamily="34" charset="0"/>
              </a:rPr>
              <a:t>dióxido</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silicio</a:t>
            </a:r>
            <a:r>
              <a:rPr lang="en-US" sz="1200" dirty="0">
                <a:latin typeface="Arial" panose="020B0604020202020204" pitchFamily="34" charset="0"/>
                <a:cs typeface="Arial" panose="020B0604020202020204" pitchFamily="34" charset="0"/>
              </a:rPr>
              <a:t>.</a:t>
            </a:r>
          </a:p>
          <a:p>
            <a:pPr algn="just"/>
            <a:r>
              <a:rPr lang="en-US" sz="1200" dirty="0">
                <a:latin typeface="Arial" panose="020B0604020202020204" pitchFamily="34" charset="0"/>
                <a:cs typeface="Arial" panose="020B0604020202020204" pitchFamily="34" charset="0"/>
              </a:rPr>
              <a:t>En primer </a:t>
            </a:r>
            <a:r>
              <a:rPr lang="en-US" sz="1200" dirty="0" err="1">
                <a:latin typeface="Arial" panose="020B0604020202020204" pitchFamily="34" charset="0"/>
                <a:cs typeface="Arial" panose="020B0604020202020204" pitchFamily="34" charset="0"/>
              </a:rPr>
              <a:t>lugar</a:t>
            </a:r>
            <a:r>
              <a:rPr lang="en-US" sz="1200" dirty="0">
                <a:latin typeface="Arial" panose="020B0604020202020204" pitchFamily="34" charset="0"/>
                <a:cs typeface="Arial" panose="020B0604020202020204" pitchFamily="34" charset="0"/>
              </a:rPr>
              <a:t>, para </a:t>
            </a:r>
            <a:r>
              <a:rPr lang="en-US" sz="1200" dirty="0" err="1">
                <a:latin typeface="Arial" panose="020B0604020202020204" pitchFamily="34" charset="0"/>
                <a:cs typeface="Arial" panose="020B0604020202020204" pitchFamily="34" charset="0"/>
              </a:rPr>
              <a:t>llevar</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cabo</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simulación</a:t>
            </a:r>
            <a:r>
              <a:rPr lang="en-US" sz="1200" dirty="0">
                <a:latin typeface="Arial" panose="020B0604020202020204" pitchFamily="34" charset="0"/>
                <a:cs typeface="Arial" panose="020B0604020202020204" pitchFamily="34" charset="0"/>
              </a:rPr>
              <a:t> con </a:t>
            </a:r>
            <a:r>
              <a:rPr lang="en-US" sz="1200" dirty="0" err="1">
                <a:latin typeface="Arial" panose="020B0604020202020204" pitchFamily="34" charset="0"/>
                <a:cs typeface="Arial" panose="020B0604020202020204" pitchFamily="34" charset="0"/>
              </a:rPr>
              <a:t>éxito</a:t>
            </a:r>
            <a:r>
              <a:rPr lang="en-US" sz="1200" dirty="0">
                <a:latin typeface="Arial" panose="020B0604020202020204" pitchFamily="34" charset="0"/>
                <a:cs typeface="Arial" panose="020B0604020202020204" pitchFamily="34" charset="0"/>
              </a:rPr>
              <a:t> de un corte transversal, se </a:t>
            </a:r>
            <a:r>
              <a:rPr lang="en-US" sz="1200" dirty="0" err="1">
                <a:latin typeface="Arial" panose="020B0604020202020204" pitchFamily="34" charset="0"/>
                <a:cs typeface="Arial" panose="020B0604020202020204" pitchFamily="34" charset="0"/>
              </a:rPr>
              <a:t>deben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definir</a:t>
            </a:r>
            <a:r>
              <a:rPr lang="en-US" sz="1200" dirty="0">
                <a:latin typeface="Arial" panose="020B0604020202020204" pitchFamily="34" charset="0"/>
                <a:cs typeface="Arial" panose="020B0604020202020204" pitchFamily="34" charset="0"/>
              </a:rPr>
              <a:t> las </a:t>
            </a:r>
            <a:r>
              <a:rPr lang="en-US" sz="1200" dirty="0" err="1">
                <a:latin typeface="Arial" panose="020B0604020202020204" pitchFamily="34" charset="0"/>
                <a:cs typeface="Arial" panose="020B0604020202020204" pitchFamily="34" charset="0"/>
              </a:rPr>
              <a:t>dimensiones</a:t>
            </a:r>
            <a:r>
              <a:rPr lang="en-US" sz="1200" dirty="0">
                <a:latin typeface="Arial" panose="020B0604020202020204" pitchFamily="34" charset="0"/>
                <a:cs typeface="Arial" panose="020B0604020202020204" pitchFamily="34" charset="0"/>
              </a:rPr>
              <a:t> de la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además</a:t>
            </a:r>
            <a:r>
              <a:rPr lang="en-US" sz="1200" dirty="0">
                <a:latin typeface="Arial" panose="020B0604020202020204" pitchFamily="34" charset="0"/>
                <a:cs typeface="Arial" panose="020B0604020202020204" pitchFamily="34" charset="0"/>
              </a:rPr>
              <a:t> del material a </a:t>
            </a:r>
            <a:r>
              <a:rPr lang="en-US" sz="1200" dirty="0" err="1">
                <a:latin typeface="Arial" panose="020B0604020202020204" pitchFamily="34" charset="0"/>
                <a:cs typeface="Arial" panose="020B0604020202020204" pitchFamily="34" charset="0"/>
              </a:rPr>
              <a:t>utilizar</a:t>
            </a:r>
            <a:r>
              <a:rPr lang="en-US" sz="1200" dirty="0">
                <a:latin typeface="Arial" panose="020B0604020202020204" pitchFamily="34" charset="0"/>
                <a:cs typeface="Arial" panose="020B0604020202020204" pitchFamily="34" charset="0"/>
              </a:rPr>
              <a:t> tanto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núcleo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cubierta</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longitud</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cantidad</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modos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queramos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calcular</a:t>
            </a:r>
            <a:r>
              <a:rPr lang="en-US" sz="1200" dirty="0">
                <a:latin typeface="Arial" panose="020B0604020202020204" pitchFamily="34" charset="0"/>
                <a:cs typeface="Arial" panose="020B0604020202020204" pitchFamily="34" charset="0"/>
              </a:rPr>
              <a:t>, y la </a:t>
            </a:r>
            <a:r>
              <a:rPr lang="en-US" sz="1200" dirty="0" err="1">
                <a:latin typeface="Arial" panose="020B0604020202020204" pitchFamily="34" charset="0"/>
                <a:cs typeface="Arial" panose="020B0604020202020204" pitchFamily="34" charset="0"/>
              </a:rPr>
              <a:t>resolución</a:t>
            </a:r>
            <a:r>
              <a:rPr lang="en-US" sz="1200" dirty="0">
                <a:latin typeface="Arial" panose="020B0604020202020204" pitchFamily="34" charset="0"/>
                <a:cs typeface="Arial" panose="020B0604020202020204" pitchFamily="34" charset="0"/>
              </a:rPr>
              <a:t> del </a:t>
            </a:r>
            <a:r>
              <a:rPr lang="en-US" sz="1200" dirty="0" err="1">
                <a:latin typeface="Arial" panose="020B0604020202020204" pitchFamily="34" charset="0"/>
                <a:cs typeface="Arial" panose="020B0604020202020204" pitchFamily="34" charset="0"/>
              </a:rPr>
              <a:t>mallado</a:t>
            </a:r>
            <a:r>
              <a:rPr lang="en-US" sz="1200" dirty="0">
                <a:latin typeface="Arial" panose="020B0604020202020204" pitchFamily="34" charset="0"/>
                <a:cs typeface="Arial" panose="020B0604020202020204" pitchFamily="34" charset="0"/>
              </a:rPr>
              <a:t>.</a:t>
            </a:r>
          </a:p>
          <a:p>
            <a:pPr algn="just"/>
            <a:endParaRPr lang="en-US" sz="1200" dirty="0">
              <a:latin typeface="Arial" panose="020B0604020202020204" pitchFamily="34" charset="0"/>
              <a:cs typeface="Arial" panose="020B0604020202020204" pitchFamily="34" charset="0"/>
            </a:endParaRPr>
          </a:p>
          <a:p>
            <a:pPr algn="just"/>
            <a:r>
              <a:rPr lang="en-US" sz="1200" dirty="0" err="1">
                <a:latin typeface="Arial" panose="020B0604020202020204" pitchFamily="34" charset="0"/>
                <a:cs typeface="Arial" panose="020B0604020202020204" pitchFamily="34" charset="0"/>
              </a:rPr>
              <a:t>Además</a:t>
            </a:r>
            <a:r>
              <a:rPr lang="en-US" sz="1200" dirty="0">
                <a:latin typeface="Arial" panose="020B0604020202020204" pitchFamily="34" charset="0"/>
                <a:cs typeface="Arial" panose="020B0604020202020204" pitchFamily="34" charset="0"/>
              </a:rPr>
              <a:t>, es </a:t>
            </a:r>
            <a:r>
              <a:rPr lang="en-US" sz="1200" dirty="0" err="1">
                <a:latin typeface="Arial" panose="020B0604020202020204" pitchFamily="34" charset="0"/>
                <a:cs typeface="Arial" panose="020B0604020202020204" pitchFamily="34" charset="0"/>
              </a:rPr>
              <a:t>importante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tener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cuenta</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diferencia</a:t>
            </a:r>
            <a:r>
              <a:rPr lang="en-US" sz="1200" dirty="0">
                <a:latin typeface="Arial" panose="020B0604020202020204" pitchFamily="34" charset="0"/>
                <a:cs typeface="Arial" panose="020B0604020202020204" pitchFamily="34" charset="0"/>
              </a:rPr>
              <a:t> entre </a:t>
            </a:r>
            <a:r>
              <a:rPr lang="en-US" sz="1200" dirty="0" err="1">
                <a:latin typeface="Arial" panose="020B0604020202020204" pitchFamily="34" charset="0"/>
                <a:cs typeface="Arial" panose="020B0604020202020204" pitchFamily="34" charset="0"/>
              </a:rPr>
              <a:t>una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guia</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deep y </a:t>
            </a:r>
            <a:r>
              <a:rPr lang="en-US" sz="1200" dirty="0" err="1">
                <a:latin typeface="Arial" panose="020B0604020202020204" pitchFamily="34" charset="0"/>
                <a:cs typeface="Arial" panose="020B0604020202020204" pitchFamily="34" charset="0"/>
              </a:rPr>
              <a:t>una</a:t>
            </a:r>
            <a:r>
              <a:rPr lang="en-US" sz="1200" dirty="0">
                <a:latin typeface="Arial" panose="020B0604020202020204" pitchFamily="34" charset="0"/>
                <a:cs typeface="Arial" panose="020B0604020202020204" pitchFamily="34" charset="0"/>
              </a:rPr>
              <a:t> shallow, </a:t>
            </a:r>
            <a:r>
              <a:rPr lang="en-US" sz="1200" dirty="0" err="1">
                <a:latin typeface="Arial" panose="020B0604020202020204" pitchFamily="34" charset="0"/>
                <a:cs typeface="Arial" panose="020B0604020202020204" pitchFamily="34" charset="0"/>
              </a:rPr>
              <a:t>ya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la shallow </a:t>
            </a:r>
            <a:r>
              <a:rPr lang="en-US" sz="1200" dirty="0" err="1">
                <a:latin typeface="Arial" panose="020B0604020202020204" pitchFamily="34" charset="0"/>
                <a:cs typeface="Arial" panose="020B0604020202020204" pitchFamily="34" charset="0"/>
              </a:rPr>
              <a:t>existe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una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altura</a:t>
            </a:r>
            <a:r>
              <a:rPr lang="en-US" sz="1200" dirty="0">
                <a:latin typeface="Arial" panose="020B0604020202020204" pitchFamily="34" charset="0"/>
                <a:cs typeface="Arial" panose="020B0604020202020204" pitchFamily="34" charset="0"/>
              </a:rPr>
              <a:t> slab, </a:t>
            </a:r>
            <a:r>
              <a:rPr lang="en-US" sz="1200" dirty="0" err="1">
                <a:latin typeface="Arial" panose="020B0604020202020204" pitchFamily="34" charset="0"/>
                <a:cs typeface="Arial" panose="020B0604020202020204" pitchFamily="34" charset="0"/>
              </a:rPr>
              <a:t>mientras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las deep </a:t>
            </a:r>
            <a:r>
              <a:rPr lang="en-US" sz="1200" dirty="0" err="1">
                <a:latin typeface="Arial" panose="020B0604020202020204" pitchFamily="34" charset="0"/>
                <a:cs typeface="Arial" panose="020B0604020202020204" pitchFamily="34" charset="0"/>
              </a:rPr>
              <a:t>dicha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altura</a:t>
            </a:r>
            <a:r>
              <a:rPr lang="en-US" sz="1200" dirty="0">
                <a:latin typeface="Arial" panose="020B0604020202020204" pitchFamily="34" charset="0"/>
                <a:cs typeface="Arial" panose="020B0604020202020204" pitchFamily="34" charset="0"/>
              </a:rPr>
              <a:t> es </a:t>
            </a:r>
            <a:r>
              <a:rPr lang="en-US" sz="1200" dirty="0" err="1">
                <a:latin typeface="Arial" panose="020B0604020202020204" pitchFamily="34" charset="0"/>
                <a:cs typeface="Arial" panose="020B0604020202020204" pitchFamily="34" charset="0"/>
              </a:rPr>
              <a:t>nula</a:t>
            </a:r>
            <a:r>
              <a:rPr lang="en-US" sz="1200" dirty="0">
                <a:latin typeface="Arial" panose="020B0604020202020204" pitchFamily="34" charset="0"/>
                <a:cs typeface="Arial" panose="020B0604020202020204" pitchFamily="34" charset="0"/>
              </a:rPr>
              <a:t>.</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Por </a:t>
            </a:r>
            <a:r>
              <a:rPr lang="en-US" sz="1200" dirty="0" err="1">
                <a:latin typeface="Arial" panose="020B0604020202020204" pitchFamily="34" charset="0"/>
                <a:cs typeface="Arial" panose="020B0604020202020204" pitchFamily="34" charset="0"/>
              </a:rPr>
              <a:t>otro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lado</a:t>
            </a:r>
            <a:r>
              <a:rPr lang="en-US" sz="1200" dirty="0">
                <a:latin typeface="Arial" panose="020B0604020202020204" pitchFamily="34" charset="0"/>
                <a:cs typeface="Arial" panose="020B0604020202020204" pitchFamily="34" charset="0"/>
              </a:rPr>
              <a:t>, las </a:t>
            </a:r>
            <a:r>
              <a:rPr lang="en-US" sz="1200" dirty="0" err="1">
                <a:latin typeface="Arial" panose="020B0604020202020204" pitchFamily="34" charset="0"/>
                <a:cs typeface="Arial" panose="020B0604020202020204" pitchFamily="34" charset="0"/>
              </a:rPr>
              <a:t>dimensiones</a:t>
            </a:r>
            <a:r>
              <a:rPr lang="en-US" sz="1200" dirty="0">
                <a:latin typeface="Arial" panose="020B0604020202020204" pitchFamily="34" charset="0"/>
                <a:cs typeface="Arial" panose="020B0604020202020204" pitchFamily="34" charset="0"/>
              </a:rPr>
              <a:t> del clad se </a:t>
            </a:r>
            <a:r>
              <a:rPr lang="en-US" sz="1200" dirty="0" err="1">
                <a:latin typeface="Arial" panose="020B0604020202020204" pitchFamily="34" charset="0"/>
                <a:cs typeface="Arial" panose="020B0604020202020204" pitchFamily="34" charset="0"/>
              </a:rPr>
              <a:t>han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dejado</a:t>
            </a:r>
            <a:r>
              <a:rPr lang="en-US" sz="1200" dirty="0">
                <a:latin typeface="Arial" panose="020B0604020202020204" pitchFamily="34" charset="0"/>
                <a:cs typeface="Arial" panose="020B0604020202020204" pitchFamily="34" charset="0"/>
              </a:rPr>
              <a:t> con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valores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por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defecto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puesto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modos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presentan</a:t>
            </a:r>
            <a:r>
              <a:rPr lang="en-US" sz="1200" dirty="0">
                <a:latin typeface="Arial" panose="020B0604020202020204" pitchFamily="34" charset="0"/>
                <a:cs typeface="Arial" panose="020B0604020202020204" pitchFamily="34" charset="0"/>
              </a:rPr>
              <a:t> un </a:t>
            </a:r>
            <a:r>
              <a:rPr lang="en-US" sz="1200" dirty="0" err="1">
                <a:latin typeface="Arial" panose="020B0604020202020204" pitchFamily="34" charset="0"/>
                <a:cs typeface="Arial" panose="020B0604020202020204" pitchFamily="34" charset="0"/>
              </a:rPr>
              <a:t>buen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confinamiento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si</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fuera </a:t>
            </a:r>
            <a:r>
              <a:rPr lang="en-US" sz="1200" dirty="0" err="1">
                <a:latin typeface="Arial" panose="020B0604020202020204" pitchFamily="34" charset="0"/>
                <a:cs typeface="Arial" panose="020B0604020202020204" pitchFamily="34" charset="0"/>
              </a:rPr>
              <a:t>más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ancha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sí</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sería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necesario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modificar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clad. </a:t>
            </a:r>
          </a:p>
          <a:p>
            <a:pPr algn="just"/>
            <a:endParaRPr lang="en-US" sz="1200" dirty="0">
              <a:latin typeface="Arial" panose="020B0604020202020204" pitchFamily="34" charset="0"/>
              <a:cs typeface="Arial" panose="020B0604020202020204" pitchFamily="34" charset="0"/>
            </a:endParaRPr>
          </a:p>
          <a:p>
            <a:pPr algn="just"/>
            <a:r>
              <a:rPr lang="en-US" sz="1200" dirty="0" err="1">
                <a:latin typeface="Arial" panose="020B0604020202020204" pitchFamily="34" charset="0"/>
                <a:cs typeface="Arial" panose="020B0604020202020204" pitchFamily="34" charset="0"/>
              </a:rPr>
              <a:t>Finalmente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simulación</a:t>
            </a:r>
            <a:r>
              <a:rPr lang="en-US" sz="1200" dirty="0">
                <a:latin typeface="Arial" panose="020B0604020202020204" pitchFamily="34" charset="0"/>
                <a:cs typeface="Arial" panose="020B0604020202020204" pitchFamily="34" charset="0"/>
              </a:rPr>
              <a:t> se ha </a:t>
            </a:r>
            <a:r>
              <a:rPr lang="en-US" sz="1200" dirty="0" err="1">
                <a:latin typeface="Arial" panose="020B0604020202020204" pitchFamily="34" charset="0"/>
                <a:cs typeface="Arial" panose="020B0604020202020204" pitchFamily="34" charset="0"/>
              </a:rPr>
              <a:t>definido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cálculo</a:t>
            </a:r>
            <a:r>
              <a:rPr lang="en-US" sz="1200" dirty="0">
                <a:latin typeface="Arial" panose="020B0604020202020204" pitchFamily="34" charset="0"/>
                <a:cs typeface="Arial" panose="020B0604020202020204" pitchFamily="34" charset="0"/>
              </a:rPr>
              <a:t> de cuatro </a:t>
            </a:r>
            <a:r>
              <a:rPr lang="en-US" sz="1200" dirty="0" err="1">
                <a:latin typeface="Arial" panose="020B0604020202020204" pitchFamily="34" charset="0"/>
                <a:cs typeface="Arial" panose="020B0604020202020204" pitchFamily="34" charset="0"/>
              </a:rPr>
              <a:t>modos</a:t>
            </a:r>
            <a:r>
              <a:rPr lang="en-US" sz="1200" dirty="0">
                <a:latin typeface="Arial" panose="020B0604020202020204" pitchFamily="34" charset="0"/>
                <a:cs typeface="Arial" panose="020B0604020202020204" pitchFamily="34" charset="0"/>
              </a:rPr>
              <a:t> y, de </a:t>
            </a:r>
            <a:r>
              <a:rPr lang="en-US" sz="1200" dirty="0" err="1">
                <a:latin typeface="Arial" panose="020B0604020202020204" pitchFamily="34" charset="0"/>
                <a:cs typeface="Arial" panose="020B0604020202020204" pitchFamily="34" charset="0"/>
              </a:rPr>
              <a:t>esos</a:t>
            </a:r>
            <a:r>
              <a:rPr lang="en-US" sz="1200" dirty="0">
                <a:latin typeface="Arial" panose="020B0604020202020204" pitchFamily="34" charset="0"/>
                <a:cs typeface="Arial" panose="020B0604020202020204" pitchFamily="34" charset="0"/>
              </a:rPr>
              <a:t> cuatro, solo </a:t>
            </a:r>
            <a:r>
              <a:rPr lang="en-US" sz="1200" dirty="0" err="1">
                <a:latin typeface="Arial" panose="020B0604020202020204" pitchFamily="34" charset="0"/>
                <a:cs typeface="Arial" panose="020B0604020202020204" pitchFamily="34" charset="0"/>
              </a:rPr>
              <a:t>están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confinados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dos </a:t>
            </a:r>
            <a:r>
              <a:rPr lang="en-US" sz="1200" dirty="0" err="1">
                <a:latin typeface="Arial" panose="020B0604020202020204" pitchFamily="34" charset="0"/>
                <a:cs typeface="Arial" panose="020B0604020202020204" pitchFamily="34" charset="0"/>
              </a:rPr>
              <a:t>primeros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son TE0 y TM0. En </a:t>
            </a:r>
            <a:r>
              <a:rPr lang="en-US" sz="1200" dirty="0" err="1">
                <a:latin typeface="Arial" panose="020B0604020202020204" pitchFamily="34" charset="0"/>
                <a:cs typeface="Arial" panose="020B0604020202020204" pitchFamily="34" charset="0"/>
              </a:rPr>
              <a:t>cambio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otros</a:t>
            </a:r>
            <a:r>
              <a:rPr lang="en-US" sz="1200" dirty="0">
                <a:latin typeface="Arial" panose="020B0604020202020204" pitchFamily="34" charset="0"/>
                <a:cs typeface="Arial" panose="020B0604020202020204" pitchFamily="34" charset="0"/>
              </a:rPr>
              <a:t> dos </a:t>
            </a:r>
            <a:r>
              <a:rPr lang="en-US" sz="1200" dirty="0" err="1">
                <a:latin typeface="Arial" panose="020B0604020202020204" pitchFamily="34" charset="0"/>
                <a:cs typeface="Arial" panose="020B0604020202020204" pitchFamily="34" charset="0"/>
              </a:rPr>
              <a:t>modos</a:t>
            </a:r>
            <a:r>
              <a:rPr lang="en-US" sz="1200" dirty="0">
                <a:latin typeface="Arial" panose="020B0604020202020204" pitchFamily="34" charset="0"/>
                <a:cs typeface="Arial" panose="020B0604020202020204" pitchFamily="34" charset="0"/>
              </a:rPr>
              <a:t> no </a:t>
            </a:r>
            <a:r>
              <a:rPr lang="en-US" sz="1200" dirty="0" err="1">
                <a:latin typeface="Arial" panose="020B0604020202020204" pitchFamily="34" charset="0"/>
                <a:cs typeface="Arial" panose="020B0604020202020204" pitchFamily="34" charset="0"/>
              </a:rPr>
              <a:t>están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confinados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porque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índice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efectivo</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esos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modos</a:t>
            </a:r>
            <a:r>
              <a:rPr lang="en-US" sz="1200" dirty="0">
                <a:latin typeface="Arial" panose="020B0604020202020204" pitchFamily="34" charset="0"/>
                <a:cs typeface="Arial" panose="020B0604020202020204" pitchFamily="34" charset="0"/>
              </a:rPr>
              <a:t> es </a:t>
            </a:r>
            <a:r>
              <a:rPr lang="en-US" sz="1200" dirty="0" err="1">
                <a:latin typeface="Arial" panose="020B0604020202020204" pitchFamily="34" charset="0"/>
                <a:cs typeface="Arial" panose="020B0604020202020204" pitchFamily="34" charset="0"/>
              </a:rPr>
              <a:t>menor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de la </a:t>
            </a:r>
            <a:r>
              <a:rPr lang="en-US" sz="1200" dirty="0" err="1">
                <a:latin typeface="Arial" panose="020B0604020202020204" pitchFamily="34" charset="0"/>
                <a:cs typeface="Arial" panose="020B0604020202020204" pitchFamily="34" charset="0"/>
              </a:rPr>
              <a:t>cubierta</a:t>
            </a:r>
            <a:r>
              <a:rPr lang="en-US" sz="1200" dirty="0">
                <a:latin typeface="Arial" panose="020B0604020202020204" pitchFamily="34" charset="0"/>
                <a:cs typeface="Arial" panose="020B0604020202020204" pitchFamily="34" charset="0"/>
              </a:rPr>
              <a:t> y, </a:t>
            </a:r>
            <a:r>
              <a:rPr lang="en-US" sz="1200" dirty="0" err="1">
                <a:latin typeface="Arial" panose="020B0604020202020204" pitchFamily="34" charset="0"/>
                <a:cs typeface="Arial" panose="020B0604020202020204" pitchFamily="34" charset="0"/>
              </a:rPr>
              <a:t>por</a:t>
            </a:r>
            <a:r>
              <a:rPr lang="en-US" sz="1200" dirty="0">
                <a:latin typeface="Arial" panose="020B0604020202020204" pitchFamily="34" charset="0"/>
                <a:cs typeface="Arial" panose="020B0604020202020204" pitchFamily="34" charset="0"/>
              </a:rPr>
              <a:t> tanto, </a:t>
            </a:r>
            <a:r>
              <a:rPr lang="en-US" sz="1200" dirty="0" err="1">
                <a:latin typeface="Arial" panose="020B0604020202020204" pitchFamily="34" charset="0"/>
                <a:cs typeface="Arial" panose="020B0604020202020204" pitchFamily="34" charset="0"/>
              </a:rPr>
              <a:t>ya</a:t>
            </a:r>
            <a:r>
              <a:rPr lang="en-US" sz="1200" dirty="0">
                <a:latin typeface="Arial" panose="020B0604020202020204" pitchFamily="34" charset="0"/>
                <a:cs typeface="Arial" panose="020B0604020202020204" pitchFamily="34" charset="0"/>
              </a:rPr>
              <a:t> no se </a:t>
            </a:r>
            <a:r>
              <a:rPr lang="en-US" sz="1200" dirty="0" err="1">
                <a:latin typeface="Arial" panose="020B0604020202020204" pitchFamily="34" charset="0"/>
                <a:cs typeface="Arial" panose="020B0604020202020204" pitchFamily="34" charset="0"/>
              </a:rPr>
              <a:t>encuentran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núcleo</a:t>
            </a:r>
            <a:r>
              <a:rPr lang="en-US" sz="1200" dirty="0">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816614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E30471-E512-5565-2D88-AFBC3C1FEF4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35319B52-BE7A-5EDF-8847-CE583D00CA59}"/>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Wavelength behavior</a:t>
            </a:r>
            <a:br>
              <a:rPr lang="es-ES" sz="2500" spc="-5" dirty="0">
                <a:latin typeface="+mj-lt"/>
                <a:cs typeface="Lucida Sans"/>
              </a:rPr>
            </a:br>
            <a:r>
              <a:rPr lang="en-US" b="0" dirty="0"/>
              <a:t>Wavelength 1.5-1.6 µm (step 0.01 µm) – width 1.2 µm</a:t>
            </a:r>
            <a:endParaRPr sz="2500" b="0" dirty="0">
              <a:latin typeface="+mj-lt"/>
              <a:cs typeface="Lucida Sans"/>
            </a:endParaRPr>
          </a:p>
        </p:txBody>
      </p:sp>
      <p:pic>
        <p:nvPicPr>
          <p:cNvPr id="83" name="Gráfico 82">
            <a:extLst>
              <a:ext uri="{FF2B5EF4-FFF2-40B4-BE49-F238E27FC236}">
                <a16:creationId xmlns:a16="http://schemas.microsoft.com/office/drawing/2014/main" id="{8B7A066D-CBDC-5798-F1F7-24E0CB1B0C5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746A4DE-8EDB-DF1F-F14B-0A1D45EB6811}"/>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053B11AF-D881-E24A-11EA-EE0F800E3D08}"/>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ED4649C8-97D0-793B-D973-63B9588C8D57}"/>
                  </a:ext>
                </a:extLst>
              </p:cNvPr>
              <p:cNvSpPr txBox="1"/>
              <p:nvPr/>
            </p:nvSpPr>
            <p:spPr>
              <a:xfrm>
                <a:off x="583019" y="4819380"/>
                <a:ext cx="11199971" cy="161781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(neff changes this way with wavelength, comparison between different waveguide cross-sections …</a:t>
                </a:r>
                <a:r>
                  <a:rPr lang="en-US" sz="1200" dirty="0" err="1">
                    <a:latin typeface="Arial" panose="020B0604020202020204" pitchFamily="34" charset="0"/>
                    <a:cs typeface="Arial" panose="020B0604020202020204" pitchFamily="34" charset="0"/>
                  </a:rPr>
                  <a:t>etc</a:t>
                </a:r>
                <a:r>
                  <a:rPr lang="en-US" sz="1200" dirty="0">
                    <a:latin typeface="Arial" panose="020B0604020202020204" pitchFamily="34" charset="0"/>
                    <a:cs typeface="Arial" panose="020B0604020202020204" pitchFamily="34" charset="0"/>
                  </a:rPr>
                  <a:t>)</a:t>
                </a:r>
              </a:p>
              <a:p>
                <a:pPr algn="just"/>
                <a:r>
                  <a:rPr lang="en-US" sz="1200" dirty="0">
                    <a:latin typeface="Arial" panose="020B0604020202020204" pitchFamily="34" charset="0"/>
                    <a:cs typeface="Arial" panose="020B0604020202020204" pitchFamily="34" charset="0"/>
                  </a:rPr>
                  <a:t>En </a:t>
                </a:r>
                <a:r>
                  <a:rPr lang="en-US" sz="1200" dirty="0" err="1">
                    <a:latin typeface="Arial" panose="020B0604020202020204" pitchFamily="34" charset="0"/>
                    <a:cs typeface="Arial" panose="020B0604020202020204" pitchFamily="34" charset="0"/>
                  </a:rPr>
                  <a:t>estas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primeras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figuras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estan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representadas</a:t>
                </a:r>
                <a:r>
                  <a:rPr lang="en-US" sz="1200" dirty="0">
                    <a:latin typeface="Arial" panose="020B0604020202020204" pitchFamily="34" charset="0"/>
                    <a:cs typeface="Arial" panose="020B0604020202020204" pitchFamily="34" charset="0"/>
                  </a:rPr>
                  <a:t> las cross sections de la </a:t>
                </a:r>
                <a:r>
                  <a:rPr lang="en-US" sz="1200" dirty="0" err="1">
                    <a:latin typeface="Arial" panose="020B0604020202020204" pitchFamily="34" charset="0"/>
                    <a:cs typeface="Arial" panose="020B0604020202020204" pitchFamily="34" charset="0"/>
                  </a:rPr>
                  <a:t>guia</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shallow y la </a:t>
                </a:r>
                <a:r>
                  <a:rPr lang="en-US" sz="1200" dirty="0" err="1">
                    <a:latin typeface="Arial" panose="020B0604020202020204" pitchFamily="34" charset="0"/>
                    <a:cs typeface="Arial" panose="020B0604020202020204" pitchFamily="34" charset="0"/>
                  </a:rPr>
                  <a:t>guia</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deep, </a:t>
                </a:r>
                <a:r>
                  <a:rPr lang="en-US" sz="1200" dirty="0" err="1">
                    <a:latin typeface="Arial" panose="020B0604020202020204" pitchFamily="34" charset="0"/>
                    <a:cs typeface="Arial" panose="020B0604020202020204" pitchFamily="34" charset="0"/>
                  </a:rPr>
                  <a:t>respectivamente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Vemos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la shallow </a:t>
                </a:r>
                <a:r>
                  <a:rPr lang="en-US" sz="1200" dirty="0" err="1">
                    <a:latin typeface="Arial" panose="020B0604020202020204" pitchFamily="34" charset="0"/>
                    <a:cs typeface="Arial" panose="020B0604020202020204" pitchFamily="34" charset="0"/>
                  </a:rPr>
                  <a:t>está</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representada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su</a:t>
                </a:r>
                <a:r>
                  <a:rPr lang="en-US" sz="1200" dirty="0">
                    <a:latin typeface="Arial" panose="020B0604020202020204" pitchFamily="34" charset="0"/>
                    <a:cs typeface="Arial" panose="020B0604020202020204" pitchFamily="34" charset="0"/>
                  </a:rPr>
                  <a:t> slab y </a:t>
                </a:r>
                <a:r>
                  <a:rPr lang="en-US" sz="1200" dirty="0" err="1">
                    <a:latin typeface="Arial" panose="020B0604020202020204" pitchFamily="34" charset="0"/>
                    <a:cs typeface="Arial" panose="020B0604020202020204" pitchFamily="34" charset="0"/>
                  </a:rPr>
                  <a:t>tiene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mismo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indice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efectivo</a:t>
                </a:r>
                <a:r>
                  <a:rPr lang="en-US" sz="1200" dirty="0">
                    <a:latin typeface="Arial" panose="020B0604020202020204" pitchFamily="34" charset="0"/>
                    <a:cs typeface="Arial" panose="020B0604020202020204" pitchFamily="34" charset="0"/>
                  </a:rPr>
                  <a:t> </a:t>
                </a:r>
              </a:p>
              <a:p>
                <a:r>
                  <a:rPr lang="es-ES" sz="1200" dirty="0"/>
                  <a:t>La diferencia principal es que la </a:t>
                </a:r>
                <a:r>
                  <a:rPr lang="es-ES" sz="1200" i="1" dirty="0" err="1"/>
                  <a:t>shallow</a:t>
                </a:r>
                <a:r>
                  <a:rPr lang="es-ES" sz="1200" dirty="0"/>
                  <a:t> tiene una capa de </a:t>
                </a:r>
                <a:r>
                  <a:rPr lang="es-ES" sz="1200" i="1" dirty="0" err="1"/>
                  <a:t>slab</a:t>
                </a:r>
                <a:r>
                  <a:rPr lang="es-ES" sz="1200" dirty="0"/>
                  <a:t> (material de núcleo) fuera del </a:t>
                </a:r>
                <a:r>
                  <a:rPr lang="es-ES" sz="1200" dirty="0" err="1"/>
                  <a:t>rib</a:t>
                </a:r>
                <a:r>
                  <a:rPr lang="es-ES" sz="1200" dirty="0"/>
                  <a:t>, mientras que en la </a:t>
                </a:r>
                <a:r>
                  <a:rPr lang="es-ES" sz="1200" i="1" dirty="0" err="1"/>
                  <a:t>deep</a:t>
                </a:r>
                <a:r>
                  <a:rPr lang="es-ES" sz="1200" dirty="0"/>
                  <a:t> esa zona está completamente rodeada por la cubierta (</a:t>
                </a:r>
                <a:r>
                  <a:rPr lang="es-ES" sz="1200" dirty="0" err="1"/>
                  <a:t>SiO</a:t>
                </a:r>
                <a:r>
                  <a:rPr lang="es-ES" sz="1200" dirty="0"/>
                  <a:t>₂).</a:t>
                </a:r>
              </a:p>
              <a:p>
                <a:r>
                  <a:rPr lang="es-ES" sz="1200" dirty="0"/>
                  <a:t>Debido a esto, en la guía </a:t>
                </a:r>
                <a:r>
                  <a:rPr lang="es-ES" sz="1200" i="1" dirty="0" err="1"/>
                  <a:t>shallow</a:t>
                </a:r>
                <a:r>
                  <a:rPr lang="es-ES" sz="1200" dirty="0"/>
                  <a:t> el modo está más confinado en material de alto índice, ya que parte del campo también se propaga por el </a:t>
                </a:r>
                <a:r>
                  <a:rPr lang="es-ES" sz="1200" dirty="0" err="1"/>
                  <a:t>slab</a:t>
                </a:r>
                <a:r>
                  <a:rPr lang="es-ES" sz="1200" dirty="0"/>
                  <a:t>. Como el índice efectivo </a:t>
                </a:r>
                <a14:m>
                  <m:oMath xmlns:m="http://schemas.openxmlformats.org/officeDocument/2006/math">
                    <m:sSub>
                      <m:sSubPr>
                        <m:ctrlPr>
                          <a:rPr lang="ar-AE" sz="1200" i="1">
                            <a:latin typeface="Cambria Math" panose="02040503050406030204" pitchFamily="18" charset="0"/>
                          </a:rPr>
                        </m:ctrlPr>
                      </m:sSubPr>
                      <m:e>
                        <m:r>
                          <m:rPr>
                            <m:sty m:val="p"/>
                          </m:rPr>
                          <a:rPr lang="ar-AE" sz="1200" i="0">
                            <a:latin typeface="Cambria Math" panose="02040503050406030204" pitchFamily="18" charset="0"/>
                          </a:rPr>
                          <m:t>n</m:t>
                        </m:r>
                      </m:e>
                      <m:sub>
                        <m:r>
                          <m:rPr>
                            <m:nor/>
                          </m:rPr>
                          <a:rPr lang="es-ES" sz="1200">
                            <a:latin typeface="+mj-lt"/>
                          </a:rPr>
                          <m:t>eff</m:t>
                        </m:r>
                      </m:sub>
                    </m:sSub>
                  </m:oMath>
                </a14:m>
                <a:r>
                  <a:rPr lang="es-ES" sz="1200" dirty="0"/>
                  <a:t> depende del material que “ve” el modo, al haber mayor fracción de campo en el núcleo, su valor es más alto.</a:t>
                </a:r>
              </a:p>
              <a:p>
                <a:r>
                  <a:rPr lang="es-ES" sz="1200" dirty="0"/>
                  <a:t>En cambio, en la guía </a:t>
                </a:r>
                <a:r>
                  <a:rPr lang="es-ES" sz="1200" i="1" dirty="0" err="1"/>
                  <a:t>deep</a:t>
                </a:r>
                <a:r>
                  <a:rPr lang="es-ES" sz="1200" dirty="0"/>
                  <a:t> el campo se extiende más hacia la cubierta (índice menor), lo que reduce el confinamiento y hace que </a:t>
                </a:r>
                <a14:m>
                  <m:oMath xmlns:m="http://schemas.openxmlformats.org/officeDocument/2006/math">
                    <m:sSub>
                      <m:sSubPr>
                        <m:ctrlPr>
                          <a:rPr lang="ar-AE" sz="1200" i="1">
                            <a:latin typeface="Cambria Math" panose="02040503050406030204" pitchFamily="18" charset="0"/>
                          </a:rPr>
                        </m:ctrlPr>
                      </m:sSubPr>
                      <m:e>
                        <m:r>
                          <m:rPr>
                            <m:sty m:val="p"/>
                          </m:rPr>
                          <a:rPr lang="ar-AE" sz="1200" i="0">
                            <a:latin typeface="Cambria Math" panose="02040503050406030204" pitchFamily="18" charset="0"/>
                          </a:rPr>
                          <m:t>n</m:t>
                        </m:r>
                      </m:e>
                      <m:sub>
                        <m:r>
                          <m:rPr>
                            <m:nor/>
                          </m:rPr>
                          <a:rPr lang="es-ES" sz="1200">
                            <a:latin typeface="+mj-lt"/>
                          </a:rPr>
                          <m:t>eff</m:t>
                        </m:r>
                      </m:sub>
                    </m:sSub>
                  </m:oMath>
                </a14:m>
                <a:r>
                  <a:rPr lang="es-ES" sz="1200" dirty="0"/>
                  <a:t> sea más bajo.</a:t>
                </a:r>
              </a:p>
            </p:txBody>
          </p:sp>
        </mc:Choice>
        <mc:Fallback xmlns="">
          <p:sp>
            <p:nvSpPr>
              <p:cNvPr id="2" name="CuadroTexto 1">
                <a:extLst>
                  <a:ext uri="{FF2B5EF4-FFF2-40B4-BE49-F238E27FC236}">
                    <a16:creationId xmlns:a16="http://schemas.microsoft.com/office/drawing/2014/main" id="{ED4649C8-97D0-793B-D973-63B9588C8D57}"/>
                  </a:ext>
                </a:extLst>
              </p:cNvPr>
              <p:cNvSpPr txBox="1">
                <a:spLocks noRot="1" noChangeAspect="1" noMove="1" noResize="1" noEditPoints="1" noAdjustHandles="1" noChangeArrowheads="1" noChangeShapeType="1" noTextEdit="1"/>
              </p:cNvSpPr>
              <p:nvPr/>
            </p:nvSpPr>
            <p:spPr>
              <a:xfrm>
                <a:off x="583019" y="4819380"/>
                <a:ext cx="11199971" cy="1617815"/>
              </a:xfrm>
              <a:prstGeom prst="rect">
                <a:avLst/>
              </a:prstGeom>
              <a:blipFill>
                <a:blip r:embed="rId5"/>
                <a:stretch>
                  <a:fillRect/>
                </a:stretch>
              </a:blipFill>
              <a:ln w="28575">
                <a:solidFill>
                  <a:srgbClr val="E0700D"/>
                </a:solidFill>
              </a:ln>
            </p:spPr>
            <p:txBody>
              <a:bodyPr/>
              <a:lstStyle/>
              <a:p>
                <a:r>
                  <a:rPr lang="es-ES">
                    <a:noFill/>
                  </a:rPr>
                  <a:t> </a:t>
                </a:r>
              </a:p>
            </p:txBody>
          </p:sp>
        </mc:Fallback>
      </mc:AlternateContent>
      <p:sp>
        <p:nvSpPr>
          <p:cNvPr id="5" name="Rectángulo 4">
            <a:extLst>
              <a:ext uri="{FF2B5EF4-FFF2-40B4-BE49-F238E27FC236}">
                <a16:creationId xmlns:a16="http://schemas.microsoft.com/office/drawing/2014/main" id="{A0065779-FA07-79A3-959D-85192B0F35AB}"/>
              </a:ext>
            </a:extLst>
          </p:cNvPr>
          <p:cNvSpPr/>
          <p:nvPr/>
        </p:nvSpPr>
        <p:spPr>
          <a:xfrm>
            <a:off x="609441" y="1418373"/>
            <a:ext cx="53325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ángulo 6">
            <a:extLst>
              <a:ext uri="{FF2B5EF4-FFF2-40B4-BE49-F238E27FC236}">
                <a16:creationId xmlns:a16="http://schemas.microsoft.com/office/drawing/2014/main" id="{DD143A1E-54DE-4E0B-C607-E875A8C41D19}"/>
              </a:ext>
            </a:extLst>
          </p:cNvPr>
          <p:cNvSpPr/>
          <p:nvPr/>
        </p:nvSpPr>
        <p:spPr>
          <a:xfrm>
            <a:off x="6476841" y="1418373"/>
            <a:ext cx="53325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uadroTexto 8">
            <a:extLst>
              <a:ext uri="{FF2B5EF4-FFF2-40B4-BE49-F238E27FC236}">
                <a16:creationId xmlns:a16="http://schemas.microsoft.com/office/drawing/2014/main" id="{9DC9140D-3EAB-09C8-E28A-4AFA565F7F80}"/>
              </a:ext>
            </a:extLst>
          </p:cNvPr>
          <p:cNvSpPr txBox="1"/>
          <p:nvPr/>
        </p:nvSpPr>
        <p:spPr>
          <a:xfrm>
            <a:off x="609441" y="1069729"/>
            <a:ext cx="1447959" cy="369332"/>
          </a:xfrm>
          <a:prstGeom prst="rect">
            <a:avLst/>
          </a:prstGeom>
          <a:noFill/>
        </p:spPr>
        <p:txBody>
          <a:bodyPr wrap="square">
            <a:spAutoFit/>
          </a:bodyPr>
          <a:lstStyle/>
          <a:p>
            <a:r>
              <a:rPr lang="en-US" dirty="0"/>
              <a:t>slab = 150nm</a:t>
            </a:r>
            <a:endParaRPr lang="es-ES" dirty="0"/>
          </a:p>
        </p:txBody>
      </p:sp>
      <p:pic>
        <p:nvPicPr>
          <p:cNvPr id="6" name="Imagen 5" descr="Gráfico, Histograma&#10;&#10;El contenido generado por IA puede ser incorrecto.">
            <a:extLst>
              <a:ext uri="{FF2B5EF4-FFF2-40B4-BE49-F238E27FC236}">
                <a16:creationId xmlns:a16="http://schemas.microsoft.com/office/drawing/2014/main" id="{8CF22875-A714-89D0-83B7-0730E24CDFD7}"/>
              </a:ext>
            </a:extLst>
          </p:cNvPr>
          <p:cNvPicPr>
            <a:picLocks noChangeAspect="1"/>
          </p:cNvPicPr>
          <p:nvPr/>
        </p:nvPicPr>
        <p:blipFill>
          <a:blip r:embed="rId6"/>
          <a:stretch>
            <a:fillRect/>
          </a:stretch>
        </p:blipFill>
        <p:spPr>
          <a:xfrm>
            <a:off x="1159842" y="1558564"/>
            <a:ext cx="4231768" cy="3075628"/>
          </a:xfrm>
          <a:prstGeom prst="rect">
            <a:avLst/>
          </a:prstGeom>
        </p:spPr>
      </p:pic>
      <p:pic>
        <p:nvPicPr>
          <p:cNvPr id="11" name="Imagen 10" descr="Gráfico&#10;&#10;El contenido generado por IA puede ser incorrecto.">
            <a:extLst>
              <a:ext uri="{FF2B5EF4-FFF2-40B4-BE49-F238E27FC236}">
                <a16:creationId xmlns:a16="http://schemas.microsoft.com/office/drawing/2014/main" id="{D2D86B35-4FF6-F1E5-2DDC-A2A060CB8490}"/>
              </a:ext>
            </a:extLst>
          </p:cNvPr>
          <p:cNvPicPr>
            <a:picLocks noChangeAspect="1"/>
          </p:cNvPicPr>
          <p:nvPr/>
        </p:nvPicPr>
        <p:blipFill>
          <a:blip r:embed="rId7"/>
          <a:stretch>
            <a:fillRect/>
          </a:stretch>
        </p:blipFill>
        <p:spPr>
          <a:xfrm>
            <a:off x="6975997" y="1527005"/>
            <a:ext cx="4377803" cy="3172763"/>
          </a:xfrm>
          <a:prstGeom prst="rect">
            <a:avLst/>
          </a:prstGeom>
        </p:spPr>
      </p:pic>
    </p:spTree>
    <p:extLst>
      <p:ext uri="{BB962C8B-B14F-4D97-AF65-F5344CB8AC3E}">
        <p14:creationId xmlns:p14="http://schemas.microsoft.com/office/powerpoint/2010/main" val="6524720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98E2D-B48E-35D9-2E2C-A2E78BB13070}"/>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F2302DC3-538E-75E6-5809-894964AA8BB9}"/>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Wavelength behavior</a:t>
            </a:r>
            <a:br>
              <a:rPr lang="es-ES" sz="2500" spc="-5" dirty="0">
                <a:latin typeface="+mj-lt"/>
                <a:cs typeface="Lucida Sans"/>
              </a:rPr>
            </a:br>
            <a:r>
              <a:rPr lang="en-US" b="0" dirty="0"/>
              <a:t>Wavelength 1.5-1.6 µm (step 0.01 µm) – width 1.2 µm</a:t>
            </a:r>
            <a:endParaRPr sz="2500" b="0" dirty="0">
              <a:latin typeface="+mj-lt"/>
              <a:cs typeface="Lucida Sans"/>
            </a:endParaRPr>
          </a:p>
        </p:txBody>
      </p:sp>
      <p:pic>
        <p:nvPicPr>
          <p:cNvPr id="83" name="Gráfico 82">
            <a:extLst>
              <a:ext uri="{FF2B5EF4-FFF2-40B4-BE49-F238E27FC236}">
                <a16:creationId xmlns:a16="http://schemas.microsoft.com/office/drawing/2014/main" id="{817A9C1B-6F8B-4681-FEB7-B0716447D17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CCE47A5-1643-ECCD-636A-F95124617FF3}"/>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3" name="Marcador de pie de página 2">
            <a:extLst>
              <a:ext uri="{FF2B5EF4-FFF2-40B4-BE49-F238E27FC236}">
                <a16:creationId xmlns:a16="http://schemas.microsoft.com/office/drawing/2014/main" id="{3C313A28-AB3E-563E-986F-A82DC6DA49D1}"/>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41E9D699-58A5-0BFF-8FF3-859F008773D7}"/>
              </a:ext>
            </a:extLst>
          </p:cNvPr>
          <p:cNvSpPr txBox="1"/>
          <p:nvPr/>
        </p:nvSpPr>
        <p:spPr>
          <a:xfrm>
            <a:off x="480239" y="1676400"/>
            <a:ext cx="11199971" cy="1975541"/>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(neff changes this way with wavelength, comparison between different waveguide cross-sections …</a:t>
            </a:r>
            <a:r>
              <a:rPr lang="en-US" sz="1200" dirty="0" err="1">
                <a:latin typeface="Arial" panose="020B0604020202020204" pitchFamily="34" charset="0"/>
                <a:cs typeface="Arial" panose="020B0604020202020204" pitchFamily="34" charset="0"/>
              </a:rPr>
              <a:t>etc</a:t>
            </a:r>
            <a:r>
              <a:rPr lang="en-US" sz="1200" dirty="0">
                <a:latin typeface="Arial" panose="020B0604020202020204" pitchFamily="34" charset="0"/>
                <a:cs typeface="Arial" panose="020B0604020202020204" pitchFamily="34" charset="0"/>
              </a:rPr>
              <a:t>)</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En </a:t>
            </a:r>
            <a:r>
              <a:rPr lang="en-US" sz="1200" dirty="0" err="1">
                <a:latin typeface="Arial" panose="020B0604020202020204" pitchFamily="34" charset="0"/>
                <a:cs typeface="Arial" panose="020B0604020202020204" pitchFamily="34" charset="0"/>
              </a:rPr>
              <a:t>estas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primeras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figuras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estan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representadas</a:t>
            </a:r>
            <a:r>
              <a:rPr lang="en-US" sz="1200" dirty="0">
                <a:latin typeface="Arial" panose="020B0604020202020204" pitchFamily="34" charset="0"/>
                <a:cs typeface="Arial" panose="020B0604020202020204" pitchFamily="34" charset="0"/>
              </a:rPr>
              <a:t> las cross sections de la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shallow y la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deep, </a:t>
            </a:r>
            <a:r>
              <a:rPr lang="en-US" sz="1200" dirty="0" err="1">
                <a:latin typeface="Arial" panose="020B0604020202020204" pitchFamily="34" charset="0"/>
                <a:cs typeface="Arial" panose="020B0604020202020204" pitchFamily="34" charset="0"/>
              </a:rPr>
              <a:t>respectivamente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Vemos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la shallow </a:t>
            </a:r>
            <a:r>
              <a:rPr lang="en-US" sz="1200" dirty="0" err="1">
                <a:latin typeface="Arial" panose="020B0604020202020204" pitchFamily="34" charset="0"/>
                <a:cs typeface="Arial" panose="020B0604020202020204" pitchFamily="34" charset="0"/>
              </a:rPr>
              <a:t>está</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representada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su</a:t>
            </a:r>
            <a:r>
              <a:rPr lang="en-US" sz="1200" dirty="0">
                <a:latin typeface="Arial" panose="020B0604020202020204" pitchFamily="34" charset="0"/>
                <a:cs typeface="Arial" panose="020B0604020202020204" pitchFamily="34" charset="0"/>
              </a:rPr>
              <a:t> slab y </a:t>
            </a:r>
            <a:r>
              <a:rPr lang="en-US" sz="1200" dirty="0" err="1">
                <a:latin typeface="Arial" panose="020B0604020202020204" pitchFamily="34" charset="0"/>
                <a:cs typeface="Arial" panose="020B0604020202020204" pitchFamily="34" charset="0"/>
              </a:rPr>
              <a:t>tiene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mismo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índice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efectivo</a:t>
            </a:r>
            <a:r>
              <a:rPr lang="en-US" sz="1200" dirty="0">
                <a:latin typeface="Arial" panose="020B0604020202020204" pitchFamily="34" charset="0"/>
                <a:cs typeface="Arial" panose="020B0604020202020204" pitchFamily="34" charset="0"/>
              </a:rPr>
              <a:t>.</a:t>
            </a:r>
          </a:p>
          <a:p>
            <a:r>
              <a:rPr lang="es-ES" sz="1200" dirty="0">
                <a:latin typeface="Arial" panose="020B0604020202020204" pitchFamily="34" charset="0"/>
                <a:cs typeface="Arial" panose="020B0604020202020204" pitchFamily="34" charset="0"/>
              </a:rPr>
              <a:t>La diferencia principal entre los dos tipos de guía es que la </a:t>
            </a:r>
            <a:r>
              <a:rPr lang="es-ES" sz="1200" dirty="0" err="1">
                <a:latin typeface="Arial" panose="020B0604020202020204" pitchFamily="34" charset="0"/>
                <a:cs typeface="Arial" panose="020B0604020202020204" pitchFamily="34" charset="0"/>
              </a:rPr>
              <a:t>shallow</a:t>
            </a:r>
            <a:r>
              <a:rPr lang="es-ES" sz="1200" dirty="0">
                <a:latin typeface="Arial" panose="020B0604020202020204" pitchFamily="34" charset="0"/>
                <a:cs typeface="Arial" panose="020B0604020202020204" pitchFamily="34" charset="0"/>
              </a:rPr>
              <a:t> tiene una capa de </a:t>
            </a:r>
            <a:r>
              <a:rPr lang="es-ES" sz="1200" i="1" dirty="0" err="1">
                <a:latin typeface="Arial" panose="020B0604020202020204" pitchFamily="34" charset="0"/>
                <a:cs typeface="Arial" panose="020B0604020202020204" pitchFamily="34" charset="0"/>
              </a:rPr>
              <a:t>slab</a:t>
            </a:r>
            <a:r>
              <a:rPr lang="es-ES" sz="1200" dirty="0">
                <a:latin typeface="Arial" panose="020B0604020202020204" pitchFamily="34" charset="0"/>
                <a:cs typeface="Arial" panose="020B0604020202020204" pitchFamily="34" charset="0"/>
              </a:rPr>
              <a:t> (material de núcleo) fuera del </a:t>
            </a:r>
            <a:r>
              <a:rPr lang="es-ES" sz="1200" dirty="0" err="1">
                <a:latin typeface="Arial" panose="020B0604020202020204" pitchFamily="34" charset="0"/>
                <a:cs typeface="Arial" panose="020B0604020202020204" pitchFamily="34" charset="0"/>
              </a:rPr>
              <a:t>rib</a:t>
            </a:r>
            <a:r>
              <a:rPr lang="es-ES" sz="1200" dirty="0">
                <a:latin typeface="Arial" panose="020B0604020202020204" pitchFamily="34" charset="0"/>
                <a:cs typeface="Arial" panose="020B0604020202020204" pitchFamily="34" charset="0"/>
              </a:rPr>
              <a:t>, mientras que en la </a:t>
            </a:r>
            <a:r>
              <a:rPr lang="es-ES" sz="1200" dirty="0" err="1">
                <a:latin typeface="Arial" panose="020B0604020202020204" pitchFamily="34" charset="0"/>
                <a:cs typeface="Arial" panose="020B0604020202020204" pitchFamily="34" charset="0"/>
              </a:rPr>
              <a:t>deep</a:t>
            </a:r>
            <a:r>
              <a:rPr lang="es-ES" sz="1200" dirty="0">
                <a:latin typeface="Arial" panose="020B0604020202020204" pitchFamily="34" charset="0"/>
                <a:cs typeface="Arial" panose="020B0604020202020204" pitchFamily="34" charset="0"/>
              </a:rPr>
              <a:t> esa zona está completamente rodeada por la cubierta (</a:t>
            </a:r>
            <a:r>
              <a:rPr lang="es-ES" sz="1200" dirty="0" err="1">
                <a:latin typeface="Arial" panose="020B0604020202020204" pitchFamily="34" charset="0"/>
                <a:cs typeface="Arial" panose="020B0604020202020204" pitchFamily="34" charset="0"/>
              </a:rPr>
              <a:t>SiO</a:t>
            </a:r>
            <a:r>
              <a:rPr lang="es-ES" sz="1200" dirty="0">
                <a:latin typeface="Arial" panose="020B0604020202020204" pitchFamily="34" charset="0"/>
                <a:cs typeface="Arial" panose="020B0604020202020204" pitchFamily="34" charset="0"/>
              </a:rPr>
              <a:t>₂).</a:t>
            </a:r>
          </a:p>
          <a:p>
            <a:endParaRPr lang="es-ES" sz="1200" dirty="0">
              <a:latin typeface="Arial" panose="020B0604020202020204" pitchFamily="34" charset="0"/>
              <a:cs typeface="Arial" panose="020B0604020202020204" pitchFamily="34" charset="0"/>
            </a:endParaRPr>
          </a:p>
          <a:p>
            <a:r>
              <a:rPr lang="es-ES" sz="1200" dirty="0">
                <a:latin typeface="Arial" panose="020B0604020202020204" pitchFamily="34" charset="0"/>
                <a:cs typeface="Arial" panose="020B0604020202020204" pitchFamily="34" charset="0"/>
              </a:rPr>
              <a:t>Debido a esto, en la guía </a:t>
            </a:r>
            <a:r>
              <a:rPr lang="es-ES" sz="1200" dirty="0" err="1">
                <a:latin typeface="Arial" panose="020B0604020202020204" pitchFamily="34" charset="0"/>
                <a:cs typeface="Arial" panose="020B0604020202020204" pitchFamily="34" charset="0"/>
              </a:rPr>
              <a:t>shallow</a:t>
            </a:r>
            <a:r>
              <a:rPr lang="es-ES" sz="1200" dirty="0">
                <a:latin typeface="Arial" panose="020B0604020202020204" pitchFamily="34" charset="0"/>
                <a:cs typeface="Arial" panose="020B0604020202020204" pitchFamily="34" charset="0"/>
              </a:rPr>
              <a:t> el modo está más confinado en material de alto índice, ya que parte del campo también se propaga por el </a:t>
            </a:r>
            <a:r>
              <a:rPr lang="es-ES" sz="1200" dirty="0" err="1">
                <a:latin typeface="Arial" panose="020B0604020202020204" pitchFamily="34" charset="0"/>
                <a:cs typeface="Arial" panose="020B0604020202020204" pitchFamily="34" charset="0"/>
              </a:rPr>
              <a:t>slab</a:t>
            </a:r>
            <a:r>
              <a:rPr lang="es-ES" sz="1200" dirty="0">
                <a:latin typeface="Arial" panose="020B0604020202020204" pitchFamily="34" charset="0"/>
                <a:cs typeface="Arial" panose="020B0604020202020204" pitchFamily="34" charset="0"/>
              </a:rPr>
              <a:t>. Como el índice efectivo depende del material que “ve” el modo, al haber mayor fracción de campo en el núcleo, su valor es más alto.</a:t>
            </a:r>
          </a:p>
          <a:p>
            <a:r>
              <a:rPr lang="es-ES" sz="1200" dirty="0">
                <a:latin typeface="Arial" panose="020B0604020202020204" pitchFamily="34" charset="0"/>
                <a:cs typeface="Arial" panose="020B0604020202020204" pitchFamily="34" charset="0"/>
              </a:rPr>
              <a:t>En cambio, en la guía </a:t>
            </a:r>
            <a:r>
              <a:rPr lang="es-ES" sz="1200" dirty="0" err="1">
                <a:latin typeface="Arial" panose="020B0604020202020204" pitchFamily="34" charset="0"/>
                <a:cs typeface="Arial" panose="020B0604020202020204" pitchFamily="34" charset="0"/>
              </a:rPr>
              <a:t>deep</a:t>
            </a:r>
            <a:r>
              <a:rPr lang="es-ES" sz="1200" dirty="0">
                <a:latin typeface="Arial" panose="020B0604020202020204" pitchFamily="34" charset="0"/>
                <a:cs typeface="Arial" panose="020B0604020202020204" pitchFamily="34" charset="0"/>
              </a:rPr>
              <a:t> el campo se extiende más hacia la cubierta (índice menor), lo que reduce el confinamiento y hace que el índice efectivo sea más bajo.</a:t>
            </a:r>
          </a:p>
        </p:txBody>
      </p:sp>
      <p:sp>
        <p:nvSpPr>
          <p:cNvPr id="9" name="CuadroTexto 8">
            <a:extLst>
              <a:ext uri="{FF2B5EF4-FFF2-40B4-BE49-F238E27FC236}">
                <a16:creationId xmlns:a16="http://schemas.microsoft.com/office/drawing/2014/main" id="{B4201CD7-8169-0945-0077-2947BAEE7DF7}"/>
              </a:ext>
            </a:extLst>
          </p:cNvPr>
          <p:cNvSpPr txBox="1"/>
          <p:nvPr/>
        </p:nvSpPr>
        <p:spPr>
          <a:xfrm>
            <a:off x="609441" y="1069729"/>
            <a:ext cx="1447959" cy="369332"/>
          </a:xfrm>
          <a:prstGeom prst="rect">
            <a:avLst/>
          </a:prstGeom>
          <a:noFill/>
        </p:spPr>
        <p:txBody>
          <a:bodyPr wrap="square">
            <a:spAutoFit/>
          </a:bodyPr>
          <a:lstStyle/>
          <a:p>
            <a:r>
              <a:rPr lang="en-US" dirty="0"/>
              <a:t>slab = 150nm</a:t>
            </a:r>
            <a:endParaRPr lang="es-ES" dirty="0"/>
          </a:p>
        </p:txBody>
      </p:sp>
    </p:spTree>
    <p:extLst>
      <p:ext uri="{BB962C8B-B14F-4D97-AF65-F5344CB8AC3E}">
        <p14:creationId xmlns:p14="http://schemas.microsoft.com/office/powerpoint/2010/main" val="11306592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Wavelength behavior</a:t>
            </a:r>
            <a:br>
              <a:rPr lang="es-ES" sz="2500" spc="-5" dirty="0">
                <a:latin typeface="+mj-lt"/>
                <a:cs typeface="Lucida Sans"/>
              </a:rPr>
            </a:br>
            <a:r>
              <a:rPr lang="en-US" b="0" dirty="0"/>
              <a:t>Wavelength 1.5-1.6 µm (step 0.01 µm) – width 1.2 µm</a:t>
            </a:r>
            <a:endParaRPr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5" name="Rectángulo 4">
            <a:extLst>
              <a:ext uri="{FF2B5EF4-FFF2-40B4-BE49-F238E27FC236}">
                <a16:creationId xmlns:a16="http://schemas.microsoft.com/office/drawing/2014/main" id="{88F19863-7091-B8CA-F848-DBEA5CEEA027}"/>
              </a:ext>
            </a:extLst>
          </p:cNvPr>
          <p:cNvSpPr/>
          <p:nvPr/>
        </p:nvSpPr>
        <p:spPr>
          <a:xfrm>
            <a:off x="609441" y="1418373"/>
            <a:ext cx="53325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ángulo 6">
            <a:extLst>
              <a:ext uri="{FF2B5EF4-FFF2-40B4-BE49-F238E27FC236}">
                <a16:creationId xmlns:a16="http://schemas.microsoft.com/office/drawing/2014/main" id="{21F754A5-65BC-14A3-5F55-75716FFA9027}"/>
              </a:ext>
            </a:extLst>
          </p:cNvPr>
          <p:cNvSpPr/>
          <p:nvPr/>
        </p:nvSpPr>
        <p:spPr>
          <a:xfrm>
            <a:off x="6476841" y="1418373"/>
            <a:ext cx="53325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uadroTexto 8">
            <a:extLst>
              <a:ext uri="{FF2B5EF4-FFF2-40B4-BE49-F238E27FC236}">
                <a16:creationId xmlns:a16="http://schemas.microsoft.com/office/drawing/2014/main" id="{8BD4C233-B5D9-B6AA-93A8-CF2F130CFF9C}"/>
              </a:ext>
            </a:extLst>
          </p:cNvPr>
          <p:cNvSpPr txBox="1"/>
          <p:nvPr/>
        </p:nvSpPr>
        <p:spPr>
          <a:xfrm>
            <a:off x="542887" y="5045798"/>
            <a:ext cx="3267113" cy="369332"/>
          </a:xfrm>
          <a:prstGeom prst="rect">
            <a:avLst/>
          </a:prstGeom>
          <a:noFill/>
        </p:spPr>
        <p:txBody>
          <a:bodyPr wrap="square">
            <a:spAutoFit/>
          </a:bodyPr>
          <a:lstStyle/>
          <a:p>
            <a:r>
              <a:rPr lang="en-US" dirty="0" err="1"/>
              <a:t>slab_thickness</a:t>
            </a:r>
            <a:r>
              <a:rPr lang="en-US" dirty="0"/>
              <a:t> = 150nm</a:t>
            </a:r>
            <a:endParaRPr lang="es-ES" dirty="0"/>
          </a:p>
        </p:txBody>
      </p:sp>
      <p:pic>
        <p:nvPicPr>
          <p:cNvPr id="10" name="Imagen 9" descr="Gráfico&#10;&#10;El contenido generado por IA puede ser incorrecto.">
            <a:extLst>
              <a:ext uri="{FF2B5EF4-FFF2-40B4-BE49-F238E27FC236}">
                <a16:creationId xmlns:a16="http://schemas.microsoft.com/office/drawing/2014/main" id="{0E2661E7-F8B1-FC85-20AA-858D01336D29}"/>
              </a:ext>
            </a:extLst>
          </p:cNvPr>
          <p:cNvPicPr>
            <a:picLocks noChangeAspect="1"/>
          </p:cNvPicPr>
          <p:nvPr/>
        </p:nvPicPr>
        <p:blipFill>
          <a:blip r:embed="rId5"/>
          <a:srcRect b="2187"/>
          <a:stretch>
            <a:fillRect/>
          </a:stretch>
        </p:blipFill>
        <p:spPr>
          <a:xfrm>
            <a:off x="6550910" y="1508141"/>
            <a:ext cx="5258502" cy="3010670"/>
          </a:xfrm>
          <a:prstGeom prst="rect">
            <a:avLst/>
          </a:prstGeom>
        </p:spPr>
      </p:pic>
      <p:pic>
        <p:nvPicPr>
          <p:cNvPr id="12" name="Imagen 11" descr="Gráfico&#10;&#10;El contenido generado por IA puede ser incorrecto.">
            <a:extLst>
              <a:ext uri="{FF2B5EF4-FFF2-40B4-BE49-F238E27FC236}">
                <a16:creationId xmlns:a16="http://schemas.microsoft.com/office/drawing/2014/main" id="{D207EA98-5B09-BC58-0A08-FC2F68FB5952}"/>
              </a:ext>
            </a:extLst>
          </p:cNvPr>
          <p:cNvPicPr>
            <a:picLocks noChangeAspect="1"/>
          </p:cNvPicPr>
          <p:nvPr/>
        </p:nvPicPr>
        <p:blipFill>
          <a:blip r:embed="rId6"/>
          <a:stretch>
            <a:fillRect/>
          </a:stretch>
        </p:blipFill>
        <p:spPr>
          <a:xfrm>
            <a:off x="664029" y="1573281"/>
            <a:ext cx="5143103" cy="2996211"/>
          </a:xfrm>
          <a:prstGeom prst="rect">
            <a:avLst/>
          </a:prstGeom>
        </p:spPr>
      </p:pic>
    </p:spTree>
    <p:extLst>
      <p:ext uri="{BB962C8B-B14F-4D97-AF65-F5344CB8AC3E}">
        <p14:creationId xmlns:p14="http://schemas.microsoft.com/office/powerpoint/2010/main" val="37123560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AE487D-A41E-9467-90C4-9B4FFD31689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B639599-FD86-26FE-4494-F92E30A0B3A0}"/>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Wavelength behavior</a:t>
            </a:r>
            <a:br>
              <a:rPr lang="es-ES" sz="2500" spc="-5" dirty="0">
                <a:latin typeface="+mj-lt"/>
                <a:cs typeface="Lucida Sans"/>
              </a:rPr>
            </a:br>
            <a:r>
              <a:rPr lang="en-US" b="0" dirty="0"/>
              <a:t>Wavelength 1.5-1.6 µm (step 0.01 µm) – width 1.2 µm</a:t>
            </a:r>
            <a:endParaRPr sz="2500" b="0" dirty="0">
              <a:latin typeface="+mj-lt"/>
              <a:cs typeface="Lucida Sans"/>
            </a:endParaRPr>
          </a:p>
        </p:txBody>
      </p:sp>
      <p:pic>
        <p:nvPicPr>
          <p:cNvPr id="83" name="Gráfico 82">
            <a:extLst>
              <a:ext uri="{FF2B5EF4-FFF2-40B4-BE49-F238E27FC236}">
                <a16:creationId xmlns:a16="http://schemas.microsoft.com/office/drawing/2014/main" id="{6E7E29A8-0A3F-E680-4995-0B73838555B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B2E448D-F90B-316C-9A22-37B89D747027}"/>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3" name="Marcador de pie de página 2">
            <a:extLst>
              <a:ext uri="{FF2B5EF4-FFF2-40B4-BE49-F238E27FC236}">
                <a16:creationId xmlns:a16="http://schemas.microsoft.com/office/drawing/2014/main" id="{5F50A87A-25D7-AC78-2D3C-65977DD80EED}"/>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6D243C48-D0CB-2131-C493-8E5DFCAD1557}"/>
              </a:ext>
            </a:extLst>
          </p:cNvPr>
          <p:cNvSpPr txBox="1"/>
          <p:nvPr/>
        </p:nvSpPr>
        <p:spPr>
          <a:xfrm>
            <a:off x="685798" y="2183808"/>
            <a:ext cx="11199971" cy="2677656"/>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En primer </a:t>
            </a:r>
            <a:r>
              <a:rPr lang="en-US" sz="1200" dirty="0" err="1">
                <a:latin typeface="Arial" panose="020B0604020202020204" pitchFamily="34" charset="0"/>
                <a:cs typeface="Arial" panose="020B0604020202020204" pitchFamily="34" charset="0"/>
              </a:rPr>
              <a:t>lugar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podemos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ver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como</a:t>
            </a:r>
            <a:r>
              <a:rPr lang="en-US" sz="1200" dirty="0">
                <a:latin typeface="Arial" panose="020B0604020202020204" pitchFamily="34" charset="0"/>
                <a:cs typeface="Arial" panose="020B0604020202020204" pitchFamily="34" charset="0"/>
              </a:rPr>
              <a:t> para la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deep </a:t>
            </a:r>
            <a:r>
              <a:rPr lang="en-US" sz="1200" dirty="0" err="1">
                <a:latin typeface="Arial" panose="020B0604020202020204" pitchFamily="34" charset="0"/>
                <a:cs typeface="Arial" panose="020B0604020202020204" pitchFamily="34" charset="0"/>
              </a:rPr>
              <a:t>solamente</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propaga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modo 0 y 1, </a:t>
            </a:r>
            <a:r>
              <a:rPr lang="en-US" sz="1200" dirty="0" err="1">
                <a:latin typeface="Arial" panose="020B0604020202020204" pitchFamily="34" charset="0"/>
                <a:cs typeface="Arial" panose="020B0604020202020204" pitchFamily="34" charset="0"/>
              </a:rPr>
              <a:t>mientras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por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otro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lado</a:t>
            </a:r>
            <a:r>
              <a:rPr lang="en-US" sz="1200" dirty="0">
                <a:latin typeface="Arial" panose="020B0604020202020204" pitchFamily="34" charset="0"/>
                <a:cs typeface="Arial" panose="020B0604020202020204" pitchFamily="34" charset="0"/>
              </a:rPr>
              <a:t>, para la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shallow se </a:t>
            </a:r>
            <a:r>
              <a:rPr lang="en-US" sz="1200" dirty="0" err="1">
                <a:latin typeface="Arial" panose="020B0604020202020204" pitchFamily="34" charset="0"/>
                <a:cs typeface="Arial" panose="020B0604020202020204" pitchFamily="34" charset="0"/>
              </a:rPr>
              <a:t>propagan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todas</a:t>
            </a:r>
            <a:r>
              <a:rPr lang="en-US" sz="1200" dirty="0">
                <a:latin typeface="Arial" panose="020B0604020202020204" pitchFamily="34" charset="0"/>
                <a:cs typeface="Arial" panose="020B0604020202020204" pitchFamily="34" charset="0"/>
              </a:rPr>
              <a:t>. </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Para </a:t>
            </a:r>
            <a:r>
              <a:rPr lang="en-US" sz="1200" dirty="0" err="1">
                <a:latin typeface="Arial" panose="020B0604020202020204" pitchFamily="34" charset="0"/>
                <a:cs typeface="Arial" panose="020B0604020202020204" pitchFamily="34" charset="0"/>
              </a:rPr>
              <a:t>entender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esto</a:t>
            </a:r>
            <a:r>
              <a:rPr lang="en-US" sz="1200" dirty="0">
                <a:latin typeface="Arial" panose="020B0604020202020204" pitchFamily="34" charset="0"/>
                <a:cs typeface="Arial" panose="020B0604020202020204" pitchFamily="34" charset="0"/>
              </a:rPr>
              <a:t>, es </a:t>
            </a:r>
            <a:r>
              <a:rPr lang="en-US" sz="1200" dirty="0" err="1">
                <a:latin typeface="Arial" panose="020B0604020202020204" pitchFamily="34" charset="0"/>
                <a:cs typeface="Arial" panose="020B0604020202020204" pitchFamily="34" charset="0"/>
              </a:rPr>
              <a:t>necesario</a:t>
            </a:r>
            <a:r>
              <a:rPr lang="en-US" sz="1200" dirty="0">
                <a:latin typeface="Arial" panose="020B0604020202020204" pitchFamily="34" charset="0"/>
                <a:cs typeface="Arial" panose="020B0604020202020204" pitchFamily="34" charset="0"/>
              </a:rPr>
              <a:t> saber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para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considere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un modo se </a:t>
            </a:r>
            <a:r>
              <a:rPr lang="en-US" sz="1200" dirty="0" err="1">
                <a:latin typeface="Arial" panose="020B0604020202020204" pitchFamily="34" charset="0"/>
                <a:cs typeface="Arial" panose="020B0604020202020204" pitchFamily="34" charset="0"/>
              </a:rPr>
              <a:t>está</a:t>
            </a:r>
            <a:r>
              <a:rPr lang="en-US" sz="1200" dirty="0">
                <a:latin typeface="Arial" panose="020B0604020202020204" pitchFamily="34" charset="0"/>
                <a:cs typeface="Arial" panose="020B0604020202020204" pitchFamily="34" charset="0"/>
              </a:rPr>
              <a:t> propaganda, </a:t>
            </a:r>
            <a:r>
              <a:rPr lang="en-US" sz="1200" dirty="0" err="1">
                <a:latin typeface="Arial" panose="020B0604020202020204" pitchFamily="34" charset="0"/>
                <a:cs typeface="Arial" panose="020B0604020202020204" pitchFamily="34" charset="0"/>
              </a:rPr>
              <a:t>su</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índice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efectivo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tiene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ser </a:t>
            </a:r>
            <a:r>
              <a:rPr lang="en-US" sz="1200" dirty="0" err="1">
                <a:latin typeface="Arial" panose="020B0604020202020204" pitchFamily="34" charset="0"/>
                <a:cs typeface="Arial" panose="020B0604020202020204" pitchFamily="34" charset="0"/>
              </a:rPr>
              <a:t>menor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del </a:t>
            </a:r>
            <a:r>
              <a:rPr lang="en-US" sz="1200" dirty="0" err="1">
                <a:latin typeface="Arial" panose="020B0604020202020204" pitchFamily="34" charset="0"/>
                <a:cs typeface="Arial" panose="020B0604020202020204" pitchFamily="34" charset="0"/>
              </a:rPr>
              <a:t>núcleo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caso</a:t>
            </a:r>
            <a:r>
              <a:rPr lang="en-US" sz="1200" dirty="0">
                <a:latin typeface="Arial" panose="020B0604020202020204" pitchFamily="34" charset="0"/>
                <a:cs typeface="Arial" panose="020B0604020202020204" pitchFamily="34" charset="0"/>
              </a:rPr>
              <a:t> 2), y mayor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de la </a:t>
            </a:r>
            <a:r>
              <a:rPr lang="en-US" sz="1200" dirty="0" err="1">
                <a:latin typeface="Arial" panose="020B0604020202020204" pitchFamily="34" charset="0"/>
                <a:cs typeface="Arial" panose="020B0604020202020204" pitchFamily="34" charset="0"/>
              </a:rPr>
              <a:t>cubierta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caso</a:t>
            </a:r>
            <a:r>
              <a:rPr lang="en-US" sz="1200" dirty="0">
                <a:latin typeface="Arial" panose="020B0604020202020204" pitchFamily="34" charset="0"/>
                <a:cs typeface="Arial" panose="020B0604020202020204" pitchFamily="34" charset="0"/>
              </a:rPr>
              <a:t> 1.55). </a:t>
            </a:r>
            <a:r>
              <a:rPr lang="en-US" sz="1200" dirty="0" err="1">
                <a:latin typeface="Arial" panose="020B0604020202020204" pitchFamily="34" charset="0"/>
                <a:cs typeface="Arial" panose="020B0604020202020204" pitchFamily="34" charset="0"/>
              </a:rPr>
              <a:t>Además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hemos</a:t>
            </a:r>
            <a:r>
              <a:rPr lang="en-US" sz="1200" dirty="0">
                <a:latin typeface="Arial" panose="020B0604020202020204" pitchFamily="34" charset="0"/>
                <a:cs typeface="Arial" panose="020B0604020202020204" pitchFamily="34" charset="0"/>
              </a:rPr>
              <a:t> visto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las </a:t>
            </a:r>
            <a:r>
              <a:rPr lang="en-US" sz="1200" dirty="0" err="1">
                <a:latin typeface="Arial" panose="020B0604020202020204" pitchFamily="34" charset="0"/>
                <a:cs typeface="Arial" panose="020B0604020202020204" pitchFamily="34" charset="0"/>
              </a:rPr>
              <a:t>figuras</a:t>
            </a:r>
            <a:r>
              <a:rPr lang="en-US" sz="1200" dirty="0">
                <a:latin typeface="Arial" panose="020B0604020202020204" pitchFamily="34" charset="0"/>
                <a:cs typeface="Arial" panose="020B0604020202020204" pitchFamily="34" charset="0"/>
              </a:rPr>
              <a:t> de las cross sections, la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shallow, al </a:t>
            </a:r>
            <a:r>
              <a:rPr lang="en-US" sz="1200" dirty="0" err="1">
                <a:latin typeface="Arial" panose="020B0604020202020204" pitchFamily="34" charset="0"/>
                <a:cs typeface="Arial" panose="020B0604020202020204" pitchFamily="34" charset="0"/>
              </a:rPr>
              <a:t>tener</a:t>
            </a:r>
            <a:r>
              <a:rPr lang="en-US" sz="1200" dirty="0">
                <a:latin typeface="Arial" panose="020B0604020202020204" pitchFamily="34" charset="0"/>
                <a:cs typeface="Arial" panose="020B0604020202020204" pitchFamily="34" charset="0"/>
              </a:rPr>
              <a:t> un slab  </a:t>
            </a:r>
            <a:r>
              <a:rPr lang="en-US" sz="1200" dirty="0" err="1">
                <a:latin typeface="Arial" panose="020B0604020202020204" pitchFamily="34" charset="0"/>
                <a:cs typeface="Arial" panose="020B0604020202020204" pitchFamily="34" charset="0"/>
              </a:rPr>
              <a:t>hace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su</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indice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efectivo</a:t>
            </a:r>
            <a:r>
              <a:rPr lang="en-US" sz="1200" dirty="0">
                <a:latin typeface="Arial" panose="020B0604020202020204" pitchFamily="34" charset="0"/>
                <a:cs typeface="Arial" panose="020B0604020202020204" pitchFamily="34" charset="0"/>
              </a:rPr>
              <a:t> sea mayor para </a:t>
            </a:r>
            <a:r>
              <a:rPr lang="en-US" sz="1200" dirty="0" err="1">
                <a:latin typeface="Arial" panose="020B0604020202020204" pitchFamily="34" charset="0"/>
                <a:cs typeface="Arial" panose="020B0604020202020204" pitchFamily="34" charset="0"/>
              </a:rPr>
              <a:t>todos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modos</a:t>
            </a:r>
            <a:r>
              <a:rPr lang="en-US" sz="1200" dirty="0">
                <a:latin typeface="Arial" panose="020B0604020202020204" pitchFamily="34" charset="0"/>
                <a:cs typeface="Arial" panose="020B0604020202020204" pitchFamily="34" charset="0"/>
              </a:rPr>
              <a:t>, al </a:t>
            </a:r>
            <a:r>
              <a:rPr lang="en-US" sz="1200" dirty="0" err="1">
                <a:latin typeface="Arial" panose="020B0604020202020204" pitchFamily="34" charset="0"/>
                <a:cs typeface="Arial" panose="020B0604020202020204" pitchFamily="34" charset="0"/>
              </a:rPr>
              <a:t>estar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mejor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confinado</a:t>
            </a:r>
            <a:r>
              <a:rPr lang="en-US" sz="1200" dirty="0">
                <a:latin typeface="Arial" panose="020B0604020202020204" pitchFamily="34" charset="0"/>
                <a:cs typeface="Arial" panose="020B0604020202020204" pitchFamily="34" charset="0"/>
              </a:rPr>
              <a:t>. Por </a:t>
            </a:r>
            <a:r>
              <a:rPr lang="en-US" sz="1200" dirty="0" err="1">
                <a:latin typeface="Arial" panose="020B0604020202020204" pitchFamily="34" charset="0"/>
                <a:cs typeface="Arial" panose="020B0604020202020204" pitchFamily="34" charset="0"/>
              </a:rPr>
              <a:t>otro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lado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la deep al no </a:t>
            </a:r>
            <a:r>
              <a:rPr lang="en-US" sz="1200" dirty="0" err="1">
                <a:latin typeface="Arial" panose="020B0604020202020204" pitchFamily="34" charset="0"/>
                <a:cs typeface="Arial" panose="020B0604020202020204" pitchFamily="34" charset="0"/>
              </a:rPr>
              <a:t>tener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este</a:t>
            </a:r>
            <a:r>
              <a:rPr lang="en-US" sz="1200" dirty="0">
                <a:latin typeface="Arial" panose="020B0604020202020204" pitchFamily="34" charset="0"/>
                <a:cs typeface="Arial" panose="020B0604020202020204" pitchFamily="34" charset="0"/>
              </a:rPr>
              <a:t> material, lo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hay </a:t>
            </a:r>
            <a:r>
              <a:rPr lang="en-US" sz="1200" dirty="0" err="1">
                <a:latin typeface="Arial" panose="020B0604020202020204" pitchFamily="34" charset="0"/>
                <a:cs typeface="Arial" panose="020B0604020202020204" pitchFamily="34" charset="0"/>
              </a:rPr>
              <a:t>despues</a:t>
            </a:r>
            <a:r>
              <a:rPr lang="en-US" sz="1200" dirty="0">
                <a:latin typeface="Arial" panose="020B0604020202020204" pitchFamily="34" charset="0"/>
                <a:cs typeface="Arial" panose="020B0604020202020204" pitchFamily="34" charset="0"/>
              </a:rPr>
              <a:t> del </a:t>
            </a:r>
            <a:r>
              <a:rPr lang="en-US" sz="1200" dirty="0" err="1">
                <a:latin typeface="Arial" panose="020B0604020202020204" pitchFamily="34" charset="0"/>
                <a:cs typeface="Arial" panose="020B0604020202020204" pitchFamily="34" charset="0"/>
              </a:rPr>
              <a:t>nucleo</a:t>
            </a:r>
            <a:r>
              <a:rPr lang="en-US" sz="1200" dirty="0">
                <a:latin typeface="Arial" panose="020B0604020202020204" pitchFamily="34" charset="0"/>
                <a:cs typeface="Arial" panose="020B0604020202020204" pitchFamily="34" charset="0"/>
              </a:rPr>
              <a:t> es material de Si02, </a:t>
            </a:r>
            <a:r>
              <a:rPr lang="en-US" sz="1200" dirty="0" err="1">
                <a:latin typeface="Arial" panose="020B0604020202020204" pitchFamily="34" charset="0"/>
                <a:cs typeface="Arial" panose="020B0604020202020204" pitchFamily="34" charset="0"/>
              </a:rPr>
              <a:t>por</a:t>
            </a:r>
            <a:r>
              <a:rPr lang="en-US" sz="1200" dirty="0">
                <a:latin typeface="Arial" panose="020B0604020202020204" pitchFamily="34" charset="0"/>
                <a:cs typeface="Arial" panose="020B0604020202020204" pitchFamily="34" charset="0"/>
              </a:rPr>
              <a:t> lo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su</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indice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efectivo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disminuye</a:t>
            </a:r>
            <a:r>
              <a:rPr lang="en-US" sz="1200" dirty="0">
                <a:latin typeface="Arial" panose="020B0604020202020204" pitchFamily="34" charset="0"/>
                <a:cs typeface="Arial" panose="020B0604020202020204" pitchFamily="34" charset="0"/>
              </a:rPr>
              <a:t> mas </a:t>
            </a:r>
            <a:r>
              <a:rPr lang="en-US" sz="1200" dirty="0" err="1">
                <a:latin typeface="Arial" panose="020B0604020202020204" pitchFamily="34" charset="0"/>
                <a:cs typeface="Arial" panose="020B0604020202020204" pitchFamily="34" charset="0"/>
              </a:rPr>
              <a:t>rapidamente</a:t>
            </a:r>
            <a:r>
              <a:rPr lang="en-US" sz="1200" dirty="0">
                <a:latin typeface="Arial" panose="020B0604020202020204" pitchFamily="34" charset="0"/>
                <a:cs typeface="Arial" panose="020B0604020202020204" pitchFamily="34" charset="0"/>
              </a:rPr>
              <a:t>, lo </a:t>
            </a:r>
            <a:r>
              <a:rPr lang="en-US" sz="1200" dirty="0" err="1">
                <a:latin typeface="Arial" panose="020B0604020202020204" pitchFamily="34" charset="0"/>
                <a:cs typeface="Arial" panose="020B0604020202020204" pitchFamily="34" charset="0"/>
              </a:rPr>
              <a:t>cual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por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consiguiente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hace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esté</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menos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confinado</a:t>
            </a:r>
            <a:r>
              <a:rPr lang="en-US" sz="1200" dirty="0">
                <a:latin typeface="Arial" panose="020B0604020202020204" pitchFamily="34" charset="0"/>
                <a:cs typeface="Arial" panose="020B0604020202020204" pitchFamily="34" charset="0"/>
              </a:rPr>
              <a:t>. </a:t>
            </a:r>
          </a:p>
          <a:p>
            <a:pPr algn="just"/>
            <a:endParaRPr lang="en-U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Además, en las gráficas se observa que el índice efectivo disminuye ligeramente al aumentar la longitud de onda para todos los modos y en ambas guías. Esto se debe a que, a mayores longitudes de onda, el modo se desconfina más y parte del campo se extiende hacia la cubierta, reduciendo su valor.</a:t>
            </a:r>
          </a:p>
          <a:p>
            <a:pPr algn="just"/>
            <a:endParaRPr lang="es-E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Cabe </a:t>
            </a:r>
            <a:r>
              <a:rPr lang="en-US" sz="1200" dirty="0" err="1">
                <a:latin typeface="Arial" panose="020B0604020202020204" pitchFamily="34" charset="0"/>
                <a:cs typeface="Arial" panose="020B0604020202020204" pitchFamily="34" charset="0"/>
              </a:rPr>
              <a:t>mencionar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tambien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propaguen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todos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modos</a:t>
            </a:r>
            <a:r>
              <a:rPr lang="en-US" sz="1200" dirty="0">
                <a:latin typeface="Arial" panose="020B0604020202020204" pitchFamily="34" charset="0"/>
                <a:cs typeface="Arial" panose="020B0604020202020204" pitchFamily="34" charset="0"/>
              </a:rPr>
              <a:t> no es </a:t>
            </a:r>
            <a:r>
              <a:rPr lang="en-US" sz="1200" dirty="0" err="1">
                <a:latin typeface="Arial" panose="020B0604020202020204" pitchFamily="34" charset="0"/>
                <a:cs typeface="Arial" panose="020B0604020202020204" pitchFamily="34" charset="0"/>
              </a:rPr>
              <a:t>tampoco</a:t>
            </a:r>
            <a:r>
              <a:rPr lang="en-US" sz="1200" dirty="0">
                <a:latin typeface="Arial" panose="020B0604020202020204" pitchFamily="34" charset="0"/>
                <a:cs typeface="Arial" panose="020B0604020202020204" pitchFamily="34" charset="0"/>
              </a:rPr>
              <a:t> bueno, </a:t>
            </a:r>
            <a:r>
              <a:rPr lang="en-US" sz="1200" dirty="0" err="1">
                <a:latin typeface="Arial" panose="020B0604020202020204" pitchFamily="34" charset="0"/>
                <a:cs typeface="Arial" panose="020B0604020202020204" pitchFamily="34" charset="0"/>
              </a:rPr>
              <a:t>ya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normalmente</a:t>
            </a:r>
            <a:r>
              <a:rPr lang="en-US" sz="1200" dirty="0">
                <a:latin typeface="Arial" panose="020B0604020202020204" pitchFamily="34" charset="0"/>
                <a:cs typeface="Arial" panose="020B0604020202020204" pitchFamily="34" charset="0"/>
              </a:rPr>
              <a:t> solo </a:t>
            </a:r>
            <a:r>
              <a:rPr lang="en-US" sz="1200" dirty="0" err="1">
                <a:latin typeface="Arial" panose="020B0604020202020204" pitchFamily="34" charset="0"/>
                <a:cs typeface="Arial" panose="020B0604020202020204" pitchFamily="34" charset="0"/>
              </a:rPr>
              <a:t>deseamos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propague</a:t>
            </a:r>
            <a:r>
              <a:rPr lang="en-US" sz="1200" dirty="0">
                <a:latin typeface="Arial" panose="020B0604020202020204" pitchFamily="34" charset="0"/>
                <a:cs typeface="Arial" panose="020B0604020202020204" pitchFamily="34" charset="0"/>
              </a:rPr>
              <a:t> uno,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hecho</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propaguen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distintos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modos</a:t>
            </a:r>
            <a:r>
              <a:rPr lang="en-US" sz="1200" dirty="0">
                <a:latin typeface="Arial" panose="020B0604020202020204" pitchFamily="34" charset="0"/>
                <a:cs typeface="Arial" panose="020B0604020202020204" pitchFamily="34" charset="0"/>
              </a:rPr>
              <a:t> a la </a:t>
            </a:r>
            <a:r>
              <a:rPr lang="en-US" sz="1200" dirty="0" err="1">
                <a:latin typeface="Arial" panose="020B0604020202020204" pitchFamily="34" charset="0"/>
                <a:cs typeface="Arial" panose="020B0604020202020204" pitchFamily="34" charset="0"/>
              </a:rPr>
              <a:t>vez</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puede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conllevar</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veces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interferencias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intermodales</a:t>
            </a:r>
            <a:r>
              <a:rPr lang="en-US" sz="1200" dirty="0">
                <a:latin typeface="Arial" panose="020B0604020202020204" pitchFamily="34" charset="0"/>
                <a:cs typeface="Arial" panose="020B0604020202020204" pitchFamily="34" charset="0"/>
              </a:rPr>
              <a:t>.</a:t>
            </a:r>
          </a:p>
          <a:p>
            <a:pPr algn="just"/>
            <a:endParaRPr lang="en-US" sz="1200" dirty="0">
              <a:latin typeface="Arial" panose="020B0604020202020204" pitchFamily="34" charset="0"/>
              <a:cs typeface="Arial" panose="020B0604020202020204" pitchFamily="34" charset="0"/>
            </a:endParaRPr>
          </a:p>
        </p:txBody>
      </p:sp>
      <p:sp>
        <p:nvSpPr>
          <p:cNvPr id="6" name="CuadroTexto 5">
            <a:extLst>
              <a:ext uri="{FF2B5EF4-FFF2-40B4-BE49-F238E27FC236}">
                <a16:creationId xmlns:a16="http://schemas.microsoft.com/office/drawing/2014/main" id="{83CA6113-EDE4-221A-895C-6660C9379186}"/>
              </a:ext>
            </a:extLst>
          </p:cNvPr>
          <p:cNvSpPr txBox="1"/>
          <p:nvPr/>
        </p:nvSpPr>
        <p:spPr>
          <a:xfrm>
            <a:off x="583019" y="1325840"/>
            <a:ext cx="11199971" cy="646331"/>
          </a:xfrm>
          <a:prstGeom prst="rect">
            <a:avLst/>
          </a:prstGeom>
          <a:noFill/>
        </p:spPr>
        <p:txBody>
          <a:bodyPr wrap="square">
            <a:spAutoFit/>
          </a:bodyPr>
          <a:lstStyle/>
          <a:p>
            <a:pPr algn="just"/>
            <a:r>
              <a:rPr lang="en-US" sz="1800" i="1" dirty="0">
                <a:latin typeface="Arial" panose="020B0604020202020204" pitchFamily="34" charset="0"/>
                <a:cs typeface="Arial" panose="020B0604020202020204" pitchFamily="34" charset="0"/>
              </a:rPr>
              <a:t>Comment results (</a:t>
            </a:r>
            <a:r>
              <a:rPr lang="en-US" sz="1800" i="1" dirty="0" err="1">
                <a:latin typeface="Arial" panose="020B0604020202020204" pitchFamily="34" charset="0"/>
                <a:cs typeface="Arial" panose="020B0604020202020204" pitchFamily="34" charset="0"/>
              </a:rPr>
              <a:t>neff</a:t>
            </a:r>
            <a:r>
              <a:rPr lang="en-US" sz="1800" i="1" dirty="0">
                <a:latin typeface="Arial" panose="020B0604020202020204" pitchFamily="34" charset="0"/>
                <a:cs typeface="Arial" panose="020B0604020202020204" pitchFamily="34" charset="0"/>
              </a:rPr>
              <a:t> changes this way with wavelength, comparison between different waveguide </a:t>
            </a:r>
          </a:p>
          <a:p>
            <a:pPr algn="just"/>
            <a:r>
              <a:rPr lang="en-US" sz="1800" i="1" dirty="0">
                <a:latin typeface="Arial" panose="020B0604020202020204" pitchFamily="34" charset="0"/>
                <a:cs typeface="Arial" panose="020B0604020202020204" pitchFamily="34" charset="0"/>
              </a:rPr>
              <a:t>cross-sections …</a:t>
            </a:r>
            <a:r>
              <a:rPr lang="en-US" sz="1800" i="1" dirty="0" err="1">
                <a:latin typeface="Arial" panose="020B0604020202020204" pitchFamily="34" charset="0"/>
                <a:cs typeface="Arial" panose="020B0604020202020204" pitchFamily="34" charset="0"/>
              </a:rPr>
              <a:t>etc</a:t>
            </a:r>
            <a:r>
              <a:rPr lang="en-US" sz="1800" i="1"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641289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Width dependence</a:t>
            </a:r>
            <a:br>
              <a:rPr lang="es-ES" sz="2500" spc="-5" dirty="0">
                <a:latin typeface="+mj-lt"/>
                <a:cs typeface="Lucida Sans"/>
              </a:rPr>
            </a:br>
            <a:r>
              <a:rPr lang="en-US" b="0" dirty="0"/>
              <a:t>Width 0.6 - 1.6 µm (step 0.1 µm) – Wavelength 1.55 µm </a:t>
            </a:r>
            <a:endParaRPr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7" name="Rectángulo 6">
            <a:extLst>
              <a:ext uri="{FF2B5EF4-FFF2-40B4-BE49-F238E27FC236}">
                <a16:creationId xmlns:a16="http://schemas.microsoft.com/office/drawing/2014/main" id="{FBC7D187-267A-ADD4-764C-D3820B8ED302}"/>
              </a:ext>
            </a:extLst>
          </p:cNvPr>
          <p:cNvSpPr/>
          <p:nvPr/>
        </p:nvSpPr>
        <p:spPr>
          <a:xfrm>
            <a:off x="609441" y="1418372"/>
            <a:ext cx="11199971" cy="46776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descr="Gráfico&#10;&#10;El contenido generado por IA puede ser incorrecto.">
            <a:extLst>
              <a:ext uri="{FF2B5EF4-FFF2-40B4-BE49-F238E27FC236}">
                <a16:creationId xmlns:a16="http://schemas.microsoft.com/office/drawing/2014/main" id="{7FE8EEDD-8993-BCEA-0B41-201B4F53E4FF}"/>
              </a:ext>
            </a:extLst>
          </p:cNvPr>
          <p:cNvPicPr>
            <a:picLocks noChangeAspect="1"/>
          </p:cNvPicPr>
          <p:nvPr/>
        </p:nvPicPr>
        <p:blipFill>
          <a:blip r:embed="rId5"/>
          <a:stretch>
            <a:fillRect/>
          </a:stretch>
        </p:blipFill>
        <p:spPr>
          <a:xfrm>
            <a:off x="2247900" y="1517970"/>
            <a:ext cx="7696200" cy="4478429"/>
          </a:xfrm>
          <a:prstGeom prst="rect">
            <a:avLst/>
          </a:prstGeom>
        </p:spPr>
      </p:pic>
    </p:spTree>
    <p:extLst>
      <p:ext uri="{BB962C8B-B14F-4D97-AF65-F5344CB8AC3E}">
        <p14:creationId xmlns:p14="http://schemas.microsoft.com/office/powerpoint/2010/main" val="29001174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C7E4B9-ABBB-87A8-4B17-C171028A99D7}"/>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9C23C97-D7CF-497D-A5D2-21CC05D10130}"/>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Width dependence</a:t>
            </a:r>
            <a:br>
              <a:rPr lang="es-ES" sz="2500" spc="-5" dirty="0">
                <a:latin typeface="+mj-lt"/>
                <a:cs typeface="Lucida Sans"/>
              </a:rPr>
            </a:br>
            <a:r>
              <a:rPr lang="en-US" b="0" dirty="0"/>
              <a:t>Width 0.6 - 1.6 µm (step 0.1 µm) – Wavelength 1.55 µm </a:t>
            </a:r>
            <a:endParaRPr sz="2500" b="0" dirty="0">
              <a:latin typeface="+mj-lt"/>
              <a:cs typeface="Lucida Sans"/>
            </a:endParaRPr>
          </a:p>
        </p:txBody>
      </p:sp>
      <p:pic>
        <p:nvPicPr>
          <p:cNvPr id="83" name="Gráfico 82">
            <a:extLst>
              <a:ext uri="{FF2B5EF4-FFF2-40B4-BE49-F238E27FC236}">
                <a16:creationId xmlns:a16="http://schemas.microsoft.com/office/drawing/2014/main" id="{522F4EF9-AE55-C48A-8B2E-3848EC3518C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1001561-763B-091A-D701-C675075E0AB0}"/>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3" name="Marcador de pie de página 2">
            <a:extLst>
              <a:ext uri="{FF2B5EF4-FFF2-40B4-BE49-F238E27FC236}">
                <a16:creationId xmlns:a16="http://schemas.microsoft.com/office/drawing/2014/main" id="{9C443C3E-55F8-F709-A423-226B9F3EFED6}"/>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9" name="CuadroTexto 8">
            <a:extLst>
              <a:ext uri="{FF2B5EF4-FFF2-40B4-BE49-F238E27FC236}">
                <a16:creationId xmlns:a16="http://schemas.microsoft.com/office/drawing/2014/main" id="{71F9A7E5-D46C-0453-20FD-6B7360905609}"/>
              </a:ext>
            </a:extLst>
          </p:cNvPr>
          <p:cNvSpPr txBox="1"/>
          <p:nvPr/>
        </p:nvSpPr>
        <p:spPr>
          <a:xfrm>
            <a:off x="583019" y="1371600"/>
            <a:ext cx="11199971" cy="3416320"/>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(neff changes this way with width, polarization behavior, </a:t>
            </a:r>
            <a:r>
              <a:rPr lang="en-US" sz="1200" dirty="0" err="1">
                <a:latin typeface="Arial" panose="020B0604020202020204" pitchFamily="34" charset="0"/>
                <a:cs typeface="Arial" panose="020B0604020202020204" pitchFamily="34" charset="0"/>
              </a:rPr>
              <a:t>etc</a:t>
            </a:r>
            <a:r>
              <a:rPr lang="en-US" sz="1200" dirty="0">
                <a:latin typeface="Arial" panose="020B0604020202020204" pitchFamily="34" charset="0"/>
                <a:cs typeface="Arial" panose="020B0604020202020204" pitchFamily="34" charset="0"/>
              </a:rPr>
              <a:t>…)</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En </a:t>
            </a:r>
            <a:r>
              <a:rPr lang="en-US" sz="1200" dirty="0" err="1">
                <a:latin typeface="Arial" panose="020B0604020202020204" pitchFamily="34" charset="0"/>
                <a:cs typeface="Arial" panose="020B0604020202020204" pitchFamily="34" charset="0"/>
              </a:rPr>
              <a:t>esta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figura</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observa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comportamiento</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índices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efectivos</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distintos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modos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función</a:t>
            </a:r>
            <a:r>
              <a:rPr lang="en-US" sz="1200" dirty="0">
                <a:latin typeface="Arial" panose="020B0604020202020204" pitchFamily="34" charset="0"/>
                <a:cs typeface="Arial" panose="020B0604020202020204" pitchFamily="34" charset="0"/>
              </a:rPr>
              <a:t> del ancho de la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Primeramente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cabe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destacar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tal</a:t>
            </a:r>
            <a:r>
              <a:rPr lang="en-US" sz="1200" dirty="0">
                <a:latin typeface="Arial" panose="020B0604020202020204" pitchFamily="34" charset="0"/>
                <a:cs typeface="Arial" panose="020B0604020202020204" pitchFamily="34" charset="0"/>
              </a:rPr>
              <a:t> y </a:t>
            </a:r>
            <a:r>
              <a:rPr lang="en-US" sz="1200" dirty="0" err="1">
                <a:latin typeface="Arial" panose="020B0604020202020204" pitchFamily="34" charset="0"/>
                <a:cs typeface="Arial" panose="020B0604020202020204" pitchFamily="34" charset="0"/>
              </a:rPr>
              <a:t>como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está</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representada</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figura</a:t>
            </a:r>
            <a:r>
              <a:rPr lang="en-US" sz="1200" dirty="0">
                <a:latin typeface="Arial" panose="020B0604020202020204" pitchFamily="34" charset="0"/>
                <a:cs typeface="Arial" panose="020B0604020202020204" pitchFamily="34" charset="0"/>
              </a:rPr>
              <a:t>, las </a:t>
            </a:r>
            <a:r>
              <a:rPr lang="en-US" sz="1200" dirty="0" err="1">
                <a:latin typeface="Arial" panose="020B0604020202020204" pitchFamily="34" charset="0"/>
                <a:cs typeface="Arial" panose="020B0604020202020204" pitchFamily="34" charset="0"/>
              </a:rPr>
              <a:t>líneas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rojas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corresponden</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modos</a:t>
            </a:r>
            <a:r>
              <a:rPr lang="en-US" sz="1200" dirty="0">
                <a:latin typeface="Arial" panose="020B0604020202020204" pitchFamily="34" charset="0"/>
                <a:cs typeface="Arial" panose="020B0604020202020204" pitchFamily="34" charset="0"/>
              </a:rPr>
              <a:t> TE, </a:t>
            </a:r>
            <a:r>
              <a:rPr lang="en-US" sz="1200" dirty="0" err="1">
                <a:latin typeface="Arial" panose="020B0604020202020204" pitchFamily="34" charset="0"/>
                <a:cs typeface="Arial" panose="020B0604020202020204" pitchFamily="34" charset="0"/>
              </a:rPr>
              <a:t>mientras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las </a:t>
            </a:r>
            <a:r>
              <a:rPr lang="en-US" sz="1200" dirty="0" err="1">
                <a:latin typeface="Arial" panose="020B0604020202020204" pitchFamily="34" charset="0"/>
                <a:cs typeface="Arial" panose="020B0604020202020204" pitchFamily="34" charset="0"/>
              </a:rPr>
              <a:t>azules</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modos</a:t>
            </a:r>
            <a:r>
              <a:rPr lang="en-US" sz="1200" dirty="0">
                <a:latin typeface="Arial" panose="020B0604020202020204" pitchFamily="34" charset="0"/>
                <a:cs typeface="Arial" panose="020B0604020202020204" pitchFamily="34" charset="0"/>
              </a:rPr>
              <a:t> TM. Esto se ha </a:t>
            </a:r>
            <a:r>
              <a:rPr lang="en-US" sz="1200" dirty="0" err="1">
                <a:latin typeface="Arial" panose="020B0604020202020204" pitchFamily="34" charset="0"/>
                <a:cs typeface="Arial" panose="020B0604020202020204" pitchFamily="34" charset="0"/>
              </a:rPr>
              <a:t>deducido</a:t>
            </a:r>
            <a:r>
              <a:rPr lang="en-US" sz="1200" dirty="0">
                <a:latin typeface="Arial" panose="020B0604020202020204" pitchFamily="34" charset="0"/>
                <a:cs typeface="Arial" panose="020B0604020202020204" pitchFamily="34" charset="0"/>
              </a:rPr>
              <a:t> gracias a la </a:t>
            </a:r>
            <a:r>
              <a:rPr lang="en-US" sz="1200" dirty="0" err="1">
                <a:latin typeface="Arial" panose="020B0604020202020204" pitchFamily="34" charset="0"/>
                <a:cs typeface="Arial" panose="020B0604020202020204" pitchFamily="34" charset="0"/>
              </a:rPr>
              <a:t>representación</a:t>
            </a:r>
            <a:r>
              <a:rPr lang="en-US" sz="1200" dirty="0">
                <a:latin typeface="Arial" panose="020B0604020202020204" pitchFamily="34" charset="0"/>
                <a:cs typeface="Arial" panose="020B0604020202020204" pitchFamily="34" charset="0"/>
              </a:rPr>
              <a:t> del </a:t>
            </a:r>
            <a:r>
              <a:rPr lang="en-US" sz="1200" dirty="0" err="1">
                <a:latin typeface="Arial" panose="020B0604020202020204" pitchFamily="34" charset="0"/>
                <a:cs typeface="Arial" panose="020B0604020202020204" pitchFamily="34" charset="0"/>
              </a:rPr>
              <a:t>porcentaje</a:t>
            </a:r>
            <a:r>
              <a:rPr lang="en-US" sz="1200" dirty="0">
                <a:latin typeface="Arial" panose="020B0604020202020204" pitchFamily="34" charset="0"/>
                <a:cs typeface="Arial" panose="020B0604020202020204" pitchFamily="34" charset="0"/>
              </a:rPr>
              <a:t> de modo TE y </a:t>
            </a:r>
            <a:r>
              <a:rPr lang="en-US" sz="1200" dirty="0" err="1">
                <a:latin typeface="Arial" panose="020B0604020202020204" pitchFamily="34" charset="0"/>
                <a:cs typeface="Arial" panose="020B0604020202020204" pitchFamily="34" charset="0"/>
              </a:rPr>
              <a:t>su</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correspondencia</a:t>
            </a:r>
            <a:r>
              <a:rPr lang="en-US" sz="1200" dirty="0">
                <a:latin typeface="Arial" panose="020B0604020202020204" pitchFamily="34" charset="0"/>
                <a:cs typeface="Arial" panose="020B0604020202020204" pitchFamily="34" charset="0"/>
              </a:rPr>
              <a:t> con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colores</a:t>
            </a:r>
            <a:r>
              <a:rPr lang="en-US" sz="1200" dirty="0">
                <a:latin typeface="Arial" panose="020B0604020202020204" pitchFamily="34" charset="0"/>
                <a:cs typeface="Arial" panose="020B0604020202020204" pitchFamily="34" charset="0"/>
              </a:rPr>
              <a:t>.</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Por un </a:t>
            </a:r>
            <a:r>
              <a:rPr lang="en-US" sz="1200" dirty="0" err="1">
                <a:latin typeface="Arial" panose="020B0604020202020204" pitchFamily="34" charset="0"/>
                <a:cs typeface="Arial" panose="020B0604020202020204" pitchFamily="34" charset="0"/>
              </a:rPr>
              <a:t>lado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tenemos</a:t>
            </a:r>
            <a:r>
              <a:rPr lang="en-US" sz="1200" dirty="0">
                <a:latin typeface="Arial" panose="020B0604020202020204" pitchFamily="34" charset="0"/>
                <a:cs typeface="Arial" panose="020B0604020202020204" pitchFamily="34" charset="0"/>
              </a:rPr>
              <a:t> tanto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modo 0 TE </a:t>
            </a:r>
            <a:r>
              <a:rPr lang="en-US" sz="1200" dirty="0" err="1">
                <a:latin typeface="Arial" panose="020B0604020202020204" pitchFamily="34" charset="0"/>
                <a:cs typeface="Arial" panose="020B0604020202020204" pitchFamily="34" charset="0"/>
              </a:rPr>
              <a:t>como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modo 0 TM,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cuales</a:t>
            </a:r>
            <a:r>
              <a:rPr lang="en-US" sz="1200" dirty="0">
                <a:latin typeface="Arial" panose="020B0604020202020204" pitchFamily="34" charset="0"/>
                <a:cs typeface="Arial" panose="020B0604020202020204" pitchFamily="34" charset="0"/>
              </a:rPr>
              <a:t> se van a </a:t>
            </a:r>
            <a:r>
              <a:rPr lang="en-US" sz="1200" dirty="0" err="1">
                <a:latin typeface="Arial" panose="020B0604020202020204" pitchFamily="34" charset="0"/>
                <a:cs typeface="Arial" panose="020B0604020202020204" pitchFamily="34" charset="0"/>
              </a:rPr>
              <a:t>propagar</a:t>
            </a:r>
            <a:r>
              <a:rPr lang="en-US" sz="1200" dirty="0">
                <a:latin typeface="Arial" panose="020B0604020202020204" pitchFamily="34" charset="0"/>
                <a:cs typeface="Arial" panose="020B0604020202020204" pitchFamily="34" charset="0"/>
              </a:rPr>
              <a:t> para </a:t>
            </a:r>
            <a:r>
              <a:rPr lang="en-US" sz="1200" dirty="0" err="1">
                <a:latin typeface="Arial" panose="020B0604020202020204" pitchFamily="34" charset="0"/>
                <a:cs typeface="Arial" panose="020B0604020202020204" pitchFamily="34" charset="0"/>
              </a:rPr>
              <a:t>todos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anchos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representados</a:t>
            </a:r>
            <a:r>
              <a:rPr lang="en-US" sz="1200" dirty="0">
                <a:latin typeface="Arial" panose="020B0604020202020204" pitchFamily="34" charset="0"/>
                <a:cs typeface="Arial" panose="020B0604020202020204" pitchFamily="34" charset="0"/>
              </a:rPr>
              <a:t>. Sin embargo, se </a:t>
            </a:r>
            <a:r>
              <a:rPr lang="en-US" sz="1200" dirty="0" err="1">
                <a:latin typeface="Arial" panose="020B0604020202020204" pitchFamily="34" charset="0"/>
                <a:cs typeface="Arial" panose="020B0604020202020204" pitchFamily="34" charset="0"/>
              </a:rPr>
              <a:t>puede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observar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conforme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aumenta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ancho de la </a:t>
            </a:r>
            <a:r>
              <a:rPr lang="en-US" sz="1200" dirty="0" err="1">
                <a:latin typeface="Arial" panose="020B0604020202020204" pitchFamily="34" charset="0"/>
                <a:cs typeface="Arial" panose="020B0604020202020204" pitchFamily="34" charset="0"/>
              </a:rPr>
              <a:t>guia</a:t>
            </a:r>
            <a:r>
              <a:rPr lang="en-US" sz="1200" dirty="0">
                <a:latin typeface="Arial" panose="020B0604020202020204" pitchFamily="34" charset="0"/>
                <a:cs typeface="Arial" panose="020B0604020202020204" pitchFamily="34" charset="0"/>
              </a:rPr>
              <a:t>, al </a:t>
            </a:r>
            <a:r>
              <a:rPr lang="en-US" sz="1200" dirty="0" err="1">
                <a:latin typeface="Arial" panose="020B0604020202020204" pitchFamily="34" charset="0"/>
                <a:cs typeface="Arial" panose="020B0604020202020204" pitchFamily="34" charset="0"/>
              </a:rPr>
              <a:t>mantener</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misma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longitud</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índice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efectivo</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estos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modos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aumenta</a:t>
            </a:r>
            <a:r>
              <a:rPr lang="en-US" sz="1200" dirty="0">
                <a:latin typeface="Arial" panose="020B0604020202020204" pitchFamily="34" charset="0"/>
                <a:cs typeface="Arial" panose="020B0604020202020204" pitchFamily="34" charset="0"/>
              </a:rPr>
              <a:t>, al </a:t>
            </a:r>
            <a:r>
              <a:rPr lang="en-US" sz="1200" dirty="0" err="1">
                <a:latin typeface="Arial" panose="020B0604020202020204" pitchFamily="34" charset="0"/>
                <a:cs typeface="Arial" panose="020B0604020202020204" pitchFamily="34" charset="0"/>
              </a:rPr>
              <a:t>tener</a:t>
            </a:r>
            <a:r>
              <a:rPr lang="en-US" sz="1200" dirty="0">
                <a:latin typeface="Arial" panose="020B0604020202020204" pitchFamily="34" charset="0"/>
                <a:cs typeface="Arial" panose="020B0604020202020204" pitchFamily="34" charset="0"/>
              </a:rPr>
              <a:t> mas </a:t>
            </a:r>
            <a:r>
              <a:rPr lang="en-US" sz="1200" dirty="0" err="1">
                <a:latin typeface="Arial" panose="020B0604020202020204" pitchFamily="34" charset="0"/>
                <a:cs typeface="Arial" panose="020B0604020202020204" pitchFamily="34" charset="0"/>
              </a:rPr>
              <a:t>espacio</a:t>
            </a:r>
            <a:r>
              <a:rPr lang="en-US" sz="1200" dirty="0">
                <a:latin typeface="Arial" panose="020B0604020202020204" pitchFamily="34" charset="0"/>
                <a:cs typeface="Arial" panose="020B0604020202020204" pitchFamily="34" charset="0"/>
              </a:rPr>
              <a:t> y </a:t>
            </a:r>
            <a:r>
              <a:rPr lang="en-US" sz="1200" dirty="0" err="1">
                <a:latin typeface="Arial" panose="020B0604020202020204" pitchFamily="34" charset="0"/>
                <a:cs typeface="Arial" panose="020B0604020202020204" pitchFamily="34" charset="0"/>
              </a:rPr>
              <a:t>poder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tener</a:t>
            </a:r>
            <a:r>
              <a:rPr lang="en-US" sz="1200" dirty="0">
                <a:latin typeface="Arial" panose="020B0604020202020204" pitchFamily="34" charset="0"/>
                <a:cs typeface="Arial" panose="020B0604020202020204" pitchFamily="34" charset="0"/>
              </a:rPr>
              <a:t> un major </a:t>
            </a:r>
            <a:r>
              <a:rPr lang="en-US" sz="1200" dirty="0" err="1">
                <a:latin typeface="Arial" panose="020B0604020202020204" pitchFamily="34" charset="0"/>
                <a:cs typeface="Arial" panose="020B0604020202020204" pitchFamily="34" charset="0"/>
              </a:rPr>
              <a:t>confinamiento</a:t>
            </a:r>
            <a:r>
              <a:rPr lang="en-US" sz="1200" dirty="0">
                <a:latin typeface="Arial" panose="020B0604020202020204" pitchFamily="34" charset="0"/>
                <a:cs typeface="Arial" panose="020B0604020202020204" pitchFamily="34" charset="0"/>
              </a:rPr>
              <a:t>.</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Por </a:t>
            </a:r>
            <a:r>
              <a:rPr lang="en-US" sz="1200" dirty="0" err="1">
                <a:latin typeface="Arial" panose="020B0604020202020204" pitchFamily="34" charset="0"/>
                <a:cs typeface="Arial" panose="020B0604020202020204" pitchFamily="34" charset="0"/>
              </a:rPr>
              <a:t>otro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lado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tenemos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modo 1 TE,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corresponde</a:t>
            </a:r>
            <a:r>
              <a:rPr lang="en-US" sz="1200" dirty="0">
                <a:latin typeface="Arial" panose="020B0604020202020204" pitchFamily="34" charset="0"/>
                <a:cs typeface="Arial" panose="020B0604020202020204" pitchFamily="34" charset="0"/>
              </a:rPr>
              <a:t> al modo 2 de la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cual</a:t>
            </a:r>
            <a:r>
              <a:rPr lang="en-US" sz="1200" dirty="0">
                <a:latin typeface="Arial" panose="020B0604020202020204" pitchFamily="34" charset="0"/>
                <a:cs typeface="Arial" panose="020B0604020202020204" pitchFamily="34" charset="0"/>
              </a:rPr>
              <a:t> hasta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no </a:t>
            </a:r>
            <a:r>
              <a:rPr lang="en-US" sz="1200" dirty="0" err="1">
                <a:latin typeface="Arial" panose="020B0604020202020204" pitchFamily="34" charset="0"/>
                <a:cs typeface="Arial" panose="020B0604020202020204" pitchFamily="34" charset="0"/>
              </a:rPr>
              <a:t>consigue</a:t>
            </a:r>
            <a:r>
              <a:rPr lang="en-US" sz="1200" dirty="0">
                <a:latin typeface="Arial" panose="020B0604020202020204" pitchFamily="34" charset="0"/>
                <a:cs typeface="Arial" panose="020B0604020202020204" pitchFamily="34" charset="0"/>
              </a:rPr>
              <a:t> un ancho de 1.25um </a:t>
            </a:r>
            <a:r>
              <a:rPr lang="en-US" sz="1200" dirty="0" err="1">
                <a:latin typeface="Arial" panose="020B0604020202020204" pitchFamily="34" charset="0"/>
                <a:cs typeface="Arial" panose="020B0604020202020204" pitchFamily="34" charset="0"/>
              </a:rPr>
              <a:t>aproximadamente</a:t>
            </a:r>
            <a:r>
              <a:rPr lang="en-US" sz="1200" dirty="0">
                <a:latin typeface="Arial" panose="020B0604020202020204" pitchFamily="34" charset="0"/>
                <a:cs typeface="Arial" panose="020B0604020202020204" pitchFamily="34" charset="0"/>
              </a:rPr>
              <a:t>, no </a:t>
            </a:r>
            <a:r>
              <a:rPr lang="en-US" sz="1200" dirty="0" err="1">
                <a:latin typeface="Arial" panose="020B0604020202020204" pitchFamily="34" charset="0"/>
                <a:cs typeface="Arial" panose="020B0604020202020204" pitchFamily="34" charset="0"/>
              </a:rPr>
              <a:t>empieza</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propagarse</a:t>
            </a:r>
            <a:r>
              <a:rPr lang="en-US" sz="1200" dirty="0">
                <a:latin typeface="Arial" panose="020B0604020202020204" pitchFamily="34" charset="0"/>
                <a:cs typeface="Arial" panose="020B0604020202020204" pitchFamily="34" charset="0"/>
              </a:rPr>
              <a:t>. En </a:t>
            </a:r>
            <a:r>
              <a:rPr lang="en-US" sz="1200" dirty="0" err="1">
                <a:latin typeface="Arial" panose="020B0604020202020204" pitchFamily="34" charset="0"/>
                <a:cs typeface="Arial" panose="020B0604020202020204" pitchFamily="34" charset="0"/>
              </a:rPr>
              <a:t>dicho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momento</a:t>
            </a:r>
            <a:r>
              <a:rPr lang="en-US" sz="1200" dirty="0">
                <a:latin typeface="Arial" panose="020B0604020202020204" pitchFamily="34" charset="0"/>
                <a:cs typeface="Arial" panose="020B0604020202020204" pitchFamily="34" charset="0"/>
              </a:rPr>
              <a:t>, es </a:t>
            </a:r>
            <a:r>
              <a:rPr lang="en-US" sz="1200" dirty="0" err="1">
                <a:latin typeface="Arial" panose="020B0604020202020204" pitchFamily="34" charset="0"/>
                <a:cs typeface="Arial" panose="020B0604020202020204" pitchFamily="34" charset="0"/>
              </a:rPr>
              <a:t>cuando</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pasa</a:t>
            </a:r>
            <a:r>
              <a:rPr lang="en-US" sz="1200" dirty="0">
                <a:latin typeface="Arial" panose="020B0604020202020204" pitchFamily="34" charset="0"/>
                <a:cs typeface="Arial" panose="020B0604020202020204" pitchFamily="34" charset="0"/>
              </a:rPr>
              <a:t> a ser </a:t>
            </a:r>
            <a:r>
              <a:rPr lang="en-US" sz="1200" dirty="0" err="1">
                <a:latin typeface="Arial" panose="020B0604020202020204" pitchFamily="34" charset="0"/>
                <a:cs typeface="Arial" panose="020B0604020202020204" pitchFamily="34" charset="0"/>
              </a:rPr>
              <a:t>multimodo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debido</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estarían</a:t>
            </a:r>
            <a:r>
              <a:rPr lang="en-US" sz="1200" dirty="0">
                <a:latin typeface="Arial" panose="020B0604020202020204" pitchFamily="34" charset="0"/>
                <a:cs typeface="Arial" panose="020B0604020202020204" pitchFamily="34" charset="0"/>
              </a:rPr>
              <a:t> propaganda dos </a:t>
            </a:r>
            <a:r>
              <a:rPr lang="en-US" sz="1200" dirty="0" err="1">
                <a:latin typeface="Arial" panose="020B0604020202020204" pitchFamily="34" charset="0"/>
                <a:cs typeface="Arial" panose="020B0604020202020204" pitchFamily="34" charset="0"/>
              </a:rPr>
              <a:t>modos</a:t>
            </a:r>
            <a:r>
              <a:rPr lang="en-US" sz="1200" dirty="0">
                <a:latin typeface="Arial" panose="020B0604020202020204" pitchFamily="34" charset="0"/>
                <a:cs typeface="Arial" panose="020B0604020202020204" pitchFamily="34" charset="0"/>
              </a:rPr>
              <a:t> TE. Por </a:t>
            </a:r>
            <a:r>
              <a:rPr lang="en-US" sz="1200" dirty="0" err="1">
                <a:latin typeface="Arial" panose="020B0604020202020204" pitchFamily="34" charset="0"/>
                <a:cs typeface="Arial" panose="020B0604020202020204" pitchFamily="34" charset="0"/>
              </a:rPr>
              <a:t>último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encontramos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modo 3,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corresponde</a:t>
            </a:r>
            <a:r>
              <a:rPr lang="en-US" sz="1200" dirty="0">
                <a:latin typeface="Arial" panose="020B0604020202020204" pitchFamily="34" charset="0"/>
                <a:cs typeface="Arial" panose="020B0604020202020204" pitchFamily="34" charset="0"/>
              </a:rPr>
              <a:t> al modo TM 1,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cual</a:t>
            </a:r>
            <a:r>
              <a:rPr lang="en-US" sz="1200" dirty="0">
                <a:latin typeface="Arial" panose="020B0604020202020204" pitchFamily="34" charset="0"/>
                <a:cs typeface="Arial" panose="020B0604020202020204" pitchFamily="34" charset="0"/>
              </a:rPr>
              <a:t> para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rango</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anchos</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guia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elegido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nunca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va</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propagarse</a:t>
            </a:r>
            <a:r>
              <a:rPr lang="en-US" sz="1200" dirty="0">
                <a:latin typeface="Arial" panose="020B0604020202020204" pitchFamily="34" charset="0"/>
                <a:cs typeface="Arial" panose="020B0604020202020204" pitchFamily="34" charset="0"/>
              </a:rPr>
              <a:t>. </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Si </a:t>
            </a:r>
            <a:r>
              <a:rPr lang="en-US" sz="1200" dirty="0" err="1">
                <a:latin typeface="Arial" panose="020B0604020202020204" pitchFamily="34" charset="0"/>
                <a:cs typeface="Arial" panose="020B0604020202020204" pitchFamily="34" charset="0"/>
              </a:rPr>
              <a:t>comparamos</a:t>
            </a:r>
            <a:r>
              <a:rPr lang="en-US" sz="1200" dirty="0">
                <a:latin typeface="Arial" panose="020B0604020202020204" pitchFamily="34" charset="0"/>
                <a:cs typeface="Arial" panose="020B0604020202020204" pitchFamily="34" charset="0"/>
              </a:rPr>
              <a:t> con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ejercicio</a:t>
            </a:r>
            <a:r>
              <a:rPr lang="en-US" sz="1200" dirty="0">
                <a:latin typeface="Arial" panose="020B0604020202020204" pitchFamily="34" charset="0"/>
                <a:cs typeface="Arial" panose="020B0604020202020204" pitchFamily="34" charset="0"/>
              </a:rPr>
              <a:t> dos,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las </a:t>
            </a:r>
            <a:r>
              <a:rPr lang="en-US" sz="1200" dirty="0" err="1">
                <a:latin typeface="Arial" panose="020B0604020202020204" pitchFamily="34" charset="0"/>
                <a:cs typeface="Arial" panose="020B0604020202020204" pitchFamily="34" charset="0"/>
              </a:rPr>
              <a:t>guias</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deep </a:t>
            </a:r>
            <a:r>
              <a:rPr lang="en-US" sz="1200" dirty="0" err="1">
                <a:latin typeface="Arial" panose="020B0604020202020204" pitchFamily="34" charset="0"/>
                <a:cs typeface="Arial" panose="020B0604020202020204" pitchFamily="34" charset="0"/>
              </a:rPr>
              <a:t>nunca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llegaban</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propagarse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estos</a:t>
            </a:r>
            <a:r>
              <a:rPr lang="en-US" sz="1200" dirty="0">
                <a:latin typeface="Arial" panose="020B0604020202020204" pitchFamily="34" charset="0"/>
                <a:cs typeface="Arial" panose="020B0604020202020204" pitchFamily="34" charset="0"/>
              </a:rPr>
              <a:t> dos </a:t>
            </a:r>
            <a:r>
              <a:rPr lang="en-US" sz="1200" dirty="0" err="1">
                <a:latin typeface="Arial" panose="020B0604020202020204" pitchFamily="34" charset="0"/>
                <a:cs typeface="Arial" panose="020B0604020202020204" pitchFamily="34" charset="0"/>
              </a:rPr>
              <a:t>últimos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modos</a:t>
            </a:r>
            <a:r>
              <a:rPr lang="en-US" sz="1200" dirty="0">
                <a:latin typeface="Arial" panose="020B0604020202020204" pitchFamily="34" charset="0"/>
                <a:cs typeface="Arial" panose="020B0604020202020204" pitchFamily="34" charset="0"/>
              </a:rPr>
              <a:t> (modo TM1 y TE1), </a:t>
            </a:r>
            <a:r>
              <a:rPr lang="en-US" sz="1200" dirty="0" err="1">
                <a:latin typeface="Arial" panose="020B0604020202020204" pitchFamily="34" charset="0"/>
                <a:cs typeface="Arial" panose="020B0604020202020204" pitchFamily="34" charset="0"/>
              </a:rPr>
              <a:t>ya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estabamos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variando</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longitud</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Sin embargo, para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caso</a:t>
            </a:r>
            <a:r>
              <a:rPr lang="en-US" sz="1200" dirty="0">
                <a:latin typeface="Arial" panose="020B0604020202020204" pitchFamily="34" charset="0"/>
                <a:cs typeface="Arial" panose="020B0604020202020204" pitchFamily="34" charset="0"/>
              </a:rPr>
              <a:t> actual </a:t>
            </a:r>
            <a:r>
              <a:rPr lang="en-US" sz="1200" dirty="0" err="1">
                <a:latin typeface="Arial" panose="020B0604020202020204" pitchFamily="34" charset="0"/>
                <a:cs typeface="Arial" panose="020B0604020202020204" pitchFamily="34" charset="0"/>
              </a:rPr>
              <a:t>donde</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están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variando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anchos</a:t>
            </a:r>
            <a:r>
              <a:rPr lang="en-US" sz="1200" dirty="0">
                <a:latin typeface="Arial" panose="020B0604020202020204" pitchFamily="34" charset="0"/>
                <a:cs typeface="Arial" panose="020B0604020202020204" pitchFamily="34" charset="0"/>
              </a:rPr>
              <a:t> de la </a:t>
            </a:r>
            <a:r>
              <a:rPr lang="en-US" sz="1200" dirty="0" err="1">
                <a:latin typeface="Arial" panose="020B0604020202020204" pitchFamily="34" charset="0"/>
                <a:cs typeface="Arial" panose="020B0604020202020204" pitchFamily="34" charset="0"/>
              </a:rPr>
              <a:t>guia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llegados</a:t>
            </a:r>
            <a:r>
              <a:rPr lang="en-US" sz="1200" dirty="0">
                <a:latin typeface="Arial" panose="020B0604020202020204" pitchFamily="34" charset="0"/>
                <a:cs typeface="Arial" panose="020B0604020202020204" pitchFamily="34" charset="0"/>
              </a:rPr>
              <a:t> a un </a:t>
            </a:r>
            <a:r>
              <a:rPr lang="en-US" sz="1200" dirty="0" err="1">
                <a:latin typeface="Arial" panose="020B0604020202020204" pitchFamily="34" charset="0"/>
                <a:cs typeface="Arial" panose="020B0604020202020204" pitchFamily="34" charset="0"/>
              </a:rPr>
              <a:t>determinado</a:t>
            </a:r>
            <a:r>
              <a:rPr lang="en-US" sz="1200" dirty="0">
                <a:latin typeface="Arial" panose="020B0604020202020204" pitchFamily="34" charset="0"/>
                <a:cs typeface="Arial" panose="020B0604020202020204" pitchFamily="34" charset="0"/>
              </a:rPr>
              <a:t> valor, </a:t>
            </a:r>
            <a:r>
              <a:rPr lang="en-US" sz="1200" dirty="0" err="1">
                <a:latin typeface="Arial" panose="020B0604020202020204" pitchFamily="34" charset="0"/>
                <a:cs typeface="Arial" panose="020B0604020202020204" pitchFamily="34" charset="0"/>
              </a:rPr>
              <a:t>si</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comenzarian</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propagarse</a:t>
            </a:r>
            <a:r>
              <a:rPr lang="en-US" sz="1200" dirty="0">
                <a:latin typeface="Arial" panose="020B0604020202020204" pitchFamily="34" charset="0"/>
                <a:cs typeface="Arial" panose="020B0604020202020204" pitchFamily="34" charset="0"/>
              </a:rPr>
              <a:t>.</a:t>
            </a: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244250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DA0F9-B230-D9FC-3CE7-03BD08CF54F7}"/>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394400B4-EE16-8E85-AB54-E82FE3B29345}"/>
              </a:ext>
            </a:extLst>
          </p:cNvPr>
          <p:cNvSpPr txBox="1">
            <a:spLocks noGrp="1"/>
          </p:cNvSpPr>
          <p:nvPr>
            <p:ph type="title"/>
          </p:nvPr>
        </p:nvSpPr>
        <p:spPr>
          <a:xfrm>
            <a:off x="685800" y="408883"/>
            <a:ext cx="10994410" cy="1397819"/>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Waveguide compact model</a:t>
            </a:r>
            <a:br>
              <a:rPr lang="en-US" sz="2500" spc="-5" dirty="0">
                <a:latin typeface="+mj-lt"/>
                <a:cs typeface="Lucida Sans"/>
              </a:rPr>
            </a:br>
            <a:r>
              <a:rPr lang="en-US" b="0" dirty="0"/>
              <a:t>- Find the compact models of the following waveguides: </a:t>
            </a:r>
            <a:br>
              <a:rPr lang="en-US" b="0" dirty="0"/>
            </a:br>
            <a:r>
              <a:rPr lang="en-US" dirty="0"/>
              <a:t>Deep</a:t>
            </a:r>
            <a:r>
              <a:rPr lang="en-US" b="0" dirty="0"/>
              <a:t> waveguide, h=300nm, w=1.2um   - </a:t>
            </a:r>
            <a:r>
              <a:rPr lang="en-US" dirty="0"/>
              <a:t>Shallow</a:t>
            </a:r>
            <a:r>
              <a:rPr lang="en-US" b="0" dirty="0"/>
              <a:t> waveguide, core h=300nm, slab h=150 nm, w = 1.2um </a:t>
            </a:r>
            <a:br>
              <a:rPr lang="en-US" b="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4D53B68D-17ED-7EFB-F2B4-10DA7A772E1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9AB8697-C1EE-6E9A-6550-ACA2C3AE6630}"/>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3" name="Marcador de pie de página 2">
            <a:extLst>
              <a:ext uri="{FF2B5EF4-FFF2-40B4-BE49-F238E27FC236}">
                <a16:creationId xmlns:a16="http://schemas.microsoft.com/office/drawing/2014/main" id="{970D4A6C-5B37-EDF5-6242-74B16127E96B}"/>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5" name="Rectángulo 4">
            <a:extLst>
              <a:ext uri="{FF2B5EF4-FFF2-40B4-BE49-F238E27FC236}">
                <a16:creationId xmlns:a16="http://schemas.microsoft.com/office/drawing/2014/main" id="{A6B92C76-6772-2E00-346F-532321092C04}"/>
              </a:ext>
            </a:extLst>
          </p:cNvPr>
          <p:cNvSpPr/>
          <p:nvPr/>
        </p:nvSpPr>
        <p:spPr>
          <a:xfrm>
            <a:off x="685801" y="1827022"/>
            <a:ext cx="5334000" cy="322427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2886628E-6E58-1F7E-B6C6-432B9A228397}"/>
              </a:ext>
            </a:extLst>
          </p:cNvPr>
          <p:cNvSpPr/>
          <p:nvPr/>
        </p:nvSpPr>
        <p:spPr>
          <a:xfrm>
            <a:off x="6306363" y="1827022"/>
            <a:ext cx="5334000" cy="322427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0F38E924-A0E7-A039-C837-916BA77FE89B}"/>
              </a:ext>
            </a:extLst>
          </p:cNvPr>
          <p:cNvSpPr txBox="1"/>
          <p:nvPr/>
        </p:nvSpPr>
        <p:spPr>
          <a:xfrm>
            <a:off x="6178409" y="5194183"/>
            <a:ext cx="5486560" cy="276999"/>
          </a:xfrm>
          <a:prstGeom prst="rect">
            <a:avLst/>
          </a:prstGeom>
          <a:noFill/>
        </p:spPr>
        <p:txBody>
          <a:bodyPr wrap="square">
            <a:spAutoFit/>
          </a:bodyPr>
          <a:lstStyle/>
          <a:p>
            <a:pPr algn="r"/>
            <a:r>
              <a:rPr lang="en-US" sz="1200" b="1" dirty="0">
                <a:solidFill>
                  <a:schemeClr val="tx1"/>
                </a:solidFill>
                <a:latin typeface="Arial" panose="020B0604020202020204" pitchFamily="34" charset="0"/>
                <a:cs typeface="Arial" panose="020B0604020202020204" pitchFamily="34" charset="0"/>
              </a:rPr>
              <a:t>slab: 150nm</a:t>
            </a:r>
            <a:endParaRPr lang="en-US" sz="1200" dirty="0">
              <a:solidFill>
                <a:schemeClr val="tx1"/>
              </a:solidFill>
              <a:latin typeface="Arial" panose="020B0604020202020204" pitchFamily="34" charset="0"/>
              <a:cs typeface="Arial" panose="020B0604020202020204" pitchFamily="34" charset="0"/>
            </a:endParaRPr>
          </a:p>
        </p:txBody>
      </p:sp>
      <p:pic>
        <p:nvPicPr>
          <p:cNvPr id="7" name="Imagen 6" descr="Gráfico&#10;&#10;El contenido generado por IA puede ser incorrecto.">
            <a:extLst>
              <a:ext uri="{FF2B5EF4-FFF2-40B4-BE49-F238E27FC236}">
                <a16:creationId xmlns:a16="http://schemas.microsoft.com/office/drawing/2014/main" id="{6EE6A301-802F-71A8-D45A-719DDCE2374F}"/>
              </a:ext>
            </a:extLst>
          </p:cNvPr>
          <p:cNvPicPr>
            <a:picLocks noChangeAspect="1"/>
          </p:cNvPicPr>
          <p:nvPr/>
        </p:nvPicPr>
        <p:blipFill>
          <a:blip r:embed="rId5"/>
          <a:stretch>
            <a:fillRect/>
          </a:stretch>
        </p:blipFill>
        <p:spPr>
          <a:xfrm>
            <a:off x="797560" y="1896211"/>
            <a:ext cx="5110480" cy="3065578"/>
          </a:xfrm>
          <a:prstGeom prst="rect">
            <a:avLst/>
          </a:prstGeom>
        </p:spPr>
      </p:pic>
      <p:pic>
        <p:nvPicPr>
          <p:cNvPr id="12" name="Imagen 11" descr="Gráfico, Gráfico de líneas&#10;&#10;El contenido generado por IA puede ser incorrecto.">
            <a:extLst>
              <a:ext uri="{FF2B5EF4-FFF2-40B4-BE49-F238E27FC236}">
                <a16:creationId xmlns:a16="http://schemas.microsoft.com/office/drawing/2014/main" id="{53B7AF3B-D6BB-A7C0-88D3-336824D54616}"/>
              </a:ext>
            </a:extLst>
          </p:cNvPr>
          <p:cNvPicPr>
            <a:picLocks noChangeAspect="1"/>
          </p:cNvPicPr>
          <p:nvPr/>
        </p:nvPicPr>
        <p:blipFill>
          <a:blip r:embed="rId6"/>
          <a:stretch>
            <a:fillRect/>
          </a:stretch>
        </p:blipFill>
        <p:spPr>
          <a:xfrm>
            <a:off x="6420663" y="1914500"/>
            <a:ext cx="5105399" cy="3062529"/>
          </a:xfrm>
          <a:prstGeom prst="rect">
            <a:avLst/>
          </a:prstGeom>
        </p:spPr>
      </p:pic>
    </p:spTree>
    <p:extLst>
      <p:ext uri="{BB962C8B-B14F-4D97-AF65-F5344CB8AC3E}">
        <p14:creationId xmlns:p14="http://schemas.microsoft.com/office/powerpoint/2010/main" val="2360544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EFB58-B666-0C41-4C72-3ABC0EC43882}"/>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83DF2B24-AC21-643D-B8C0-62993AB27B88}"/>
              </a:ext>
            </a:extLst>
          </p:cNvPr>
          <p:cNvSpPr txBox="1">
            <a:spLocks noGrp="1"/>
          </p:cNvSpPr>
          <p:nvPr>
            <p:ph type="title"/>
          </p:nvPr>
        </p:nvSpPr>
        <p:spPr>
          <a:xfrm>
            <a:off x="685800" y="408883"/>
            <a:ext cx="10994410" cy="1397819"/>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Waveguide compact model</a:t>
            </a:r>
            <a:br>
              <a:rPr lang="en-US" sz="2500" spc="-5" dirty="0">
                <a:latin typeface="+mj-lt"/>
                <a:cs typeface="Lucida Sans"/>
              </a:rPr>
            </a:br>
            <a:r>
              <a:rPr lang="en-US" b="0" dirty="0"/>
              <a:t>- Find the compact models of the following waveguides: </a:t>
            </a:r>
            <a:br>
              <a:rPr lang="en-US" b="0" dirty="0"/>
            </a:br>
            <a:r>
              <a:rPr lang="en-US" dirty="0"/>
              <a:t>Deep</a:t>
            </a:r>
            <a:r>
              <a:rPr lang="en-US" b="0" dirty="0"/>
              <a:t> waveguide, h=300nm, w=1.2um   - </a:t>
            </a:r>
            <a:r>
              <a:rPr lang="en-US" dirty="0"/>
              <a:t>Shallow</a:t>
            </a:r>
            <a:r>
              <a:rPr lang="en-US" b="0" dirty="0"/>
              <a:t> waveguide, core h=300nm, slab h=150 nm, w = 1.2um </a:t>
            </a:r>
            <a:br>
              <a:rPr lang="en-US" b="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37813654-26E9-7238-D73E-68BA1316A3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8E2D0D11-BF34-FF92-6520-B37F368C0D94}"/>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3" name="Marcador de pie de página 2">
            <a:extLst>
              <a:ext uri="{FF2B5EF4-FFF2-40B4-BE49-F238E27FC236}">
                <a16:creationId xmlns:a16="http://schemas.microsoft.com/office/drawing/2014/main" id="{FB835810-53AB-5DA6-6898-CDFC21E038D3}"/>
              </a:ext>
            </a:extLst>
          </p:cNvPr>
          <p:cNvSpPr>
            <a:spLocks noGrp="1"/>
          </p:cNvSpPr>
          <p:nvPr>
            <p:ph type="ftr" sz="quarter" idx="5"/>
          </p:nvPr>
        </p:nvSpPr>
        <p:spPr/>
        <p:txBody>
          <a:bodyPr/>
          <a:lstStyle/>
          <a:p>
            <a:pPr marL="12700">
              <a:spcBef>
                <a:spcPts val="15"/>
              </a:spcBef>
            </a:pPr>
            <a:r>
              <a:rPr lang="es-ES" spc="-5" dirty="0"/>
              <a:t>LAB 1.0 WAVEGUIDES</a:t>
            </a:r>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11E2B217-7A2F-7F84-8CFC-E023D5FB8F3B}"/>
                  </a:ext>
                </a:extLst>
              </p:cNvPr>
              <p:cNvSpPr txBox="1"/>
              <p:nvPr/>
            </p:nvSpPr>
            <p:spPr>
              <a:xfrm>
                <a:off x="481668" y="1690095"/>
                <a:ext cx="11198542" cy="3849324"/>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cs typeface="Arial" panose="020B0604020202020204" pitchFamily="34" charset="0"/>
                  </a:rPr>
                  <a:t>Find the second-degree polynomial coefficients and relate them with the group index and the dispersion parameter. </a:t>
                </a:r>
                <a14:m>
                  <m:oMath xmlns:m="http://schemas.openxmlformats.org/officeDocument/2006/math">
                    <m:d>
                      <m:dPr>
                        <m:begChr m:val="{"/>
                        <m:endChr m:val=""/>
                        <m:ctrlPr>
                          <a:rPr lang="es-ES" sz="1200" b="0" i="1" smtClean="0">
                            <a:latin typeface="Cambria Math" panose="02040503050406030204" pitchFamily="18" charset="0"/>
                            <a:cs typeface="Arial" panose="020B0604020202020204" pitchFamily="34" charset="0"/>
                          </a:rPr>
                        </m:ctrlPr>
                      </m:dPr>
                      <m:e>
                        <m:eqArr>
                          <m:eqArrPr>
                            <m:ctrlPr>
                              <a:rPr lang="es-ES" sz="1200" b="0" i="1" smtClean="0">
                                <a:latin typeface="Cambria Math" panose="02040503050406030204" pitchFamily="18" charset="0"/>
                                <a:cs typeface="Arial" panose="020B0604020202020204" pitchFamily="34" charset="0"/>
                              </a:rPr>
                            </m:ctrlPr>
                          </m:eqArrPr>
                          <m:e>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𝑛</m:t>
                                </m:r>
                              </m:e>
                              <m:sub>
                                <m:r>
                                  <a:rPr lang="es-ES" sz="1200" b="0" i="1" smtClean="0">
                                    <a:latin typeface="Cambria Math" panose="02040503050406030204" pitchFamily="18" charset="0"/>
                                    <a:cs typeface="Arial" panose="020B0604020202020204" pitchFamily="34" charset="0"/>
                                  </a:rPr>
                                  <m:t>𝑒𝑓𝑓</m:t>
                                </m:r>
                              </m:sub>
                            </m:sSub>
                            <m:r>
                              <a:rPr lang="es-ES" sz="1200" b="0" i="1" smtClean="0">
                                <a:latin typeface="Cambria Math" panose="02040503050406030204" pitchFamily="18" charset="0"/>
                                <a:cs typeface="Arial" panose="020B0604020202020204" pitchFamily="34" charset="0"/>
                              </a:rPr>
                              <m:t>=</m:t>
                            </m:r>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𝑛</m:t>
                                </m:r>
                              </m:e>
                              <m:sub>
                                <m:r>
                                  <a:rPr lang="es-ES" sz="1200" b="0" i="1" smtClean="0">
                                    <a:latin typeface="Cambria Math" panose="02040503050406030204" pitchFamily="18" charset="0"/>
                                    <a:cs typeface="Arial" panose="020B0604020202020204" pitchFamily="34" charset="0"/>
                                  </a:rPr>
                                  <m:t>1</m:t>
                                </m:r>
                              </m:sub>
                            </m:sSub>
                          </m:e>
                          <m:e>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𝑛</m:t>
                                </m:r>
                              </m:e>
                              <m:sub>
                                <m:r>
                                  <a:rPr lang="es-ES" sz="1200" b="0" i="1" smtClean="0">
                                    <a:latin typeface="Cambria Math" panose="02040503050406030204" pitchFamily="18" charset="0"/>
                                    <a:cs typeface="Arial" panose="020B0604020202020204" pitchFamily="34" charset="0"/>
                                  </a:rPr>
                                  <m:t>𝑔</m:t>
                                </m:r>
                              </m:sub>
                            </m:sSub>
                            <m:r>
                              <a:rPr lang="es-ES" sz="1200" b="0" i="1" smtClean="0">
                                <a:latin typeface="Cambria Math" panose="02040503050406030204" pitchFamily="18" charset="0"/>
                                <a:cs typeface="Arial" panose="020B0604020202020204" pitchFamily="34" charset="0"/>
                              </a:rPr>
                              <m:t>=</m:t>
                            </m:r>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𝑛</m:t>
                                </m:r>
                              </m:e>
                              <m:sub>
                                <m:r>
                                  <a:rPr lang="es-ES" sz="1200" b="0" i="1" smtClean="0">
                                    <a:latin typeface="Cambria Math" panose="02040503050406030204" pitchFamily="18" charset="0"/>
                                    <a:cs typeface="Arial" panose="020B0604020202020204" pitchFamily="34" charset="0"/>
                                  </a:rPr>
                                  <m:t>1</m:t>
                                </m:r>
                              </m:sub>
                            </m:sSub>
                            <m:r>
                              <a:rPr lang="es-ES" sz="1200" b="0" i="1" smtClean="0">
                                <a:latin typeface="Cambria Math" panose="02040503050406030204" pitchFamily="18" charset="0"/>
                                <a:cs typeface="Arial" panose="020B0604020202020204" pitchFamily="34" charset="0"/>
                              </a:rPr>
                              <m:t>−</m:t>
                            </m:r>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𝑛</m:t>
                                </m:r>
                              </m:e>
                              <m:sub>
                                <m:r>
                                  <a:rPr lang="es-ES" sz="1200" b="0" i="1" smtClean="0">
                                    <a:latin typeface="Cambria Math" panose="02040503050406030204" pitchFamily="18" charset="0"/>
                                    <a:cs typeface="Arial" panose="020B0604020202020204" pitchFamily="34" charset="0"/>
                                  </a:rPr>
                                  <m:t>2</m:t>
                                </m:r>
                              </m:sub>
                            </m:sSub>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𝜆</m:t>
                                </m:r>
                              </m:e>
                              <m:sub>
                                <m:r>
                                  <a:rPr lang="es-ES" sz="1200" b="0" i="1" smtClean="0">
                                    <a:latin typeface="Cambria Math" panose="02040503050406030204" pitchFamily="18" charset="0"/>
                                    <a:cs typeface="Arial" panose="020B0604020202020204" pitchFamily="34" charset="0"/>
                                  </a:rPr>
                                  <m:t>0</m:t>
                                </m:r>
                              </m:sub>
                            </m:sSub>
                          </m:e>
                          <m:e>
                            <m:r>
                              <a:rPr lang="es-ES" sz="1200" b="0" i="1" smtClean="0">
                                <a:latin typeface="Cambria Math" panose="02040503050406030204" pitchFamily="18" charset="0"/>
                                <a:cs typeface="Arial" panose="020B0604020202020204" pitchFamily="34" charset="0"/>
                              </a:rPr>
                              <m:t>𝐷</m:t>
                            </m:r>
                            <m:r>
                              <a:rPr lang="es-ES" sz="1200" b="0" i="1" smtClean="0">
                                <a:latin typeface="Cambria Math" panose="02040503050406030204" pitchFamily="18" charset="0"/>
                                <a:cs typeface="Arial" panose="020B0604020202020204" pitchFamily="34" charset="0"/>
                              </a:rPr>
                              <m:t>=−</m:t>
                            </m:r>
                            <m:f>
                              <m:fPr>
                                <m:ctrlPr>
                                  <a:rPr lang="es-ES" sz="1200" b="0" i="1" smtClean="0">
                                    <a:latin typeface="Cambria Math" panose="02040503050406030204" pitchFamily="18" charset="0"/>
                                    <a:cs typeface="Arial" panose="020B0604020202020204" pitchFamily="34" charset="0"/>
                                  </a:rPr>
                                </m:ctrlPr>
                              </m:fPr>
                              <m:num>
                                <m:r>
                                  <a:rPr lang="es-ES" sz="1200" b="0" i="1" smtClean="0">
                                    <a:latin typeface="Cambria Math" panose="02040503050406030204" pitchFamily="18" charset="0"/>
                                    <a:cs typeface="Arial" panose="020B0604020202020204" pitchFamily="34" charset="0"/>
                                  </a:rPr>
                                  <m:t>2</m:t>
                                </m:r>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𝜆</m:t>
                                    </m:r>
                                  </m:e>
                                  <m:sub>
                                    <m:r>
                                      <a:rPr lang="es-ES" sz="1200" b="0" i="1" smtClean="0">
                                        <a:latin typeface="Cambria Math" panose="02040503050406030204" pitchFamily="18" charset="0"/>
                                        <a:cs typeface="Arial" panose="020B0604020202020204" pitchFamily="34" charset="0"/>
                                      </a:rPr>
                                      <m:t>0</m:t>
                                    </m:r>
                                  </m:sub>
                                </m:sSub>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𝑛</m:t>
                                    </m:r>
                                  </m:e>
                                  <m:sub>
                                    <m:r>
                                      <a:rPr lang="es-ES" sz="1200" b="0" i="1" smtClean="0">
                                        <a:latin typeface="Cambria Math" panose="02040503050406030204" pitchFamily="18" charset="0"/>
                                        <a:cs typeface="Arial" panose="020B0604020202020204" pitchFamily="34" charset="0"/>
                                      </a:rPr>
                                      <m:t>3</m:t>
                                    </m:r>
                                  </m:sub>
                                </m:sSub>
                              </m:num>
                              <m:den>
                                <m:r>
                                  <a:rPr lang="es-ES" sz="1200" b="0" i="1" smtClean="0">
                                    <a:latin typeface="Cambria Math" panose="02040503050406030204" pitchFamily="18" charset="0"/>
                                    <a:cs typeface="Arial" panose="020B0604020202020204" pitchFamily="34" charset="0"/>
                                  </a:rPr>
                                  <m:t>𝑐</m:t>
                                </m:r>
                              </m:den>
                            </m:f>
                            <m:d>
                              <m:dPr>
                                <m:begChr m:val="["/>
                                <m:endChr m:val="]"/>
                                <m:ctrlPr>
                                  <a:rPr lang="es-ES" sz="1200" b="0" i="1" smtClean="0">
                                    <a:latin typeface="Cambria Math" panose="02040503050406030204" pitchFamily="18" charset="0"/>
                                    <a:cs typeface="Arial" panose="020B0604020202020204" pitchFamily="34" charset="0"/>
                                  </a:rPr>
                                </m:ctrlPr>
                              </m:dPr>
                              <m:e>
                                <m:f>
                                  <m:fPr>
                                    <m:ctrlPr>
                                      <a:rPr lang="es-ES" sz="1200" b="0" i="1" smtClean="0">
                                        <a:latin typeface="Cambria Math" panose="02040503050406030204" pitchFamily="18" charset="0"/>
                                        <a:cs typeface="Arial" panose="020B0604020202020204" pitchFamily="34" charset="0"/>
                                      </a:rPr>
                                    </m:ctrlPr>
                                  </m:fPr>
                                  <m:num>
                                    <m:sSup>
                                      <m:sSupPr>
                                        <m:ctrlPr>
                                          <a:rPr lang="es-ES" sz="1200" b="0" i="1" smtClean="0">
                                            <a:latin typeface="Cambria Math" panose="02040503050406030204" pitchFamily="18" charset="0"/>
                                            <a:cs typeface="Arial" panose="020B0604020202020204" pitchFamily="34" charset="0"/>
                                          </a:rPr>
                                        </m:ctrlPr>
                                      </m:sSupPr>
                                      <m:e>
                                        <m:r>
                                          <a:rPr lang="es-ES" sz="1200" b="0" i="1" smtClean="0">
                                            <a:latin typeface="Cambria Math" panose="02040503050406030204" pitchFamily="18" charset="0"/>
                                            <a:cs typeface="Arial" panose="020B0604020202020204" pitchFamily="34" charset="0"/>
                                          </a:rPr>
                                          <m:t>𝑠</m:t>
                                        </m:r>
                                      </m:e>
                                      <m:sup>
                                        <m:r>
                                          <a:rPr lang="es-ES" sz="1200" b="0" i="1" smtClean="0">
                                            <a:latin typeface="Cambria Math" panose="02040503050406030204" pitchFamily="18" charset="0"/>
                                            <a:cs typeface="Arial" panose="020B0604020202020204" pitchFamily="34" charset="0"/>
                                          </a:rPr>
                                          <m:t>2</m:t>
                                        </m:r>
                                      </m:sup>
                                    </m:sSup>
                                  </m:num>
                                  <m:den>
                                    <m:r>
                                      <a:rPr lang="es-ES" sz="1200" b="0" i="1" smtClean="0">
                                        <a:latin typeface="Cambria Math" panose="02040503050406030204" pitchFamily="18" charset="0"/>
                                        <a:cs typeface="Arial" panose="020B0604020202020204" pitchFamily="34" charset="0"/>
                                      </a:rPr>
                                      <m:t>𝑚</m:t>
                                    </m:r>
                                  </m:den>
                                </m:f>
                              </m:e>
                            </m:d>
                          </m:e>
                        </m:eqArr>
                      </m:e>
                    </m:d>
                  </m:oMath>
                </a14:m>
                <a:endParaRPr lang="es-ES" sz="1200" b="0" dirty="0">
                  <a:cs typeface="Arial" panose="020B0604020202020204" pitchFamily="34" charset="0"/>
                </a:endParaRPr>
              </a:p>
              <a:p>
                <a:pPr algn="just"/>
                <a:r>
                  <a:rPr lang="en-US" sz="1200" dirty="0">
                    <a:cs typeface="Arial" panose="020B0604020202020204" pitchFamily="34" charset="0"/>
                  </a:rPr>
                  <a:t>Comment on the results found for the TE0 and TM0 for both deep and shallow waveguides. </a:t>
                </a:r>
              </a:p>
              <a:p>
                <a:pPr algn="just"/>
                <a:endParaRPr lang="en-US" sz="1200" dirty="0">
                  <a:cs typeface="Arial" panose="020B0604020202020204" pitchFamily="34" charset="0"/>
                </a:endParaRPr>
              </a:p>
              <a:p>
                <a:pPr algn="just"/>
                <a:r>
                  <a:rPr lang="en-US" sz="1200" dirty="0">
                    <a:cs typeface="Arial" panose="020B0604020202020204" pitchFamily="34" charset="0"/>
                  </a:rPr>
                  <a:t>A </a:t>
                </a:r>
                <a:r>
                  <a:rPr lang="en-US" sz="1200" dirty="0" err="1">
                    <a:cs typeface="Arial" panose="020B0604020202020204" pitchFamily="34" charset="0"/>
                  </a:rPr>
                  <a:t>continuación</a:t>
                </a:r>
                <a:r>
                  <a:rPr lang="en-US" sz="1200" dirty="0">
                    <a:cs typeface="Arial" panose="020B0604020202020204" pitchFamily="34" charset="0"/>
                  </a:rPr>
                  <a:t> se </a:t>
                </a:r>
                <a:r>
                  <a:rPr lang="en-US" sz="1200" dirty="0" err="1">
                    <a:cs typeface="Arial" panose="020B0604020202020204" pitchFamily="34" charset="0"/>
                  </a:rPr>
                  <a:t>presenta</a:t>
                </a:r>
                <a:r>
                  <a:rPr lang="en-US" sz="1200" dirty="0">
                    <a:cs typeface="Arial" panose="020B0604020202020204" pitchFamily="34" charset="0"/>
                  </a:rPr>
                  <a:t> la </a:t>
                </a:r>
                <a:r>
                  <a:rPr lang="en-US" sz="1200" dirty="0" err="1">
                    <a:cs typeface="Arial" panose="020B0604020202020204" pitchFamily="34" charset="0"/>
                  </a:rPr>
                  <a:t>ecuacion</a:t>
                </a:r>
                <a:r>
                  <a:rPr lang="en-US" sz="1200" dirty="0">
                    <a:cs typeface="Arial" panose="020B0604020202020204" pitchFamily="34" charset="0"/>
                  </a:rPr>
                  <a:t> de </a:t>
                </a:r>
                <a:r>
                  <a:rPr lang="en-US" sz="1200" dirty="0" err="1">
                    <a:cs typeface="Arial" panose="020B0604020202020204" pitchFamily="34" charset="0"/>
                  </a:rPr>
                  <a:t>segundo</a:t>
                </a:r>
                <a:r>
                  <a:rPr lang="en-US" sz="1200" dirty="0">
                    <a:cs typeface="Arial" panose="020B0604020202020204" pitchFamily="34" charset="0"/>
                  </a:rPr>
                  <a:t> </a:t>
                </a:r>
                <a:r>
                  <a:rPr lang="en-US" sz="1200" dirty="0" err="1">
                    <a:cs typeface="Arial" panose="020B0604020202020204" pitchFamily="34" charset="0"/>
                  </a:rPr>
                  <a:t>grado</a:t>
                </a:r>
                <a:r>
                  <a:rPr lang="en-US" sz="1200" dirty="0">
                    <a:cs typeface="Arial" panose="020B0604020202020204" pitchFamily="34" charset="0"/>
                  </a:rPr>
                  <a:t> con </a:t>
                </a:r>
                <a:r>
                  <a:rPr lang="en-US" sz="1200" dirty="0" err="1">
                    <a:cs typeface="Arial" panose="020B0604020202020204" pitchFamily="34" charset="0"/>
                  </a:rPr>
                  <a:t>los</a:t>
                </a:r>
                <a:r>
                  <a:rPr lang="en-US" sz="1200" dirty="0">
                    <a:cs typeface="Arial" panose="020B0604020202020204" pitchFamily="34" charset="0"/>
                  </a:rPr>
                  <a:t> </a:t>
                </a:r>
                <a:r>
                  <a:rPr lang="en-US" sz="1200" dirty="0" err="1">
                    <a:cs typeface="Arial" panose="020B0604020202020204" pitchFamily="34" charset="0"/>
                  </a:rPr>
                  <a:t>coeficientes</a:t>
                </a:r>
                <a:r>
                  <a:rPr lang="en-US" sz="1200" dirty="0">
                    <a:cs typeface="Arial" panose="020B0604020202020204" pitchFamily="34" charset="0"/>
                  </a:rPr>
                  <a:t> </a:t>
                </a:r>
                <a:r>
                  <a:rPr lang="en-US" sz="1200" dirty="0" err="1">
                    <a:cs typeface="Arial" panose="020B0604020202020204" pitchFamily="34" charset="0"/>
                  </a:rPr>
                  <a:t>polinomicos</a:t>
                </a:r>
                <a:r>
                  <a:rPr lang="en-US" sz="1200" dirty="0">
                    <a:cs typeface="Arial" panose="020B0604020202020204" pitchFamily="34" charset="0"/>
                  </a:rPr>
                  <a:t>. Su </a:t>
                </a:r>
                <a:r>
                  <a:rPr lang="en-US" sz="1200" dirty="0" err="1">
                    <a:cs typeface="Arial" panose="020B0604020202020204" pitchFamily="34" charset="0"/>
                  </a:rPr>
                  <a:t>objetivo</a:t>
                </a:r>
                <a:r>
                  <a:rPr lang="en-US" sz="1200" dirty="0">
                    <a:cs typeface="Arial" panose="020B0604020202020204" pitchFamily="34" charset="0"/>
                  </a:rPr>
                  <a:t> es </a:t>
                </a:r>
                <a:r>
                  <a:rPr lang="en-US" sz="1200" dirty="0" err="1">
                    <a:cs typeface="Arial" panose="020B0604020202020204" pitchFamily="34" charset="0"/>
                  </a:rPr>
                  <a:t>disminuir</a:t>
                </a:r>
                <a:r>
                  <a:rPr lang="en-US" sz="1200" dirty="0">
                    <a:cs typeface="Arial" panose="020B0604020202020204" pitchFamily="34" charset="0"/>
                  </a:rPr>
                  <a:t> la </a:t>
                </a:r>
                <a:r>
                  <a:rPr lang="en-US" sz="1200" dirty="0" err="1">
                    <a:cs typeface="Arial" panose="020B0604020202020204" pitchFamily="34" charset="0"/>
                  </a:rPr>
                  <a:t>complejidad</a:t>
                </a:r>
                <a:r>
                  <a:rPr lang="en-US" sz="1200" dirty="0">
                    <a:cs typeface="Arial" panose="020B0604020202020204" pitchFamily="34" charset="0"/>
                  </a:rPr>
                  <a:t> de la </a:t>
                </a:r>
                <a:r>
                  <a:rPr lang="en-US" sz="1200" dirty="0" err="1">
                    <a:cs typeface="Arial" panose="020B0604020202020204" pitchFamily="34" charset="0"/>
                  </a:rPr>
                  <a:t>representacion</a:t>
                </a:r>
                <a:r>
                  <a:rPr lang="en-US" sz="1200" dirty="0">
                    <a:cs typeface="Arial" panose="020B0604020202020204" pitchFamily="34" charset="0"/>
                  </a:rPr>
                  <a:t> y del </a:t>
                </a:r>
                <a:r>
                  <a:rPr lang="en-US" sz="1200" dirty="0" err="1">
                    <a:cs typeface="Arial" panose="020B0604020202020204" pitchFamily="34" charset="0"/>
                  </a:rPr>
                  <a:t>calculo</a:t>
                </a:r>
                <a:r>
                  <a:rPr lang="en-US" sz="1200" dirty="0">
                    <a:cs typeface="Arial" panose="020B0604020202020204" pitchFamily="34" charset="0"/>
                  </a:rPr>
                  <a:t> de las </a:t>
                </a:r>
                <a:r>
                  <a:rPr lang="en-US" sz="1200" dirty="0" err="1">
                    <a:cs typeface="Arial" panose="020B0604020202020204" pitchFamily="34" charset="0"/>
                  </a:rPr>
                  <a:t>guias</a:t>
                </a:r>
                <a:r>
                  <a:rPr lang="en-US" sz="1200" dirty="0">
                    <a:cs typeface="Arial" panose="020B0604020202020204" pitchFamily="34" charset="0"/>
                  </a:rPr>
                  <a:t> de </a:t>
                </a:r>
                <a:r>
                  <a:rPr lang="en-US" sz="1200" dirty="0" err="1">
                    <a:cs typeface="Arial" panose="020B0604020202020204" pitchFamily="34" charset="0"/>
                  </a:rPr>
                  <a:t>onda</a:t>
                </a:r>
                <a:r>
                  <a:rPr lang="en-US" sz="1200" dirty="0">
                    <a:cs typeface="Arial" panose="020B0604020202020204" pitchFamily="34" charset="0"/>
                  </a:rPr>
                  <a:t>, </a:t>
                </a:r>
                <a:r>
                  <a:rPr lang="en-US" sz="1200" dirty="0" err="1">
                    <a:cs typeface="Arial" panose="020B0604020202020204" pitchFamily="34" charset="0"/>
                  </a:rPr>
                  <a:t>llevando</a:t>
                </a:r>
                <a:r>
                  <a:rPr lang="en-US" sz="1200" dirty="0">
                    <a:cs typeface="Arial" panose="020B0604020202020204" pitchFamily="34" charset="0"/>
                  </a:rPr>
                  <a:t> a </a:t>
                </a:r>
                <a:r>
                  <a:rPr lang="en-US" sz="1200" dirty="0" err="1">
                    <a:cs typeface="Arial" panose="020B0604020202020204" pitchFamily="34" charset="0"/>
                  </a:rPr>
                  <a:t>cabo</a:t>
                </a:r>
                <a:r>
                  <a:rPr lang="en-US" sz="1200" dirty="0">
                    <a:cs typeface="Arial" panose="020B0604020202020204" pitchFamily="34" charset="0"/>
                  </a:rPr>
                  <a:t> </a:t>
                </a:r>
                <a:r>
                  <a:rPr lang="en-US" sz="1200" dirty="0" err="1">
                    <a:cs typeface="Arial" panose="020B0604020202020204" pitchFamily="34" charset="0"/>
                  </a:rPr>
                  <a:t>una</a:t>
                </a:r>
                <a:r>
                  <a:rPr lang="en-US" sz="1200" dirty="0">
                    <a:cs typeface="Arial" panose="020B0604020202020204" pitchFamily="34" charset="0"/>
                  </a:rPr>
                  <a:t> </a:t>
                </a:r>
                <a:r>
                  <a:rPr lang="en-US" sz="1200" dirty="0" err="1">
                    <a:cs typeface="Arial" panose="020B0604020202020204" pitchFamily="34" charset="0"/>
                  </a:rPr>
                  <a:t>aproximacion</a:t>
                </a:r>
                <a:r>
                  <a:rPr lang="en-US" sz="1200" dirty="0">
                    <a:cs typeface="Arial" panose="020B0604020202020204" pitchFamily="34" charset="0"/>
                  </a:rPr>
                  <a:t> de sus indices </a:t>
                </a:r>
                <a:r>
                  <a:rPr lang="en-US" sz="1200" dirty="0" err="1">
                    <a:cs typeface="Arial" panose="020B0604020202020204" pitchFamily="34" charset="0"/>
                  </a:rPr>
                  <a:t>efectivos</a:t>
                </a:r>
                <a:r>
                  <a:rPr lang="en-US" sz="1200" dirty="0">
                    <a:cs typeface="Arial" panose="020B0604020202020204" pitchFamily="34" charset="0"/>
                  </a:rPr>
                  <a:t> </a:t>
                </a:r>
                <a:r>
                  <a:rPr lang="en-US" sz="1200" dirty="0" err="1">
                    <a:cs typeface="Arial" panose="020B0604020202020204" pitchFamily="34" charset="0"/>
                  </a:rPr>
                  <a:t>en</a:t>
                </a:r>
                <a:r>
                  <a:rPr lang="en-US" sz="1200" dirty="0">
                    <a:cs typeface="Arial" panose="020B0604020202020204" pitchFamily="34" charset="0"/>
                  </a:rPr>
                  <a:t> </a:t>
                </a:r>
                <a:r>
                  <a:rPr lang="en-US" sz="1200" dirty="0" err="1">
                    <a:cs typeface="Arial" panose="020B0604020202020204" pitchFamily="34" charset="0"/>
                  </a:rPr>
                  <a:t>el</a:t>
                </a:r>
                <a:r>
                  <a:rPr lang="en-US" sz="1200" dirty="0">
                    <a:cs typeface="Arial" panose="020B0604020202020204" pitchFamily="34" charset="0"/>
                  </a:rPr>
                  <a:t> </a:t>
                </a:r>
                <a:r>
                  <a:rPr lang="en-US" sz="1200" dirty="0" err="1">
                    <a:cs typeface="Arial" panose="020B0604020202020204" pitchFamily="34" charset="0"/>
                  </a:rPr>
                  <a:t>rango</a:t>
                </a:r>
                <a:r>
                  <a:rPr lang="en-US" sz="1200" dirty="0">
                    <a:cs typeface="Arial" panose="020B0604020202020204" pitchFamily="34" charset="0"/>
                  </a:rPr>
                  <a:t> de longitudes de </a:t>
                </a:r>
                <a:r>
                  <a:rPr lang="en-US" sz="1200" dirty="0" err="1">
                    <a:cs typeface="Arial" panose="020B0604020202020204" pitchFamily="34" charset="0"/>
                  </a:rPr>
                  <a:t>onda</a:t>
                </a:r>
                <a:r>
                  <a:rPr lang="en-US" sz="1200" dirty="0">
                    <a:cs typeface="Arial" panose="020B0604020202020204" pitchFamily="34" charset="0"/>
                  </a:rPr>
                  <a:t> de 1.50 a 1.6, </a:t>
                </a:r>
                <a:r>
                  <a:rPr lang="en-US" sz="1200" dirty="0" err="1">
                    <a:cs typeface="Arial" panose="020B0604020202020204" pitchFamily="34" charset="0"/>
                  </a:rPr>
                  <a:t>tomando</a:t>
                </a:r>
                <a:r>
                  <a:rPr lang="en-US" sz="1200" dirty="0">
                    <a:cs typeface="Arial" panose="020B0604020202020204" pitchFamily="34" charset="0"/>
                  </a:rPr>
                  <a:t> </a:t>
                </a:r>
                <a:r>
                  <a:rPr lang="en-US" sz="1200" dirty="0" err="1">
                    <a:cs typeface="Arial" panose="020B0604020202020204" pitchFamily="34" charset="0"/>
                  </a:rPr>
                  <a:t>como</a:t>
                </a:r>
                <a:r>
                  <a:rPr lang="en-US" sz="1200" dirty="0">
                    <a:cs typeface="Arial" panose="020B0604020202020204" pitchFamily="34" charset="0"/>
                  </a:rPr>
                  <a:t> </a:t>
                </a:r>
                <a:r>
                  <a:rPr lang="en-US" sz="1200" dirty="0" err="1">
                    <a:cs typeface="Arial" panose="020B0604020202020204" pitchFamily="34" charset="0"/>
                  </a:rPr>
                  <a:t>referencia</a:t>
                </a:r>
                <a:r>
                  <a:rPr lang="en-US" sz="1200" dirty="0">
                    <a:cs typeface="Arial" panose="020B0604020202020204" pitchFamily="34" charset="0"/>
                  </a:rPr>
                  <a:t> 1.55.</a:t>
                </a:r>
              </a:p>
              <a:p>
                <a:pPr algn="just"/>
                <a:endParaRPr lang="en-US" sz="1200" dirty="0">
                  <a:cs typeface="Arial" panose="020B0604020202020204" pitchFamily="34" charset="0"/>
                </a:endParaRPr>
              </a:p>
              <a:p>
                <a:pPr algn="just"/>
                <a:r>
                  <a:rPr lang="en-US" sz="1200" dirty="0">
                    <a:cs typeface="Arial" panose="020B0604020202020204" pitchFamily="34" charset="0"/>
                  </a:rPr>
                  <a:t>Para </a:t>
                </a:r>
                <a:r>
                  <a:rPr lang="en-US" sz="1200" dirty="0" err="1">
                    <a:cs typeface="Arial" panose="020B0604020202020204" pitchFamily="34" charset="0"/>
                  </a:rPr>
                  <a:t>ello</a:t>
                </a:r>
                <a:r>
                  <a:rPr lang="en-US" sz="1200" dirty="0">
                    <a:cs typeface="Arial" panose="020B0604020202020204" pitchFamily="34" charset="0"/>
                  </a:rPr>
                  <a:t>, se </a:t>
                </a:r>
                <a:r>
                  <a:rPr lang="en-US" sz="1200" dirty="0" err="1">
                    <a:cs typeface="Arial" panose="020B0604020202020204" pitchFamily="34" charset="0"/>
                  </a:rPr>
                  <a:t>han</a:t>
                </a:r>
                <a:r>
                  <a:rPr lang="en-US" sz="1200" dirty="0">
                    <a:cs typeface="Arial" panose="020B0604020202020204" pitchFamily="34" charset="0"/>
                  </a:rPr>
                  <a:t> </a:t>
                </a:r>
                <a:r>
                  <a:rPr lang="en-US" sz="1200" dirty="0" err="1">
                    <a:cs typeface="Arial" panose="020B0604020202020204" pitchFamily="34" charset="0"/>
                  </a:rPr>
                  <a:t>tomado</a:t>
                </a:r>
                <a:r>
                  <a:rPr lang="en-US" sz="1200" dirty="0">
                    <a:cs typeface="Arial" panose="020B0604020202020204" pitchFamily="34" charset="0"/>
                  </a:rPr>
                  <a:t> las dos </a:t>
                </a:r>
                <a:r>
                  <a:rPr lang="en-US" sz="1200" dirty="0" err="1">
                    <a:cs typeface="Arial" panose="020B0604020202020204" pitchFamily="34" charset="0"/>
                  </a:rPr>
                  <a:t>funciones</a:t>
                </a:r>
                <a:r>
                  <a:rPr lang="en-US" sz="1200" dirty="0">
                    <a:cs typeface="Arial" panose="020B0604020202020204" pitchFamily="34" charset="0"/>
                  </a:rPr>
                  <a:t> </a:t>
                </a:r>
                <a:r>
                  <a:rPr lang="en-US" sz="1200" dirty="0" err="1">
                    <a:cs typeface="Arial" panose="020B0604020202020204" pitchFamily="34" charset="0"/>
                  </a:rPr>
                  <a:t>creadas</a:t>
                </a:r>
                <a:r>
                  <a:rPr lang="en-US" sz="1200" dirty="0">
                    <a:cs typeface="Arial" panose="020B0604020202020204" pitchFamily="34" charset="0"/>
                  </a:rPr>
                  <a:t> </a:t>
                </a:r>
                <a:r>
                  <a:rPr lang="en-US" sz="1200" dirty="0" err="1">
                    <a:cs typeface="Arial" panose="020B0604020202020204" pitchFamily="34" charset="0"/>
                  </a:rPr>
                  <a:t>en</a:t>
                </a:r>
                <a:r>
                  <a:rPr lang="en-US" sz="1200" dirty="0">
                    <a:cs typeface="Arial" panose="020B0604020202020204" pitchFamily="34" charset="0"/>
                  </a:rPr>
                  <a:t> </a:t>
                </a:r>
                <a:r>
                  <a:rPr lang="en-US" sz="1200" dirty="0" err="1">
                    <a:cs typeface="Arial" panose="020B0604020202020204" pitchFamily="34" charset="0"/>
                  </a:rPr>
                  <a:t>el</a:t>
                </a:r>
                <a:r>
                  <a:rPr lang="en-US" sz="1200" dirty="0">
                    <a:cs typeface="Arial" panose="020B0604020202020204" pitchFamily="34" charset="0"/>
                  </a:rPr>
                  <a:t> LO.2, tanto para la deep </a:t>
                </a:r>
                <a:r>
                  <a:rPr lang="en-US" sz="1200" dirty="0" err="1">
                    <a:cs typeface="Arial" panose="020B0604020202020204" pitchFamily="34" charset="0"/>
                  </a:rPr>
                  <a:t>como</a:t>
                </a:r>
                <a:r>
                  <a:rPr lang="en-US" sz="1200" dirty="0">
                    <a:cs typeface="Arial" panose="020B0604020202020204" pitchFamily="34" charset="0"/>
                  </a:rPr>
                  <a:t> para la shallow. A </a:t>
                </a:r>
                <a:r>
                  <a:rPr lang="en-US" sz="1200" dirty="0" err="1">
                    <a:cs typeface="Arial" panose="020B0604020202020204" pitchFamily="34" charset="0"/>
                  </a:rPr>
                  <a:t>partir</a:t>
                </a:r>
                <a:r>
                  <a:rPr lang="en-US" sz="1200" dirty="0">
                    <a:cs typeface="Arial" panose="020B0604020202020204" pitchFamily="34" charset="0"/>
                  </a:rPr>
                  <a:t> </a:t>
                </a:r>
                <a:r>
                  <a:rPr lang="es-ES" sz="1200" dirty="0"/>
                  <a:t>de los resultados obtenidos con el </a:t>
                </a:r>
                <a:r>
                  <a:rPr lang="es-ES" sz="1200" dirty="0" err="1"/>
                  <a:t>ModeSolver</a:t>
                </a:r>
                <a:r>
                  <a:rPr lang="en-US" sz="1200" dirty="0">
                    <a:cs typeface="Arial" panose="020B0604020202020204" pitchFamily="34" charset="0"/>
                  </a:rPr>
                  <a:t>, </a:t>
                </a:r>
                <a:r>
                  <a:rPr lang="es-ES" sz="1200" dirty="0"/>
                  <a:t>se ha realizado un ajuste polinómico de segundo orden en torno a </a:t>
                </a:r>
                <a:r>
                  <a:rPr lang="el-GR" sz="1200" dirty="0"/>
                  <a:t>λ₀, </a:t>
                </a:r>
                <a:r>
                  <a:rPr lang="es-ES" sz="1200" dirty="0"/>
                  <a:t>obteniendo los coeficientes </a:t>
                </a:r>
                <a14:m>
                  <m:oMath xmlns:m="http://schemas.openxmlformats.org/officeDocument/2006/math">
                    <m:sSub>
                      <m:sSubPr>
                        <m:ctrlPr>
                          <a:rPr lang="ar-AE" sz="1200" i="1">
                            <a:latin typeface="Cambria Math" panose="02040503050406030204" pitchFamily="18" charset="0"/>
                          </a:rPr>
                        </m:ctrlPr>
                      </m:sSubPr>
                      <m:e>
                        <m:r>
                          <a:rPr lang="ar-AE" sz="1200" i="1">
                            <a:latin typeface="Cambria Math" panose="02040503050406030204" pitchFamily="18" charset="0"/>
                          </a:rPr>
                          <m:t>𝑛</m:t>
                        </m:r>
                      </m:e>
                      <m:sub>
                        <m:r>
                          <a:rPr lang="ar-AE" sz="1200">
                            <a:latin typeface="Cambria Math" panose="02040503050406030204" pitchFamily="18" charset="0"/>
                          </a:rPr>
                          <m:t>1</m:t>
                        </m:r>
                      </m:sub>
                    </m:sSub>
                  </m:oMath>
                </a14:m>
                <a:r>
                  <a:rPr lang="ar-AE" sz="1200" dirty="0"/>
                  <a:t>, </a:t>
                </a:r>
                <a14:m>
                  <m:oMath xmlns:m="http://schemas.openxmlformats.org/officeDocument/2006/math">
                    <m:sSub>
                      <m:sSubPr>
                        <m:ctrlPr>
                          <a:rPr lang="ar-AE" sz="1200" i="1">
                            <a:latin typeface="Cambria Math" panose="02040503050406030204" pitchFamily="18" charset="0"/>
                          </a:rPr>
                        </m:ctrlPr>
                      </m:sSubPr>
                      <m:e>
                        <m:r>
                          <a:rPr lang="ar-AE" sz="1200" i="1">
                            <a:latin typeface="Cambria Math" panose="02040503050406030204" pitchFamily="18" charset="0"/>
                          </a:rPr>
                          <m:t>𝑛</m:t>
                        </m:r>
                      </m:e>
                      <m:sub>
                        <m:r>
                          <a:rPr lang="ar-AE" sz="1200">
                            <a:latin typeface="Cambria Math" panose="02040503050406030204" pitchFamily="18" charset="0"/>
                          </a:rPr>
                          <m:t>2</m:t>
                        </m:r>
                      </m:sub>
                    </m:sSub>
                  </m:oMath>
                </a14:m>
                <a:r>
                  <a:rPr lang="es-ES" sz="1200" dirty="0"/>
                  <a:t>y </a:t>
                </a:r>
                <a14:m>
                  <m:oMath xmlns:m="http://schemas.openxmlformats.org/officeDocument/2006/math">
                    <m:sSub>
                      <m:sSubPr>
                        <m:ctrlPr>
                          <a:rPr lang="ar-AE" sz="1200" i="1">
                            <a:latin typeface="Cambria Math" panose="02040503050406030204" pitchFamily="18" charset="0"/>
                          </a:rPr>
                        </m:ctrlPr>
                      </m:sSubPr>
                      <m:e>
                        <m:r>
                          <a:rPr lang="ar-AE" sz="1200" i="1">
                            <a:latin typeface="Cambria Math" panose="02040503050406030204" pitchFamily="18" charset="0"/>
                          </a:rPr>
                          <m:t>𝑛</m:t>
                        </m:r>
                      </m:e>
                      <m:sub>
                        <m:r>
                          <a:rPr lang="ar-AE" sz="1200">
                            <a:latin typeface="Cambria Math" panose="02040503050406030204" pitchFamily="18" charset="0"/>
                          </a:rPr>
                          <m:t>3</m:t>
                        </m:r>
                      </m:sub>
                    </m:sSub>
                  </m:oMath>
                </a14:m>
                <a:r>
                  <a:rPr lang="ar-AE" sz="1200" dirty="0"/>
                  <a:t>, </a:t>
                </a:r>
                <a:r>
                  <a:rPr lang="es-ES" sz="1200" dirty="0"/>
                  <a:t>así como el índice de grupo y el parámetro de dispersión.</a:t>
                </a:r>
                <a:r>
                  <a:rPr lang="en-US" sz="1200" dirty="0">
                    <a:cs typeface="Arial" panose="020B0604020202020204" pitchFamily="34" charset="0"/>
                  </a:rPr>
                  <a:t>. </a:t>
                </a:r>
              </a:p>
              <a:p>
                <a:pPr algn="just"/>
                <a:endParaRPr lang="en-US" sz="1200" dirty="0">
                  <a:cs typeface="Arial" panose="020B0604020202020204" pitchFamily="34" charset="0"/>
                </a:endParaRPr>
              </a:p>
              <a:p>
                <a:pPr algn="just"/>
                <a:r>
                  <a:rPr lang="en-US" sz="1200" dirty="0" err="1">
                    <a:cs typeface="Arial" panose="020B0604020202020204" pitchFamily="34" charset="0"/>
                  </a:rPr>
                  <a:t>Posteriormente</a:t>
                </a:r>
                <a:r>
                  <a:rPr lang="en-US" sz="1200" dirty="0">
                    <a:cs typeface="Arial" panose="020B0604020202020204" pitchFamily="34" charset="0"/>
                  </a:rPr>
                  <a:t>, se </a:t>
                </a:r>
                <a:r>
                  <a:rPr lang="en-US" sz="1200" dirty="0" err="1">
                    <a:cs typeface="Arial" panose="020B0604020202020204" pitchFamily="34" charset="0"/>
                  </a:rPr>
                  <a:t>han</a:t>
                </a:r>
                <a:r>
                  <a:rPr lang="en-US" sz="1200" dirty="0">
                    <a:cs typeface="Arial" panose="020B0604020202020204" pitchFamily="34" charset="0"/>
                  </a:rPr>
                  <a:t> </a:t>
                </a:r>
                <a:r>
                  <a:rPr lang="en-US" sz="1200" dirty="0" err="1">
                    <a:cs typeface="Arial" panose="020B0604020202020204" pitchFamily="34" charset="0"/>
                  </a:rPr>
                  <a:t>analizado</a:t>
                </a:r>
                <a:r>
                  <a:rPr lang="en-US" sz="1200" dirty="0">
                    <a:cs typeface="Arial" panose="020B0604020202020204" pitchFamily="34" charset="0"/>
                  </a:rPr>
                  <a:t> </a:t>
                </a:r>
                <a:r>
                  <a:rPr lang="en-US" sz="1200" dirty="0" err="1">
                    <a:cs typeface="Arial" panose="020B0604020202020204" pitchFamily="34" charset="0"/>
                  </a:rPr>
                  <a:t>los</a:t>
                </a:r>
                <a:r>
                  <a:rPr lang="en-US" sz="1200" dirty="0">
                    <a:cs typeface="Arial" panose="020B0604020202020204" pitchFamily="34" charset="0"/>
                  </a:rPr>
                  <a:t> </a:t>
                </a:r>
                <a:r>
                  <a:rPr lang="en-US" sz="1200" dirty="0" err="1">
                    <a:cs typeface="Arial" panose="020B0604020202020204" pitchFamily="34" charset="0"/>
                  </a:rPr>
                  <a:t>resultados</a:t>
                </a:r>
                <a:r>
                  <a:rPr lang="en-US" sz="1200" dirty="0">
                    <a:cs typeface="Arial" panose="020B0604020202020204" pitchFamily="34" charset="0"/>
                  </a:rPr>
                  <a:t> y se ha </a:t>
                </a:r>
                <a:r>
                  <a:rPr lang="en-US" sz="1200" dirty="0" err="1">
                    <a:cs typeface="Arial" panose="020B0604020202020204" pitchFamily="34" charset="0"/>
                  </a:rPr>
                  <a:t>llegado</a:t>
                </a:r>
                <a:r>
                  <a:rPr lang="en-US" sz="1200" dirty="0">
                    <a:cs typeface="Arial" panose="020B0604020202020204" pitchFamily="34" charset="0"/>
                  </a:rPr>
                  <a:t> a la conclusion de </a:t>
                </a:r>
                <a:r>
                  <a:rPr lang="en-US" sz="1200" dirty="0" err="1">
                    <a:cs typeface="Arial" panose="020B0604020202020204" pitchFamily="34" charset="0"/>
                  </a:rPr>
                  <a:t>que</a:t>
                </a:r>
                <a:r>
                  <a:rPr lang="en-US" sz="1200" dirty="0">
                    <a:cs typeface="Arial" panose="020B0604020202020204" pitchFamily="34" charset="0"/>
                  </a:rPr>
                  <a:t> son </a:t>
                </a:r>
                <a:r>
                  <a:rPr lang="en-US" sz="1200" dirty="0" err="1">
                    <a:cs typeface="Arial" panose="020B0604020202020204" pitchFamily="34" charset="0"/>
                  </a:rPr>
                  <a:t>correctos</a:t>
                </a:r>
                <a:r>
                  <a:rPr lang="en-US" sz="1200" dirty="0">
                    <a:cs typeface="Arial" panose="020B0604020202020204" pitchFamily="34" charset="0"/>
                  </a:rPr>
                  <a:t>, </a:t>
                </a:r>
                <a:r>
                  <a:rPr lang="en-US" sz="1200" dirty="0" err="1">
                    <a:cs typeface="Arial" panose="020B0604020202020204" pitchFamily="34" charset="0"/>
                  </a:rPr>
                  <a:t>ya</a:t>
                </a:r>
                <a:r>
                  <a:rPr lang="en-US" sz="1200" dirty="0">
                    <a:cs typeface="Arial" panose="020B0604020202020204" pitchFamily="34" charset="0"/>
                  </a:rPr>
                  <a:t> </a:t>
                </a:r>
                <a:r>
                  <a:rPr lang="en-US" sz="1200" dirty="0" err="1">
                    <a:cs typeface="Arial" panose="020B0604020202020204" pitchFamily="34" charset="0"/>
                  </a:rPr>
                  <a:t>que</a:t>
                </a:r>
                <a:r>
                  <a:rPr lang="en-US" sz="1200" dirty="0">
                    <a:cs typeface="Arial" panose="020B0604020202020204" pitchFamily="34" charset="0"/>
                  </a:rPr>
                  <a:t> </a:t>
                </a:r>
                <a:r>
                  <a:rPr lang="en-US" sz="1200" dirty="0" err="1">
                    <a:cs typeface="Arial" panose="020B0604020202020204" pitchFamily="34" charset="0"/>
                  </a:rPr>
                  <a:t>el</a:t>
                </a:r>
                <a:r>
                  <a:rPr lang="en-US" sz="1200" dirty="0">
                    <a:cs typeface="Arial" panose="020B0604020202020204" pitchFamily="34" charset="0"/>
                  </a:rPr>
                  <a:t> </a:t>
                </a:r>
                <a:r>
                  <a:rPr lang="en-US" sz="1200" dirty="0" err="1">
                    <a:cs typeface="Arial" panose="020B0604020202020204" pitchFamily="34" charset="0"/>
                  </a:rPr>
                  <a:t>coeficiente</a:t>
                </a:r>
                <a:r>
                  <a:rPr lang="en-US" sz="1200" dirty="0">
                    <a:cs typeface="Arial" panose="020B0604020202020204" pitchFamily="34" charset="0"/>
                  </a:rPr>
                  <a:t> n1 </a:t>
                </a:r>
                <a:r>
                  <a:rPr lang="en-US" sz="1200" dirty="0" err="1">
                    <a:cs typeface="Arial" panose="020B0604020202020204" pitchFamily="34" charset="0"/>
                  </a:rPr>
                  <a:t>corresponde</a:t>
                </a:r>
                <a:r>
                  <a:rPr lang="en-US" sz="1200" dirty="0">
                    <a:cs typeface="Arial" panose="020B0604020202020204" pitchFamily="34" charset="0"/>
                  </a:rPr>
                  <a:t> al </a:t>
                </a:r>
                <a:r>
                  <a:rPr lang="en-US" sz="1200" dirty="0" err="1">
                    <a:cs typeface="Arial" panose="020B0604020202020204" pitchFamily="34" charset="0"/>
                  </a:rPr>
                  <a:t>indice</a:t>
                </a:r>
                <a:r>
                  <a:rPr lang="en-US" sz="1200" dirty="0">
                    <a:cs typeface="Arial" panose="020B0604020202020204" pitchFamily="34" charset="0"/>
                  </a:rPr>
                  <a:t> </a:t>
                </a:r>
                <a:r>
                  <a:rPr lang="en-US" sz="1200" dirty="0" err="1">
                    <a:cs typeface="Arial" panose="020B0604020202020204" pitchFamily="34" charset="0"/>
                  </a:rPr>
                  <a:t>efectivo</a:t>
                </a:r>
                <a:r>
                  <a:rPr lang="en-US" sz="1200" dirty="0">
                    <a:cs typeface="Arial" panose="020B0604020202020204" pitchFamily="34" charset="0"/>
                  </a:rPr>
                  <a:t> </a:t>
                </a:r>
                <a:r>
                  <a:rPr lang="en-US" sz="1200" dirty="0" err="1">
                    <a:cs typeface="Arial" panose="020B0604020202020204" pitchFamily="34" charset="0"/>
                  </a:rPr>
                  <a:t>en</a:t>
                </a:r>
                <a:r>
                  <a:rPr lang="en-US" sz="1200" dirty="0">
                    <a:cs typeface="Arial" panose="020B0604020202020204" pitchFamily="34" charset="0"/>
                  </a:rPr>
                  <a:t> </a:t>
                </a:r>
                <a:r>
                  <a:rPr lang="en-US" sz="1200" dirty="0" err="1">
                    <a:cs typeface="Arial" panose="020B0604020202020204" pitchFamily="34" charset="0"/>
                  </a:rPr>
                  <a:t>cada</a:t>
                </a:r>
                <a:r>
                  <a:rPr lang="en-US" sz="1200" dirty="0">
                    <a:cs typeface="Arial" panose="020B0604020202020204" pitchFamily="34" charset="0"/>
                  </a:rPr>
                  <a:t> modo </a:t>
                </a:r>
                <a:r>
                  <a:rPr lang="en-US" sz="1200" dirty="0" err="1">
                    <a:cs typeface="Arial" panose="020B0604020202020204" pitchFamily="34" charset="0"/>
                  </a:rPr>
                  <a:t>en</a:t>
                </a:r>
                <a:r>
                  <a:rPr lang="en-US" sz="1200" dirty="0">
                    <a:cs typeface="Arial" panose="020B0604020202020204" pitchFamily="34" charset="0"/>
                  </a:rPr>
                  <a:t> la </a:t>
                </a:r>
                <a:r>
                  <a:rPr lang="en-US" sz="1200" dirty="0" err="1">
                    <a:cs typeface="Arial" panose="020B0604020202020204" pitchFamily="34" charset="0"/>
                  </a:rPr>
                  <a:t>longitud</a:t>
                </a:r>
                <a:r>
                  <a:rPr lang="en-US" sz="1200" dirty="0">
                    <a:cs typeface="Arial" panose="020B0604020202020204" pitchFamily="34" charset="0"/>
                  </a:rPr>
                  <a:t> de de </a:t>
                </a:r>
                <a:r>
                  <a:rPr lang="en-US" sz="1200" dirty="0" err="1">
                    <a:cs typeface="Arial" panose="020B0604020202020204" pitchFamily="34" charset="0"/>
                  </a:rPr>
                  <a:t>onda</a:t>
                </a:r>
                <a:r>
                  <a:rPr lang="en-US" sz="1200" dirty="0">
                    <a:cs typeface="Arial" panose="020B0604020202020204" pitchFamily="34" charset="0"/>
                  </a:rPr>
                  <a:t> de </a:t>
                </a:r>
                <a:r>
                  <a:rPr lang="en-US" sz="1200" dirty="0" err="1">
                    <a:cs typeface="Arial" panose="020B0604020202020204" pitchFamily="34" charset="0"/>
                  </a:rPr>
                  <a:t>referencia</a:t>
                </a:r>
                <a:r>
                  <a:rPr lang="en-US" sz="1200" dirty="0">
                    <a:cs typeface="Arial" panose="020B0604020202020204" pitchFamily="34" charset="0"/>
                  </a:rPr>
                  <a:t>. </a:t>
                </a:r>
                <a:r>
                  <a:rPr lang="es-ES" sz="1200" dirty="0"/>
                  <a:t>Además, </a:t>
                </a:r>
                <a14:m>
                  <m:oMath xmlns:m="http://schemas.openxmlformats.org/officeDocument/2006/math">
                    <m:sSub>
                      <m:sSubPr>
                        <m:ctrlPr>
                          <a:rPr lang="ar-AE" sz="1200" i="1">
                            <a:latin typeface="Cambria Math" panose="02040503050406030204" pitchFamily="18" charset="0"/>
                          </a:rPr>
                        </m:ctrlPr>
                      </m:sSubPr>
                      <m:e>
                        <m:r>
                          <a:rPr lang="ar-AE" sz="1200" i="1">
                            <a:latin typeface="Cambria Math" panose="02040503050406030204" pitchFamily="18" charset="0"/>
                          </a:rPr>
                          <m:t>𝑛</m:t>
                        </m:r>
                      </m:e>
                      <m:sub>
                        <m:r>
                          <a:rPr lang="ar-AE" sz="1200">
                            <a:latin typeface="Cambria Math" panose="02040503050406030204" pitchFamily="18" charset="0"/>
                          </a:rPr>
                          <m:t>2</m:t>
                        </m:r>
                      </m:sub>
                    </m:sSub>
                  </m:oMath>
                </a14:m>
                <a:r>
                  <a:rPr lang="es-ES" sz="1200" dirty="0"/>
                  <a:t>es menor que cero, lo que indica que el índice efectivo disminuye al aumentar la longitud de onda debido al </a:t>
                </a:r>
                <a:r>
                  <a:rPr lang="es-ES" sz="1200" dirty="0" err="1"/>
                  <a:t>desconfiamiento</a:t>
                </a:r>
                <a:r>
                  <a:rPr lang="es-ES" sz="1200" dirty="0"/>
                  <a:t> modal. Por otro lado, la dispersión resulta negativa porque el coeficiente </a:t>
                </a:r>
                <a14:m>
                  <m:oMath xmlns:m="http://schemas.openxmlformats.org/officeDocument/2006/math">
                    <m:sSub>
                      <m:sSubPr>
                        <m:ctrlPr>
                          <a:rPr lang="ar-AE" sz="1200" i="1">
                            <a:latin typeface="Cambria Math" panose="02040503050406030204" pitchFamily="18" charset="0"/>
                          </a:rPr>
                        </m:ctrlPr>
                      </m:sSubPr>
                      <m:e>
                        <m:r>
                          <a:rPr lang="ar-AE" sz="1200" i="1">
                            <a:latin typeface="Cambria Math" panose="02040503050406030204" pitchFamily="18" charset="0"/>
                          </a:rPr>
                          <m:t>𝑛</m:t>
                        </m:r>
                      </m:e>
                      <m:sub>
                        <m:r>
                          <a:rPr lang="ar-AE" sz="1200">
                            <a:latin typeface="Cambria Math" panose="02040503050406030204" pitchFamily="18" charset="0"/>
                          </a:rPr>
                          <m:t>3</m:t>
                        </m:r>
                      </m:sub>
                    </m:sSub>
                  </m:oMath>
                </a14:m>
                <a:r>
                  <a:rPr lang="es-ES" sz="1200" dirty="0"/>
                  <a:t>es positivo, según la relación </a:t>
                </a:r>
                <a14:m>
                  <m:oMath xmlns:m="http://schemas.openxmlformats.org/officeDocument/2006/math">
                    <m:r>
                      <a:rPr lang="es-ES" sz="1200" i="1">
                        <a:latin typeface="Cambria Math" panose="02040503050406030204" pitchFamily="18" charset="0"/>
                      </a:rPr>
                      <m:t>𝐷</m:t>
                    </m:r>
                    <m:r>
                      <a:rPr lang="es-ES" sz="1200">
                        <a:latin typeface="Cambria Math" panose="02040503050406030204" pitchFamily="18" charset="0"/>
                      </a:rPr>
                      <m:t>=−</m:t>
                    </m:r>
                    <m:f>
                      <m:fPr>
                        <m:ctrlPr>
                          <a:rPr lang="ar-AE" sz="1200" i="1">
                            <a:latin typeface="Cambria Math" panose="02040503050406030204" pitchFamily="18" charset="0"/>
                          </a:rPr>
                        </m:ctrlPr>
                      </m:fPr>
                      <m:num>
                        <m:r>
                          <a:rPr lang="ar-AE" sz="1200">
                            <a:latin typeface="Cambria Math" panose="02040503050406030204" pitchFamily="18" charset="0"/>
                          </a:rPr>
                          <m:t>2</m:t>
                        </m:r>
                        <m:sSub>
                          <m:sSubPr>
                            <m:ctrlPr>
                              <a:rPr lang="ar-AE" sz="1200" i="1">
                                <a:latin typeface="Cambria Math" panose="02040503050406030204" pitchFamily="18" charset="0"/>
                              </a:rPr>
                            </m:ctrlPr>
                          </m:sSubPr>
                          <m:e>
                            <m:r>
                              <a:rPr lang="ar-AE" sz="1200" i="1">
                                <a:latin typeface="Cambria Math" panose="02040503050406030204" pitchFamily="18" charset="0"/>
                              </a:rPr>
                              <m:t>𝜆</m:t>
                            </m:r>
                          </m:e>
                          <m:sub>
                            <m:r>
                              <a:rPr lang="ar-AE" sz="1200">
                                <a:latin typeface="Cambria Math" panose="02040503050406030204" pitchFamily="18" charset="0"/>
                              </a:rPr>
                              <m:t>0</m:t>
                            </m:r>
                          </m:sub>
                        </m:sSub>
                        <m:sSub>
                          <m:sSubPr>
                            <m:ctrlPr>
                              <a:rPr lang="ar-AE" sz="1200" i="1">
                                <a:latin typeface="Cambria Math" panose="02040503050406030204" pitchFamily="18" charset="0"/>
                              </a:rPr>
                            </m:ctrlPr>
                          </m:sSubPr>
                          <m:e>
                            <m:r>
                              <a:rPr lang="ar-AE" sz="1200" i="1">
                                <a:latin typeface="Cambria Math" panose="02040503050406030204" pitchFamily="18" charset="0"/>
                              </a:rPr>
                              <m:t>𝑛</m:t>
                            </m:r>
                          </m:e>
                          <m:sub>
                            <m:r>
                              <a:rPr lang="ar-AE" sz="1200">
                                <a:latin typeface="Cambria Math" panose="02040503050406030204" pitchFamily="18" charset="0"/>
                              </a:rPr>
                              <m:t>3</m:t>
                            </m:r>
                          </m:sub>
                        </m:sSub>
                      </m:num>
                      <m:den>
                        <m:r>
                          <a:rPr lang="ar-AE" sz="1200" i="1">
                            <a:latin typeface="Cambria Math" panose="02040503050406030204" pitchFamily="18" charset="0"/>
                          </a:rPr>
                          <m:t>𝑐</m:t>
                        </m:r>
                      </m:den>
                    </m:f>
                  </m:oMath>
                </a14:m>
                <a:r>
                  <a:rPr lang="ar-AE" sz="1200" dirty="0"/>
                  <a:t>, </a:t>
                </a:r>
                <a:r>
                  <a:rPr lang="es-ES" sz="1200" dirty="0"/>
                  <a:t>lo que implica una curvatura cóncava hacia arriba del índice efectivo en el rango analizado.</a:t>
                </a:r>
              </a:p>
              <a:p>
                <a:pPr algn="just"/>
                <a:endParaRPr lang="en-US" sz="1200" dirty="0">
                  <a:cs typeface="Arial" panose="020B0604020202020204" pitchFamily="34" charset="0"/>
                </a:endParaRPr>
              </a:p>
              <a:p>
                <a:pPr algn="just"/>
                <a:r>
                  <a:rPr lang="es-ES" sz="1200" dirty="0"/>
                  <a:t>Asimismo, se observa que la guía </a:t>
                </a:r>
                <a:r>
                  <a:rPr lang="es-ES" sz="1200" dirty="0" err="1"/>
                  <a:t>shallow</a:t>
                </a:r>
                <a:r>
                  <a:rPr lang="es-ES" sz="1200" dirty="0"/>
                  <a:t> presenta valores ligeramente mayores de índice efectivo que la </a:t>
                </a:r>
                <a:r>
                  <a:rPr lang="es-ES" sz="1200" dirty="0" err="1"/>
                  <a:t>deep</a:t>
                </a:r>
                <a:r>
                  <a:rPr lang="es-ES" sz="1200" dirty="0"/>
                  <a:t>, lo que indica un mayor confinamiento modal debido a la presencia del </a:t>
                </a:r>
                <a:r>
                  <a:rPr lang="es-ES" sz="1200" dirty="0" err="1"/>
                  <a:t>slab</a:t>
                </a:r>
                <a:r>
                  <a:rPr lang="es-ES" sz="1200" dirty="0"/>
                  <a:t>.</a:t>
                </a:r>
                <a:endParaRPr lang="en-US" sz="1200" dirty="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11E2B217-7A2F-7F84-8CFC-E023D5FB8F3B}"/>
                  </a:ext>
                </a:extLst>
              </p:cNvPr>
              <p:cNvSpPr txBox="1">
                <a:spLocks noRot="1" noChangeAspect="1" noMove="1" noResize="1" noEditPoints="1" noAdjustHandles="1" noChangeArrowheads="1" noChangeShapeType="1" noTextEdit="1"/>
              </p:cNvSpPr>
              <p:nvPr/>
            </p:nvSpPr>
            <p:spPr>
              <a:xfrm>
                <a:off x="481668" y="1690095"/>
                <a:ext cx="11198542" cy="3849324"/>
              </a:xfrm>
              <a:prstGeom prst="rect">
                <a:avLst/>
              </a:prstGeom>
              <a:blipFill>
                <a:blip r:embed="rId5"/>
                <a:stretch>
                  <a:fillRect/>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34633982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Bend waveguide radius vs. loss – deep</a:t>
            </a:r>
            <a:br>
              <a:rPr lang="en-US" sz="2500" dirty="0"/>
            </a:br>
            <a:r>
              <a:rPr lang="en-US" b="0" dirty="0"/>
              <a:t>Find  neff_TE0 for </a:t>
            </a:r>
            <a:r>
              <a:rPr lang="en-US" b="0" dirty="0" err="1"/>
              <a:t>wvl</a:t>
            </a:r>
            <a:r>
              <a:rPr lang="en-US" b="0" dirty="0"/>
              <a:t> 1.55 µm, width 1.2 µm for R=25,50,75,100, 125,150 µm</a:t>
            </a:r>
            <a:br>
              <a:rPr lang="en-US" sz="250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13</a:t>
            </a:fld>
            <a:endParaRPr lang="es-ES"/>
          </a:p>
        </p:txBody>
      </p:sp>
      <p:sp>
        <p:nvSpPr>
          <p:cNvPr id="3" name="Marcador de pie de página 2">
            <a:extLst>
              <a:ext uri="{FF2B5EF4-FFF2-40B4-BE49-F238E27FC236}">
                <a16:creationId xmlns:a16="http://schemas.microsoft.com/office/drawing/2014/main" id="{AA1F4313-D710-7A3E-7A8F-EB77DEE3C1A7}"/>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7" name="Rectángulo 6">
            <a:extLst>
              <a:ext uri="{FF2B5EF4-FFF2-40B4-BE49-F238E27FC236}">
                <a16:creationId xmlns:a16="http://schemas.microsoft.com/office/drawing/2014/main" id="{B5FE8755-B0BF-14B7-64E6-4BBB2560B9A6}"/>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331EBD86-BA6C-68C9-2D38-FC8CFBA7ADC4}"/>
              </a:ext>
            </a:extLst>
          </p:cNvPr>
          <p:cNvSpPr txBox="1"/>
          <p:nvPr/>
        </p:nvSpPr>
        <p:spPr>
          <a:xfrm>
            <a:off x="6078894" y="1816202"/>
            <a:ext cx="6235717"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Total Loss (dB/90º) vs R &amp; neff_TE0 vs R</a:t>
            </a:r>
          </a:p>
        </p:txBody>
      </p:sp>
      <p:pic>
        <p:nvPicPr>
          <p:cNvPr id="5" name="Imagen 4" descr="Gráfico, Gráfico de dispersión&#10;&#10;El contenido generado por IA puede ser incorrecto.">
            <a:extLst>
              <a:ext uri="{FF2B5EF4-FFF2-40B4-BE49-F238E27FC236}">
                <a16:creationId xmlns:a16="http://schemas.microsoft.com/office/drawing/2014/main" id="{70A89036-EB7E-9A46-D116-F1BAD743101C}"/>
              </a:ext>
            </a:extLst>
          </p:cNvPr>
          <p:cNvPicPr>
            <a:picLocks noChangeAspect="1"/>
          </p:cNvPicPr>
          <p:nvPr/>
        </p:nvPicPr>
        <p:blipFill>
          <a:blip r:embed="rId5"/>
          <a:srcRect l="1995" t="902" r="1855" b="2727"/>
          <a:stretch>
            <a:fillRect/>
          </a:stretch>
        </p:blipFill>
        <p:spPr>
          <a:xfrm>
            <a:off x="660400" y="1475594"/>
            <a:ext cx="4993562" cy="3225476"/>
          </a:xfrm>
          <a:prstGeom prst="rect">
            <a:avLst/>
          </a:prstGeom>
        </p:spPr>
      </p:pic>
      <p:pic>
        <p:nvPicPr>
          <p:cNvPr id="9" name="Imagen 8" descr="Gráfico, Gráfico de líneas&#10;&#10;El contenido generado por IA puede ser incorrecto.">
            <a:extLst>
              <a:ext uri="{FF2B5EF4-FFF2-40B4-BE49-F238E27FC236}">
                <a16:creationId xmlns:a16="http://schemas.microsoft.com/office/drawing/2014/main" id="{9A312882-DF5D-CE26-F7E3-9D817AD22C22}"/>
              </a:ext>
            </a:extLst>
          </p:cNvPr>
          <p:cNvPicPr>
            <a:picLocks noChangeAspect="1"/>
          </p:cNvPicPr>
          <p:nvPr/>
        </p:nvPicPr>
        <p:blipFill>
          <a:blip r:embed="rId6"/>
          <a:srcRect t="2021" r="1086" b="733"/>
          <a:stretch>
            <a:fillRect/>
          </a:stretch>
        </p:blipFill>
        <p:spPr>
          <a:xfrm>
            <a:off x="6047402" y="1497072"/>
            <a:ext cx="5762010" cy="3205852"/>
          </a:xfrm>
          <a:prstGeom prst="rect">
            <a:avLst/>
          </a:prstGeom>
        </p:spPr>
      </p:pic>
    </p:spTree>
    <p:extLst>
      <p:ext uri="{BB962C8B-B14F-4D97-AF65-F5344CB8AC3E}">
        <p14:creationId xmlns:p14="http://schemas.microsoft.com/office/powerpoint/2010/main" val="36604382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3D025F-7C56-CF6A-394E-203CB01B0E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D811E270-6497-C24F-31EF-DFFBAE5521EA}"/>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Bend waveguide radius vs. loss – deep</a:t>
            </a:r>
            <a:br>
              <a:rPr lang="en-US" sz="2500" dirty="0"/>
            </a:br>
            <a:r>
              <a:rPr lang="en-US" b="0" dirty="0"/>
              <a:t>Find  neff_TE0 for </a:t>
            </a:r>
            <a:r>
              <a:rPr lang="en-US" b="0" dirty="0" err="1"/>
              <a:t>wvl</a:t>
            </a:r>
            <a:r>
              <a:rPr lang="en-US" b="0" dirty="0"/>
              <a:t> 1.55 µm, width 1.2 µm for R=25,50,75,100, 125,150 µm</a:t>
            </a:r>
            <a:br>
              <a:rPr lang="en-US" sz="250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BBE2C89A-E812-F179-8A96-5A335CB2A3A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4571273-BA80-70DE-5420-91DCEDAF3C4C}"/>
              </a:ext>
            </a:extLst>
          </p:cNvPr>
          <p:cNvSpPr>
            <a:spLocks noGrp="1"/>
          </p:cNvSpPr>
          <p:nvPr>
            <p:ph type="sldNum" sz="quarter" idx="7"/>
          </p:nvPr>
        </p:nvSpPr>
        <p:spPr/>
        <p:txBody>
          <a:bodyPr/>
          <a:lstStyle/>
          <a:p>
            <a:fld id="{B6F15528-21DE-4FAA-801E-634DDDAF4B2B}" type="slidenum">
              <a:rPr lang="es-ES" smtClean="0"/>
              <a:t>14</a:t>
            </a:fld>
            <a:endParaRPr lang="es-ES"/>
          </a:p>
        </p:txBody>
      </p:sp>
      <p:sp>
        <p:nvSpPr>
          <p:cNvPr id="3" name="Marcador de pie de página 2">
            <a:extLst>
              <a:ext uri="{FF2B5EF4-FFF2-40B4-BE49-F238E27FC236}">
                <a16:creationId xmlns:a16="http://schemas.microsoft.com/office/drawing/2014/main" id="{01FB8752-4AC3-FBE5-E695-D52471548915}"/>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C1DBD8C0-0238-565F-ED3C-EDDA517BD7D2}"/>
              </a:ext>
            </a:extLst>
          </p:cNvPr>
          <p:cNvSpPr txBox="1"/>
          <p:nvPr/>
        </p:nvSpPr>
        <p:spPr>
          <a:xfrm>
            <a:off x="228600" y="1219200"/>
            <a:ext cx="11734800" cy="507831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which is the safe radius?, consider safe means less than 0.1 dB/90º</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Para la </a:t>
            </a:r>
            <a:r>
              <a:rPr lang="en-US" sz="1200" dirty="0" err="1">
                <a:latin typeface="Arial" panose="020B0604020202020204" pitchFamily="34" charset="0"/>
                <a:cs typeface="Arial" panose="020B0604020202020204" pitchFamily="34" charset="0"/>
              </a:rPr>
              <a:t>ejecución</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este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ejercicio</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han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simulado</a:t>
            </a:r>
            <a:r>
              <a:rPr lang="en-US" sz="1200" dirty="0">
                <a:latin typeface="Arial" panose="020B0604020202020204" pitchFamily="34" charset="0"/>
                <a:cs typeface="Arial" panose="020B0604020202020204" pitchFamily="34" charset="0"/>
              </a:rPr>
              <a:t> las </a:t>
            </a:r>
            <a:r>
              <a:rPr lang="en-US" sz="1200" dirty="0" err="1">
                <a:latin typeface="Arial" panose="020B0604020202020204" pitchFamily="34" charset="0"/>
                <a:cs typeface="Arial" panose="020B0604020202020204" pitchFamily="34" charset="0"/>
              </a:rPr>
              <a:t>pérdidas</a:t>
            </a:r>
            <a:r>
              <a:rPr lang="en-US" sz="1200" dirty="0">
                <a:latin typeface="Arial" panose="020B0604020202020204" pitchFamily="34" charset="0"/>
                <a:cs typeface="Arial" panose="020B0604020202020204" pitchFamily="34" charset="0"/>
              </a:rPr>
              <a:t> de la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función</a:t>
            </a:r>
            <a:r>
              <a:rPr lang="en-US" sz="1200" dirty="0">
                <a:latin typeface="Arial" panose="020B0604020202020204" pitchFamily="34" charset="0"/>
                <a:cs typeface="Arial" panose="020B0604020202020204" pitchFamily="34" charset="0"/>
              </a:rPr>
              <a:t> del radio de </a:t>
            </a:r>
            <a:r>
              <a:rPr lang="en-US" sz="1200" dirty="0" err="1">
                <a:latin typeface="Arial" panose="020B0604020202020204" pitchFamily="34" charset="0"/>
                <a:cs typeface="Arial" panose="020B0604020202020204" pitchFamily="34" charset="0"/>
              </a:rPr>
              <a:t>curvatura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cual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caso</a:t>
            </a:r>
            <a:r>
              <a:rPr lang="en-US" sz="1200" dirty="0">
                <a:latin typeface="Arial" panose="020B0604020202020204" pitchFamily="34" charset="0"/>
                <a:cs typeface="Arial" panose="020B0604020202020204" pitchFamily="34" charset="0"/>
              </a:rPr>
              <a:t> se ha </a:t>
            </a:r>
            <a:r>
              <a:rPr lang="en-US" sz="1200" dirty="0" err="1">
                <a:latin typeface="Arial" panose="020B0604020202020204" pitchFamily="34" charset="0"/>
                <a:cs typeface="Arial" panose="020B0604020202020204" pitchFamily="34" charset="0"/>
              </a:rPr>
              <a:t>simulado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un </a:t>
            </a:r>
            <a:r>
              <a:rPr lang="en-US" sz="1200" dirty="0" err="1">
                <a:latin typeface="Arial" panose="020B0604020202020204" pitchFamily="34" charset="0"/>
                <a:cs typeface="Arial" panose="020B0604020202020204" pitchFamily="34" charset="0"/>
              </a:rPr>
              <a:t>rango</a:t>
            </a:r>
            <a:r>
              <a:rPr lang="en-US" sz="1200" dirty="0">
                <a:latin typeface="Arial" panose="020B0604020202020204" pitchFamily="34" charset="0"/>
                <a:cs typeface="Arial" panose="020B0604020202020204" pitchFamily="34" charset="0"/>
              </a:rPr>
              <a:t> de 25 a 150 um. Cabe </a:t>
            </a:r>
            <a:r>
              <a:rPr lang="en-US" sz="1200" dirty="0" err="1">
                <a:latin typeface="Arial" panose="020B0604020202020204" pitchFamily="34" charset="0"/>
                <a:cs typeface="Arial" panose="020B0604020202020204" pitchFamily="34" charset="0"/>
              </a:rPr>
              <a:t>mencionar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dichas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pérdidas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resultan</a:t>
            </a:r>
            <a:r>
              <a:rPr lang="en-US" sz="1200" dirty="0">
                <a:latin typeface="Arial" panose="020B0604020202020204" pitchFamily="34" charset="0"/>
                <a:cs typeface="Arial" panose="020B0604020202020204" pitchFamily="34" charset="0"/>
              </a:rPr>
              <a:t> de la </a:t>
            </a:r>
            <a:r>
              <a:rPr lang="en-US" sz="1200" dirty="0" err="1">
                <a:latin typeface="Arial" panose="020B0604020202020204" pitchFamily="34" charset="0"/>
                <a:cs typeface="Arial" panose="020B0604020202020204" pitchFamily="34" charset="0"/>
              </a:rPr>
              <a:t>suma</a:t>
            </a:r>
            <a:r>
              <a:rPr lang="en-US" sz="1200" dirty="0">
                <a:latin typeface="Arial" panose="020B0604020202020204" pitchFamily="34" charset="0"/>
                <a:cs typeface="Arial" panose="020B0604020202020204" pitchFamily="34" charset="0"/>
              </a:rPr>
              <a:t> de las </a:t>
            </a:r>
            <a:r>
              <a:rPr lang="en-US" sz="1200" dirty="0" err="1">
                <a:latin typeface="Arial" panose="020B0604020202020204" pitchFamily="34" charset="0"/>
                <a:cs typeface="Arial" panose="020B0604020202020204" pitchFamily="34" charset="0"/>
              </a:rPr>
              <a:t>pérdidas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por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modo y las </a:t>
            </a:r>
            <a:r>
              <a:rPr lang="en-US" sz="1200" dirty="0" err="1">
                <a:latin typeface="Arial" panose="020B0604020202020204" pitchFamily="34" charset="0"/>
                <a:cs typeface="Arial" panose="020B0604020202020204" pitchFamily="34" charset="0"/>
              </a:rPr>
              <a:t>pérdidas</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propagacion</a:t>
            </a:r>
            <a:r>
              <a:rPr lang="en-US" sz="1200" dirty="0">
                <a:latin typeface="Arial" panose="020B0604020202020204" pitchFamily="34" charset="0"/>
                <a:cs typeface="Arial" panose="020B0604020202020204" pitchFamily="34" charset="0"/>
              </a:rPr>
              <a:t>. Las de </a:t>
            </a:r>
            <a:r>
              <a:rPr lang="en-US" sz="1200" dirty="0" err="1">
                <a:latin typeface="Arial" panose="020B0604020202020204" pitchFamily="34" charset="0"/>
                <a:cs typeface="Arial" panose="020B0604020202020204" pitchFamily="34" charset="0"/>
              </a:rPr>
              <a:t>radiación</a:t>
            </a:r>
            <a:r>
              <a:rPr lang="en-US" sz="1200" dirty="0">
                <a:latin typeface="Arial" panose="020B0604020202020204" pitchFamily="34" charset="0"/>
                <a:cs typeface="Arial" panose="020B0604020202020204" pitchFamily="34" charset="0"/>
              </a:rPr>
              <a:t> no se </a:t>
            </a:r>
            <a:r>
              <a:rPr lang="en-US" sz="1200" dirty="0" err="1">
                <a:latin typeface="Arial" panose="020B0604020202020204" pitchFamily="34" charset="0"/>
                <a:cs typeface="Arial" panose="020B0604020202020204" pitchFamily="34" charset="0"/>
              </a:rPr>
              <a:t>han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tenido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cuenta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debido</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para </a:t>
            </a:r>
            <a:r>
              <a:rPr lang="en-US" sz="1200" dirty="0" err="1">
                <a:latin typeface="Arial" panose="020B0604020202020204" pitchFamily="34" charset="0"/>
                <a:cs typeface="Arial" panose="020B0604020202020204" pitchFamily="34" charset="0"/>
              </a:rPr>
              <a:t>esta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nitruro</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silicio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dichas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pérdidas</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radiación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resultan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muy</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pequeñas</a:t>
            </a:r>
            <a:r>
              <a:rPr lang="en-US" sz="1200" dirty="0">
                <a:latin typeface="Arial" panose="020B0604020202020204" pitchFamily="34" charset="0"/>
                <a:cs typeface="Arial" panose="020B0604020202020204" pitchFamily="34" charset="0"/>
              </a:rPr>
              <a:t> y </a:t>
            </a:r>
            <a:r>
              <a:rPr lang="en-US" sz="1200" dirty="0" err="1">
                <a:latin typeface="Arial" panose="020B0604020202020204" pitchFamily="34" charset="0"/>
                <a:cs typeface="Arial" panose="020B0604020202020204" pitchFamily="34" charset="0"/>
              </a:rPr>
              <a:t>por</a:t>
            </a:r>
            <a:r>
              <a:rPr lang="en-US" sz="1200" dirty="0">
                <a:latin typeface="Arial" panose="020B0604020202020204" pitchFamily="34" charset="0"/>
                <a:cs typeface="Arial" panose="020B0604020202020204" pitchFamily="34" charset="0"/>
              </a:rPr>
              <a:t> tanto no es </a:t>
            </a:r>
            <a:r>
              <a:rPr lang="en-US" sz="1200" dirty="0" err="1">
                <a:latin typeface="Arial" panose="020B0604020202020204" pitchFamily="34" charset="0"/>
                <a:cs typeface="Arial" panose="020B0604020202020204" pitchFamily="34" charset="0"/>
              </a:rPr>
              <a:t>necesario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su</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estudio</a:t>
            </a:r>
            <a:r>
              <a:rPr lang="en-US" sz="1200" dirty="0">
                <a:latin typeface="Arial" panose="020B0604020202020204" pitchFamily="34" charset="0"/>
                <a:cs typeface="Arial" panose="020B0604020202020204" pitchFamily="34" charset="0"/>
              </a:rPr>
              <a:t>.</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En la </a:t>
            </a:r>
            <a:r>
              <a:rPr lang="en-US" sz="1200" dirty="0" err="1">
                <a:latin typeface="Arial" panose="020B0604020202020204" pitchFamily="34" charset="0"/>
                <a:cs typeface="Arial" panose="020B0604020202020204" pitchFamily="34" charset="0"/>
              </a:rPr>
              <a:t>primera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gráfica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observamos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por</a:t>
            </a:r>
            <a:r>
              <a:rPr lang="en-US" sz="1200" dirty="0">
                <a:latin typeface="Arial" panose="020B0604020202020204" pitchFamily="34" charset="0"/>
                <a:cs typeface="Arial" panose="020B0604020202020204" pitchFamily="34" charset="0"/>
              </a:rPr>
              <a:t> un </a:t>
            </a:r>
            <a:r>
              <a:rPr lang="en-US" sz="1200" dirty="0" err="1">
                <a:latin typeface="Arial" panose="020B0604020202020204" pitchFamily="34" charset="0"/>
                <a:cs typeface="Arial" panose="020B0604020202020204" pitchFamily="34" charset="0"/>
              </a:rPr>
              <a:t>lado</a:t>
            </a:r>
            <a:r>
              <a:rPr lang="en-US" sz="1200" dirty="0">
                <a:latin typeface="Arial" panose="020B0604020202020204" pitchFamily="34" charset="0"/>
                <a:cs typeface="Arial" panose="020B0604020202020204" pitchFamily="34" charset="0"/>
              </a:rPr>
              <a:t> las </a:t>
            </a:r>
            <a:r>
              <a:rPr lang="en-US" sz="1200" dirty="0" err="1">
                <a:latin typeface="Arial" panose="020B0604020202020204" pitchFamily="34" charset="0"/>
                <a:cs typeface="Arial" panose="020B0604020202020204" pitchFamily="34" charset="0"/>
              </a:rPr>
              <a:t>pérdidas</a:t>
            </a:r>
            <a:r>
              <a:rPr lang="en-US" sz="1200" dirty="0">
                <a:latin typeface="Arial" panose="020B0604020202020204" pitchFamily="34" charset="0"/>
                <a:cs typeface="Arial" panose="020B0604020202020204" pitchFamily="34" charset="0"/>
              </a:rPr>
              <a:t> de modo y </a:t>
            </a:r>
            <a:r>
              <a:rPr lang="en-US" sz="1200" dirty="0" err="1">
                <a:latin typeface="Arial" panose="020B0604020202020204" pitchFamily="34" charset="0"/>
                <a:cs typeface="Arial" panose="020B0604020202020204" pitchFamily="34" charset="0"/>
              </a:rPr>
              <a:t>por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otro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lado</a:t>
            </a:r>
            <a:r>
              <a:rPr lang="en-US" sz="1200" dirty="0">
                <a:latin typeface="Arial" panose="020B0604020202020204" pitchFamily="34" charset="0"/>
                <a:cs typeface="Arial" panose="020B0604020202020204" pitchFamily="34" charset="0"/>
              </a:rPr>
              <a:t> las </a:t>
            </a:r>
            <a:r>
              <a:rPr lang="en-US" sz="1200" dirty="0" err="1">
                <a:latin typeface="Arial" panose="020B0604020202020204" pitchFamily="34" charset="0"/>
                <a:cs typeface="Arial" panose="020B0604020202020204" pitchFamily="34" charset="0"/>
              </a:rPr>
              <a:t>pérdidas</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propagación</a:t>
            </a:r>
            <a:r>
              <a:rPr lang="en-US" sz="1200" dirty="0">
                <a:latin typeface="Arial" panose="020B0604020202020204" pitchFamily="34" charset="0"/>
                <a:cs typeface="Arial" panose="020B0604020202020204" pitchFamily="34" charset="0"/>
              </a:rPr>
              <a:t>. Para </a:t>
            </a:r>
            <a:r>
              <a:rPr lang="en-US" sz="1200" dirty="0" err="1">
                <a:latin typeface="Arial" panose="020B0604020202020204" pitchFamily="34" charset="0"/>
                <a:cs typeface="Arial" panose="020B0604020202020204" pitchFamily="34" charset="0"/>
              </a:rPr>
              <a:t>esta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simulación</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han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elegido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unas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perdidas</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propagación</a:t>
            </a:r>
            <a:r>
              <a:rPr lang="en-US" sz="1200" dirty="0">
                <a:latin typeface="Arial" panose="020B0604020202020204" pitchFamily="34" charset="0"/>
                <a:cs typeface="Arial" panose="020B0604020202020204" pitchFamily="34" charset="0"/>
              </a:rPr>
              <a:t> de 1.5 dB/cm. Se </a:t>
            </a:r>
            <a:r>
              <a:rPr lang="en-US" sz="1200" dirty="0" err="1">
                <a:latin typeface="Arial" panose="020B0604020202020204" pitchFamily="34" charset="0"/>
                <a:cs typeface="Arial" panose="020B0604020202020204" pitchFamily="34" charset="0"/>
              </a:rPr>
              <a:t>puede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concluir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para radios de </a:t>
            </a:r>
            <a:r>
              <a:rPr lang="en-US" sz="1200" dirty="0" err="1">
                <a:latin typeface="Arial" panose="020B0604020202020204" pitchFamily="34" charset="0"/>
                <a:cs typeface="Arial" panose="020B0604020202020204" pitchFamily="34" charset="0"/>
              </a:rPr>
              <a:t>curvatura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menores</a:t>
            </a:r>
            <a:r>
              <a:rPr lang="en-US" sz="1200" dirty="0">
                <a:latin typeface="Arial" panose="020B0604020202020204" pitchFamily="34" charset="0"/>
                <a:cs typeface="Arial" panose="020B0604020202020204" pitchFamily="34" charset="0"/>
              </a:rPr>
              <a:t> de 75 um, las </a:t>
            </a:r>
            <a:r>
              <a:rPr lang="en-US" sz="1200" dirty="0" err="1">
                <a:latin typeface="Arial" panose="020B0604020202020204" pitchFamily="34" charset="0"/>
                <a:cs typeface="Arial" panose="020B0604020202020204" pitchFamily="34" charset="0"/>
              </a:rPr>
              <a:t>pérdidas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por</a:t>
            </a:r>
            <a:r>
              <a:rPr lang="en-US" sz="1200" dirty="0">
                <a:latin typeface="Arial" panose="020B0604020202020204" pitchFamily="34" charset="0"/>
                <a:cs typeface="Arial" panose="020B0604020202020204" pitchFamily="34" charset="0"/>
              </a:rPr>
              <a:t> modo son </a:t>
            </a:r>
            <a:r>
              <a:rPr lang="en-US" sz="1200" dirty="0" err="1">
                <a:latin typeface="Arial" panose="020B0604020202020204" pitchFamily="34" charset="0"/>
                <a:cs typeface="Arial" panose="020B0604020202020204" pitchFamily="34" charset="0"/>
              </a:rPr>
              <a:t>mucho</a:t>
            </a:r>
            <a:r>
              <a:rPr lang="en-US" sz="1200" dirty="0">
                <a:latin typeface="Arial" panose="020B0604020202020204" pitchFamily="34" charset="0"/>
                <a:cs typeface="Arial" panose="020B0604020202020204" pitchFamily="34" charset="0"/>
              </a:rPr>
              <a:t> mas </a:t>
            </a:r>
            <a:r>
              <a:rPr lang="en-US" sz="1200" dirty="0" err="1">
                <a:latin typeface="Arial" panose="020B0604020202020204" pitchFamily="34" charset="0"/>
                <a:cs typeface="Arial" panose="020B0604020202020204" pitchFamily="34" charset="0"/>
              </a:rPr>
              <a:t>significativas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las de </a:t>
            </a:r>
            <a:r>
              <a:rPr lang="en-US" sz="1200" dirty="0" err="1">
                <a:latin typeface="Arial" panose="020B0604020202020204" pitchFamily="34" charset="0"/>
                <a:cs typeface="Arial" panose="020B0604020202020204" pitchFamily="34" charset="0"/>
              </a:rPr>
              <a:t>propagación</a:t>
            </a:r>
            <a:r>
              <a:rPr lang="en-US" sz="1200" dirty="0">
                <a:latin typeface="Arial" panose="020B0604020202020204" pitchFamily="34" charset="0"/>
                <a:cs typeface="Arial" panose="020B0604020202020204" pitchFamily="34" charset="0"/>
              </a:rPr>
              <a:t>. Por </a:t>
            </a:r>
            <a:r>
              <a:rPr lang="en-US" sz="1200" dirty="0" err="1">
                <a:latin typeface="Arial" panose="020B0604020202020204" pitchFamily="34" charset="0"/>
                <a:cs typeface="Arial" panose="020B0604020202020204" pitchFamily="34" charset="0"/>
              </a:rPr>
              <a:t>otro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lado</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partir</a:t>
            </a:r>
            <a:r>
              <a:rPr lang="en-US" sz="1200" dirty="0">
                <a:latin typeface="Arial" panose="020B0604020202020204" pitchFamily="34" charset="0"/>
                <a:cs typeface="Arial" panose="020B0604020202020204" pitchFamily="34" charset="0"/>
              </a:rPr>
              <a:t> de radios </a:t>
            </a:r>
            <a:r>
              <a:rPr lang="en-US" sz="1200" dirty="0" err="1">
                <a:latin typeface="Arial" panose="020B0604020202020204" pitchFamily="34" charset="0"/>
                <a:cs typeface="Arial" panose="020B0604020202020204" pitchFamily="34" charset="0"/>
              </a:rPr>
              <a:t>mayores</a:t>
            </a:r>
            <a:r>
              <a:rPr lang="en-US" sz="1200" dirty="0">
                <a:latin typeface="Arial" panose="020B0604020202020204" pitchFamily="34" charset="0"/>
                <a:cs typeface="Arial" panose="020B0604020202020204" pitchFamily="34" charset="0"/>
              </a:rPr>
              <a:t> de 75 um </a:t>
            </a:r>
            <a:r>
              <a:rPr lang="en-US" sz="1200" dirty="0" err="1">
                <a:latin typeface="Arial" panose="020B0604020202020204" pitchFamily="34" charset="0"/>
                <a:cs typeface="Arial" panose="020B0604020202020204" pitchFamily="34" charset="0"/>
              </a:rPr>
              <a:t>empiezan</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predominar</a:t>
            </a:r>
            <a:r>
              <a:rPr lang="en-US" sz="1200" dirty="0">
                <a:latin typeface="Arial" panose="020B0604020202020204" pitchFamily="34" charset="0"/>
                <a:cs typeface="Arial" panose="020B0604020202020204" pitchFamily="34" charset="0"/>
              </a:rPr>
              <a:t> las de </a:t>
            </a:r>
            <a:r>
              <a:rPr lang="en-US" sz="1200" dirty="0" err="1">
                <a:latin typeface="Arial" panose="020B0604020202020204" pitchFamily="34" charset="0"/>
                <a:cs typeface="Arial" panose="020B0604020202020204" pitchFamily="34" charset="0"/>
              </a:rPr>
              <a:t>propagación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Además</a:t>
            </a:r>
            <a:r>
              <a:rPr lang="en-US" sz="1200" dirty="0">
                <a:latin typeface="Arial" panose="020B0604020202020204" pitchFamily="34" charset="0"/>
                <a:cs typeface="Arial" panose="020B0604020202020204" pitchFamily="34" charset="0"/>
              </a:rPr>
              <a:t>, se también se </a:t>
            </a:r>
            <a:r>
              <a:rPr lang="en-US" sz="1200" dirty="0" err="1">
                <a:latin typeface="Arial" panose="020B0604020202020204" pitchFamily="34" charset="0"/>
                <a:cs typeface="Arial" panose="020B0604020202020204" pitchFamily="34" charset="0"/>
              </a:rPr>
              <a:t>puede</a:t>
            </a:r>
            <a:r>
              <a:rPr lang="en-US" sz="1200" dirty="0">
                <a:latin typeface="Arial" panose="020B0604020202020204" pitchFamily="34" charset="0"/>
                <a:cs typeface="Arial" panose="020B0604020202020204" pitchFamily="34" charset="0"/>
              </a:rPr>
              <a:t> observer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las </a:t>
            </a:r>
            <a:r>
              <a:rPr lang="en-US" sz="1200" dirty="0" err="1">
                <a:latin typeface="Arial" panose="020B0604020202020204" pitchFamily="34" charset="0"/>
                <a:cs typeface="Arial" panose="020B0604020202020204" pitchFamily="34" charset="0"/>
              </a:rPr>
              <a:t>pérdidas</a:t>
            </a:r>
            <a:r>
              <a:rPr lang="en-US" sz="1200" dirty="0">
                <a:latin typeface="Arial" panose="020B0604020202020204" pitchFamily="34" charset="0"/>
                <a:cs typeface="Arial" panose="020B0604020202020204" pitchFamily="34" charset="0"/>
              </a:rPr>
              <a:t> de modo </a:t>
            </a:r>
            <a:r>
              <a:rPr lang="en-US" sz="1200" dirty="0" err="1">
                <a:latin typeface="Arial" panose="020B0604020202020204" pitchFamily="34" charset="0"/>
                <a:cs typeface="Arial" panose="020B0604020202020204" pitchFamily="34" charset="0"/>
              </a:rPr>
              <a:t>disminuyen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aproximadamente</a:t>
            </a:r>
            <a:r>
              <a:rPr lang="en-US" sz="1200" dirty="0">
                <a:latin typeface="Arial" panose="020B0604020202020204" pitchFamily="34" charset="0"/>
                <a:cs typeface="Arial" panose="020B0604020202020204" pitchFamily="34" charset="0"/>
              </a:rPr>
              <a:t> de forma </a:t>
            </a:r>
            <a:r>
              <a:rPr lang="en-US" sz="1200" dirty="0" err="1">
                <a:latin typeface="Arial" panose="020B0604020202020204" pitchFamily="34" charset="0"/>
                <a:cs typeface="Arial" panose="020B0604020202020204" pitchFamily="34" charset="0"/>
              </a:rPr>
              <a:t>exponencial</a:t>
            </a:r>
            <a:r>
              <a:rPr lang="en-US" sz="1200" dirty="0">
                <a:latin typeface="Arial" panose="020B0604020202020204" pitchFamily="34" charset="0"/>
                <a:cs typeface="Arial" panose="020B0604020202020204" pitchFamily="34" charset="0"/>
              </a:rPr>
              <a:t> al </a:t>
            </a:r>
            <a:r>
              <a:rPr lang="en-US" sz="1200" dirty="0" err="1">
                <a:latin typeface="Arial" panose="020B0604020202020204" pitchFamily="34" charset="0"/>
                <a:cs typeface="Arial" panose="020B0604020202020204" pitchFamily="34" charset="0"/>
              </a:rPr>
              <a:t>aumentar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radio de </a:t>
            </a:r>
            <a:r>
              <a:rPr lang="en-US" sz="1200" dirty="0" err="1">
                <a:latin typeface="Arial" panose="020B0604020202020204" pitchFamily="34" charset="0"/>
                <a:cs typeface="Arial" panose="020B0604020202020204" pitchFamily="34" charset="0"/>
              </a:rPr>
              <a:t>curvatura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mientras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las </a:t>
            </a:r>
            <a:r>
              <a:rPr lang="en-US" sz="1200" dirty="0" err="1">
                <a:latin typeface="Arial" panose="020B0604020202020204" pitchFamily="34" charset="0"/>
                <a:cs typeface="Arial" panose="020B0604020202020204" pitchFamily="34" charset="0"/>
              </a:rPr>
              <a:t>pérdidas</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propagación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aumentan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aproximadamente</a:t>
            </a:r>
            <a:r>
              <a:rPr lang="en-US" sz="1200" dirty="0">
                <a:latin typeface="Arial" panose="020B0604020202020204" pitchFamily="34" charset="0"/>
                <a:cs typeface="Arial" panose="020B0604020202020204" pitchFamily="34" charset="0"/>
              </a:rPr>
              <a:t> de forma lineal.</a:t>
            </a:r>
          </a:p>
          <a:p>
            <a:pPr algn="just"/>
            <a:endParaRPr lang="en-U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Para radios de curvatura pequeños, la fuerte curvatura provoca un desplazamiento del modo óptico hacia el borde exterior de la guía de onda, reduciendo su confinamiento y dando lugar a pérdidas significativas de modo, ya que parte del modo deja de estar guiado. A medida que el radio de curvatura aumenta, la curvatura se suaviza y las pérdidas de modo disminuyen. En este régimen, las pérdidas de propagación pasan a dominar debido al aumento de la longitud del recorrido del modo en la sección curvada.</a:t>
            </a:r>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A partir de la gráfica de pérdidas totales también es posible determinar el radio seguro y el radio óptimo de curvatura. El radio seguro se define como aquel para el cual las pérdidas totales son menores de 0.1 dB. En este caso, dicha condición se cumple a partir de aproximadamente 30 µm. Por otro lado, el radio óptimo corresponde al valor del radio para el cual las pérdidas totales son mínimas. Observando la gráfica, este mínimo se encuentra aproximadamente en el rango de 80 a 85 µm.</a:t>
            </a:r>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a:t>
            </a:r>
          </a:p>
          <a:p>
            <a:pPr algn="just"/>
            <a:r>
              <a:rPr lang="es-ES" sz="1200" dirty="0">
                <a:latin typeface="Arial" panose="020B0604020202020204" pitchFamily="34" charset="0"/>
                <a:cs typeface="Arial" panose="020B0604020202020204" pitchFamily="34" charset="0"/>
              </a:rPr>
              <a:t>Además de las pérdidas, también se ha analizado cómo varía el índice efectivo del modo fundamental TE con el radio de curvatura. En la segunda gráfica se observa que, para radios pequeños, el índice efectivo es ligeramente mayor debido a que la fuerte curvatura altera la distribución del modo dentro de la guía. A medida que el radio de curvatura aumenta, la guía se comporta de forma más similar a una guía recta, por lo que el índice efectivo disminuye ligeramente y tiende a estabilizarse. Para radios grandes, las variaciones del índice efectivo son muy pequeñas, lo que indica que la influencia de la curvatura sobre la propagación del modo es prácticamente despreciable. El ligero aumento observado a partir de aproximadamente 125 µm se debe a que el modo vuelve a concentrarse más en el núcleo de la guía, acercándose así al valor de índice efectivo correspondiente a una guía recta.</a:t>
            </a:r>
            <a:endParaRPr lang="en-US" sz="1200" u="sng"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367787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8550AF-7EAA-8177-5F2B-4FAF9EC9E93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33AB4E06-78AA-34FE-920A-700390F13354}"/>
              </a:ext>
            </a:extLst>
          </p:cNvPr>
          <p:cNvSpPr txBox="1">
            <a:spLocks noGrp="1"/>
          </p:cNvSpPr>
          <p:nvPr>
            <p:ph type="title"/>
          </p:nvPr>
        </p:nvSpPr>
        <p:spPr>
          <a:xfrm>
            <a:off x="685800" y="408883"/>
            <a:ext cx="10994410" cy="1474763"/>
          </a:xfrm>
          <a:prstGeom prst="rect">
            <a:avLst/>
          </a:prstGeom>
        </p:spPr>
        <p:txBody>
          <a:bodyPr vert="horz" wrap="square" lIns="0" tIns="12700" rIns="0" bIns="0" rtlCol="0">
            <a:spAutoFit/>
          </a:bodyPr>
          <a:lstStyle/>
          <a:p>
            <a:pPr marL="12700">
              <a:spcBef>
                <a:spcPts val="100"/>
              </a:spcBef>
            </a:pPr>
            <a:r>
              <a:rPr lang="en-US" sz="2500" dirty="0"/>
              <a:t>EJERCICIOS EXTRA</a:t>
            </a:r>
            <a:br>
              <a:rPr lang="en-US" sz="2500" dirty="0"/>
            </a:br>
            <a:br>
              <a:rPr lang="en-US" b="0" dirty="0"/>
            </a:br>
            <a:br>
              <a:rPr lang="en-US" sz="250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0C62A384-9894-F4AB-7152-DDD1B519DE6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7F7A888-9AFD-46FE-5D0B-9A1149CAA8AF}"/>
              </a:ext>
            </a:extLst>
          </p:cNvPr>
          <p:cNvSpPr>
            <a:spLocks noGrp="1"/>
          </p:cNvSpPr>
          <p:nvPr>
            <p:ph type="sldNum" sz="quarter" idx="7"/>
          </p:nvPr>
        </p:nvSpPr>
        <p:spPr/>
        <p:txBody>
          <a:bodyPr/>
          <a:lstStyle/>
          <a:p>
            <a:fld id="{B6F15528-21DE-4FAA-801E-634DDDAF4B2B}" type="slidenum">
              <a:rPr lang="es-ES" smtClean="0"/>
              <a:t>15</a:t>
            </a:fld>
            <a:endParaRPr lang="es-ES"/>
          </a:p>
        </p:txBody>
      </p:sp>
      <p:sp>
        <p:nvSpPr>
          <p:cNvPr id="3" name="Marcador de pie de página 2">
            <a:extLst>
              <a:ext uri="{FF2B5EF4-FFF2-40B4-BE49-F238E27FC236}">
                <a16:creationId xmlns:a16="http://schemas.microsoft.com/office/drawing/2014/main" id="{3F8F78A0-2405-D366-9165-4CB016A56926}"/>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14" name="CuadroTexto 13">
            <a:extLst>
              <a:ext uri="{FF2B5EF4-FFF2-40B4-BE49-F238E27FC236}">
                <a16:creationId xmlns:a16="http://schemas.microsoft.com/office/drawing/2014/main" id="{D10220D1-AE1F-A176-41E7-4E5B9E0A66FB}"/>
              </a:ext>
            </a:extLst>
          </p:cNvPr>
          <p:cNvSpPr txBox="1"/>
          <p:nvPr/>
        </p:nvSpPr>
        <p:spPr>
          <a:xfrm>
            <a:off x="496014" y="2133600"/>
            <a:ext cx="11199971" cy="1569660"/>
          </a:xfrm>
          <a:prstGeom prst="rect">
            <a:avLst/>
          </a:prstGeom>
          <a:solidFill>
            <a:schemeClr val="bg1">
              <a:lumMod val="95000"/>
            </a:schemeClr>
          </a:solidFill>
          <a:ln w="28575">
            <a:solidFill>
              <a:srgbClr val="E0700D"/>
            </a:solidFill>
          </a:ln>
        </p:spPr>
        <p:txBody>
          <a:bodyPr wrap="square" rtlCol="0">
            <a:spAutoFit/>
          </a:bodyPr>
          <a:lstStyle/>
          <a:p>
            <a:pPr algn="just"/>
            <a:endParaRPr lang="en-US" sz="1200" dirty="0">
              <a:latin typeface="Arial" panose="020B0604020202020204" pitchFamily="34" charset="0"/>
              <a:cs typeface="Arial" panose="020B0604020202020204" pitchFamily="34" charset="0"/>
            </a:endParaRPr>
          </a:p>
          <a:p>
            <a:pPr algn="just"/>
            <a:r>
              <a:rPr lang="en-US" sz="1200" b="1" i="1" dirty="0">
                <a:latin typeface="Arial" panose="020B0604020202020204" pitchFamily="34" charset="0"/>
                <a:cs typeface="Arial" panose="020B0604020202020204" pitchFamily="34" charset="0"/>
              </a:rPr>
              <a:t>En </a:t>
            </a:r>
            <a:r>
              <a:rPr lang="en-US" sz="1200" b="1" i="1" dirty="0" err="1">
                <a:latin typeface="Arial" panose="020B0604020202020204" pitchFamily="34" charset="0"/>
                <a:cs typeface="Arial" panose="020B0604020202020204" pitchFamily="34" charset="0"/>
              </a:rPr>
              <a:t>este</a:t>
            </a:r>
            <a:r>
              <a:rPr lang="en-US" sz="1200" b="1" i="1" dirty="0">
                <a:latin typeface="Arial" panose="020B0604020202020204" pitchFamily="34" charset="0"/>
                <a:cs typeface="Arial" panose="020B0604020202020204" pitchFamily="34" charset="0"/>
              </a:rPr>
              <a:t> </a:t>
            </a:r>
            <a:r>
              <a:rPr lang="en-US" sz="1200" b="1" i="1" dirty="0" err="1">
                <a:latin typeface="Arial" panose="020B0604020202020204" pitchFamily="34" charset="0"/>
                <a:cs typeface="Arial" panose="020B0604020202020204" pitchFamily="34" charset="0"/>
              </a:rPr>
              <a:t>ejercicio</a:t>
            </a:r>
            <a:r>
              <a:rPr lang="en-US" sz="1200" b="1" i="1" dirty="0">
                <a:latin typeface="Arial" panose="020B0604020202020204" pitchFamily="34" charset="0"/>
                <a:cs typeface="Arial" panose="020B0604020202020204" pitchFamily="34" charset="0"/>
              </a:rPr>
              <a:t> y </a:t>
            </a:r>
            <a:r>
              <a:rPr lang="en-US" sz="1200" b="1" i="1" dirty="0" err="1">
                <a:latin typeface="Arial" panose="020B0604020202020204" pitchFamily="34" charset="0"/>
                <a:cs typeface="Arial" panose="020B0604020202020204" pitchFamily="34" charset="0"/>
              </a:rPr>
              <a:t>en</a:t>
            </a:r>
            <a:r>
              <a:rPr lang="en-US" sz="1200" b="1" i="1" dirty="0">
                <a:latin typeface="Arial" panose="020B0604020202020204" pitchFamily="34" charset="0"/>
                <a:cs typeface="Arial" panose="020B0604020202020204" pitchFamily="34" charset="0"/>
              </a:rPr>
              <a:t> </a:t>
            </a:r>
            <a:r>
              <a:rPr lang="en-US" sz="1200" b="1" i="1" dirty="0" err="1">
                <a:latin typeface="Arial" panose="020B0604020202020204" pitchFamily="34" charset="0"/>
                <a:cs typeface="Arial" panose="020B0604020202020204" pitchFamily="34" charset="0"/>
              </a:rPr>
              <a:t>los</a:t>
            </a:r>
            <a:r>
              <a:rPr lang="en-US" sz="1200" b="1" i="1" dirty="0">
                <a:latin typeface="Arial" panose="020B0604020202020204" pitchFamily="34" charset="0"/>
                <a:cs typeface="Arial" panose="020B0604020202020204" pitchFamily="34" charset="0"/>
              </a:rPr>
              <a:t> </a:t>
            </a:r>
            <a:r>
              <a:rPr lang="en-US" sz="1200" b="1" i="1" dirty="0" err="1">
                <a:latin typeface="Arial" panose="020B0604020202020204" pitchFamily="34" charset="0"/>
                <a:cs typeface="Arial" panose="020B0604020202020204" pitchFamily="34" charset="0"/>
              </a:rPr>
              <a:t>próximos</a:t>
            </a:r>
            <a:r>
              <a:rPr lang="en-US" sz="1200" b="1" i="1" dirty="0">
                <a:latin typeface="Arial" panose="020B0604020202020204" pitchFamily="34" charset="0"/>
                <a:cs typeface="Arial" panose="020B0604020202020204" pitchFamily="34" charset="0"/>
              </a:rPr>
              <a:t>, se ha </a:t>
            </a:r>
            <a:r>
              <a:rPr lang="en-US" sz="1200" b="1" i="1" dirty="0" err="1">
                <a:latin typeface="Arial" panose="020B0604020202020204" pitchFamily="34" charset="0"/>
                <a:cs typeface="Arial" panose="020B0604020202020204" pitchFamily="34" charset="0"/>
              </a:rPr>
              <a:t>sustituido</a:t>
            </a:r>
            <a:r>
              <a:rPr lang="en-US" sz="1200" b="1" i="1" dirty="0">
                <a:latin typeface="Arial" panose="020B0604020202020204" pitchFamily="34" charset="0"/>
                <a:cs typeface="Arial" panose="020B0604020202020204" pitchFamily="34" charset="0"/>
              </a:rPr>
              <a:t> </a:t>
            </a:r>
            <a:r>
              <a:rPr lang="en-US" sz="1200" b="1" i="1" dirty="0" err="1">
                <a:latin typeface="Arial" panose="020B0604020202020204" pitchFamily="34" charset="0"/>
                <a:cs typeface="Arial" panose="020B0604020202020204" pitchFamily="34" charset="0"/>
              </a:rPr>
              <a:t>el</a:t>
            </a:r>
            <a:r>
              <a:rPr lang="en-US" sz="1200" b="1" i="1" dirty="0">
                <a:latin typeface="Arial" panose="020B0604020202020204" pitchFamily="34" charset="0"/>
                <a:cs typeface="Arial" panose="020B0604020202020204" pitchFamily="34" charset="0"/>
              </a:rPr>
              <a:t> material del </a:t>
            </a:r>
            <a:r>
              <a:rPr lang="en-US" sz="1200" b="1" i="1" dirty="0" err="1">
                <a:latin typeface="Arial" panose="020B0604020202020204" pitchFamily="34" charset="0"/>
                <a:cs typeface="Arial" panose="020B0604020202020204" pitchFamily="34" charset="0"/>
              </a:rPr>
              <a:t>núcleo</a:t>
            </a:r>
            <a:r>
              <a:rPr lang="en-US" sz="1200" b="1" i="1" dirty="0">
                <a:latin typeface="Arial" panose="020B0604020202020204" pitchFamily="34" charset="0"/>
                <a:cs typeface="Arial" panose="020B0604020202020204" pitchFamily="34" charset="0"/>
              </a:rPr>
              <a:t> de la </a:t>
            </a:r>
            <a:r>
              <a:rPr lang="en-US" sz="1200" b="1" i="1" dirty="0" err="1">
                <a:latin typeface="Arial" panose="020B0604020202020204" pitchFamily="34" charset="0"/>
                <a:cs typeface="Arial" panose="020B0604020202020204" pitchFamily="34" charset="0"/>
              </a:rPr>
              <a:t>guía</a:t>
            </a:r>
            <a:r>
              <a:rPr lang="en-US" sz="1200" b="1" i="1" dirty="0">
                <a:latin typeface="Arial" panose="020B0604020202020204" pitchFamily="34" charset="0"/>
                <a:cs typeface="Arial" panose="020B0604020202020204" pitchFamily="34" charset="0"/>
              </a:rPr>
              <a:t> de </a:t>
            </a:r>
            <a:r>
              <a:rPr lang="en-US" sz="1200" b="1" i="1" dirty="0" err="1">
                <a:latin typeface="Arial" panose="020B0604020202020204" pitchFamily="34" charset="0"/>
                <a:cs typeface="Arial" panose="020B0604020202020204" pitchFamily="34" charset="0"/>
              </a:rPr>
              <a:t>onda</a:t>
            </a:r>
            <a:r>
              <a:rPr lang="en-US" sz="1200" b="1" i="1" dirty="0">
                <a:latin typeface="Arial" panose="020B0604020202020204" pitchFamily="34" charset="0"/>
                <a:cs typeface="Arial" panose="020B0604020202020204" pitchFamily="34" charset="0"/>
              </a:rPr>
              <a:t> </a:t>
            </a:r>
            <a:r>
              <a:rPr lang="en-US" sz="1200" b="1" i="1" dirty="0" err="1">
                <a:latin typeface="Arial" panose="020B0604020202020204" pitchFamily="34" charset="0"/>
                <a:cs typeface="Arial" panose="020B0604020202020204" pitchFamily="34" charset="0"/>
              </a:rPr>
              <a:t>por</a:t>
            </a:r>
            <a:r>
              <a:rPr lang="en-US" sz="1200" b="1" i="1" dirty="0">
                <a:latin typeface="Arial" panose="020B0604020202020204" pitchFamily="34" charset="0"/>
                <a:cs typeface="Arial" panose="020B0604020202020204" pitchFamily="34" charset="0"/>
              </a:rPr>
              <a:t> </a:t>
            </a:r>
            <a:r>
              <a:rPr lang="en-US" sz="1200" b="1" i="1" dirty="0" err="1">
                <a:latin typeface="Arial" panose="020B0604020202020204" pitchFamily="34" charset="0"/>
                <a:cs typeface="Arial" panose="020B0604020202020204" pitchFamily="34" charset="0"/>
              </a:rPr>
              <a:t>silicio</a:t>
            </a:r>
            <a:r>
              <a:rPr lang="en-US" sz="1200" b="1" i="1" dirty="0">
                <a:latin typeface="Arial" panose="020B0604020202020204" pitchFamily="34" charset="0"/>
                <a:cs typeface="Arial" panose="020B0604020202020204" pitchFamily="34" charset="0"/>
              </a:rPr>
              <a:t> (Si), </a:t>
            </a:r>
            <a:r>
              <a:rPr lang="en-US" sz="1200" b="1" i="1" dirty="0" err="1">
                <a:latin typeface="Arial" panose="020B0604020202020204" pitchFamily="34" charset="0"/>
                <a:cs typeface="Arial" panose="020B0604020202020204" pitchFamily="34" charset="0"/>
              </a:rPr>
              <a:t>mientras</a:t>
            </a:r>
            <a:r>
              <a:rPr lang="en-US" sz="1200" b="1" i="1" dirty="0">
                <a:latin typeface="Arial" panose="020B0604020202020204" pitchFamily="34" charset="0"/>
                <a:cs typeface="Arial" panose="020B0604020202020204" pitchFamily="34" charset="0"/>
              </a:rPr>
              <a:t> </a:t>
            </a:r>
            <a:r>
              <a:rPr lang="en-US" sz="1200" b="1" i="1" dirty="0" err="1">
                <a:latin typeface="Arial" panose="020B0604020202020204" pitchFamily="34" charset="0"/>
                <a:cs typeface="Arial" panose="020B0604020202020204" pitchFamily="34" charset="0"/>
              </a:rPr>
              <a:t>que</a:t>
            </a:r>
            <a:r>
              <a:rPr lang="en-US" sz="1200" b="1" i="1" dirty="0">
                <a:latin typeface="Arial" panose="020B0604020202020204" pitchFamily="34" charset="0"/>
                <a:cs typeface="Arial" panose="020B0604020202020204" pitchFamily="34" charset="0"/>
              </a:rPr>
              <a:t> </a:t>
            </a:r>
            <a:r>
              <a:rPr lang="en-US" sz="1200" b="1" i="1" dirty="0" err="1">
                <a:latin typeface="Arial" panose="020B0604020202020204" pitchFamily="34" charset="0"/>
                <a:cs typeface="Arial" panose="020B0604020202020204" pitchFamily="34" charset="0"/>
              </a:rPr>
              <a:t>el</a:t>
            </a:r>
            <a:r>
              <a:rPr lang="en-US" sz="1200" b="1" i="1" dirty="0">
                <a:latin typeface="Arial" panose="020B0604020202020204" pitchFamily="34" charset="0"/>
                <a:cs typeface="Arial" panose="020B0604020202020204" pitchFamily="34" charset="0"/>
              </a:rPr>
              <a:t> de la </a:t>
            </a:r>
            <a:r>
              <a:rPr lang="en-US" sz="1200" b="1" i="1" dirty="0" err="1">
                <a:latin typeface="Arial" panose="020B0604020202020204" pitchFamily="34" charset="0"/>
                <a:cs typeface="Arial" panose="020B0604020202020204" pitchFamily="34" charset="0"/>
              </a:rPr>
              <a:t>cubierta</a:t>
            </a:r>
            <a:r>
              <a:rPr lang="en-US" sz="1200" b="1" i="1" dirty="0">
                <a:latin typeface="Arial" panose="020B0604020202020204" pitchFamily="34" charset="0"/>
                <a:cs typeface="Arial" panose="020B0604020202020204" pitchFamily="34" charset="0"/>
              </a:rPr>
              <a:t> </a:t>
            </a:r>
            <a:r>
              <a:rPr lang="en-US" sz="1200" b="1" i="1" dirty="0" err="1">
                <a:latin typeface="Arial" panose="020B0604020202020204" pitchFamily="34" charset="0"/>
                <a:cs typeface="Arial" panose="020B0604020202020204" pitchFamily="34" charset="0"/>
              </a:rPr>
              <a:t>va</a:t>
            </a:r>
            <a:r>
              <a:rPr lang="en-US" sz="1200" b="1" i="1" dirty="0">
                <a:latin typeface="Arial" panose="020B0604020202020204" pitchFamily="34" charset="0"/>
                <a:cs typeface="Arial" panose="020B0604020202020204" pitchFamily="34" charset="0"/>
              </a:rPr>
              <a:t> a ser </a:t>
            </a:r>
            <a:r>
              <a:rPr lang="en-US" sz="1200" b="1" i="1" dirty="0" err="1">
                <a:latin typeface="Arial" panose="020B0604020202020204" pitchFamily="34" charset="0"/>
                <a:cs typeface="Arial" panose="020B0604020202020204" pitchFamily="34" charset="0"/>
              </a:rPr>
              <a:t>el</a:t>
            </a:r>
            <a:r>
              <a:rPr lang="en-US" sz="1200" b="1" i="1" dirty="0">
                <a:latin typeface="Arial" panose="020B0604020202020204" pitchFamily="34" charset="0"/>
                <a:cs typeface="Arial" panose="020B0604020202020204" pitchFamily="34" charset="0"/>
              </a:rPr>
              <a:t> </a:t>
            </a:r>
            <a:r>
              <a:rPr lang="en-US" sz="1200" b="1" i="1" dirty="0" err="1">
                <a:latin typeface="Arial" panose="020B0604020202020204" pitchFamily="34" charset="0"/>
                <a:cs typeface="Arial" panose="020B0604020202020204" pitchFamily="34" charset="0"/>
              </a:rPr>
              <a:t>mismo</a:t>
            </a:r>
            <a:r>
              <a:rPr lang="en-US" sz="1200" b="1" i="1" dirty="0">
                <a:latin typeface="Arial" panose="020B0604020202020204" pitchFamily="34" charset="0"/>
                <a:cs typeface="Arial" panose="020B0604020202020204" pitchFamily="34" charset="0"/>
              </a:rPr>
              <a:t> </a:t>
            </a:r>
            <a:r>
              <a:rPr lang="en-US" sz="1200" b="1" i="1" dirty="0" err="1">
                <a:latin typeface="Arial" panose="020B0604020202020204" pitchFamily="34" charset="0"/>
                <a:cs typeface="Arial" panose="020B0604020202020204" pitchFamily="34" charset="0"/>
              </a:rPr>
              <a:t>que</a:t>
            </a:r>
            <a:r>
              <a:rPr lang="en-US" sz="1200" b="1" i="1" dirty="0">
                <a:latin typeface="Arial" panose="020B0604020202020204" pitchFamily="34" charset="0"/>
                <a:cs typeface="Arial" panose="020B0604020202020204" pitchFamily="34" charset="0"/>
              </a:rPr>
              <a:t> </a:t>
            </a:r>
            <a:r>
              <a:rPr lang="en-US" sz="1200" b="1" i="1" dirty="0" err="1">
                <a:latin typeface="Arial" panose="020B0604020202020204" pitchFamily="34" charset="0"/>
                <a:cs typeface="Arial" panose="020B0604020202020204" pitchFamily="34" charset="0"/>
              </a:rPr>
              <a:t>anteriormente</a:t>
            </a:r>
            <a:r>
              <a:rPr lang="en-US" sz="1200" b="1" i="1" dirty="0">
                <a:latin typeface="Arial" panose="020B0604020202020204" pitchFamily="34" charset="0"/>
                <a:cs typeface="Arial" panose="020B0604020202020204" pitchFamily="34" charset="0"/>
              </a:rPr>
              <a:t> (Si02). El </a:t>
            </a:r>
            <a:r>
              <a:rPr lang="en-US" sz="1200" b="1" i="1" dirty="0" err="1">
                <a:latin typeface="Arial" panose="020B0604020202020204" pitchFamily="34" charset="0"/>
                <a:cs typeface="Arial" panose="020B0604020202020204" pitchFamily="34" charset="0"/>
              </a:rPr>
              <a:t>silicio</a:t>
            </a:r>
            <a:r>
              <a:rPr lang="en-US" sz="1200" b="1" i="1" dirty="0">
                <a:latin typeface="Arial" panose="020B0604020202020204" pitchFamily="34" charset="0"/>
                <a:cs typeface="Arial" panose="020B0604020202020204" pitchFamily="34" charset="0"/>
              </a:rPr>
              <a:t> </a:t>
            </a:r>
            <a:r>
              <a:rPr lang="en-US" sz="1200" b="1" i="1" dirty="0" err="1">
                <a:latin typeface="Arial" panose="020B0604020202020204" pitchFamily="34" charset="0"/>
                <a:cs typeface="Arial" panose="020B0604020202020204" pitchFamily="34" charset="0"/>
              </a:rPr>
              <a:t>presenta</a:t>
            </a:r>
            <a:r>
              <a:rPr lang="en-US" sz="1200" b="1" i="1" dirty="0">
                <a:latin typeface="Arial" panose="020B0604020202020204" pitchFamily="34" charset="0"/>
                <a:cs typeface="Arial" panose="020B0604020202020204" pitchFamily="34" charset="0"/>
              </a:rPr>
              <a:t> un </a:t>
            </a:r>
            <a:r>
              <a:rPr lang="en-US" sz="1200" b="1" i="1" dirty="0" err="1">
                <a:latin typeface="Arial" panose="020B0604020202020204" pitchFamily="34" charset="0"/>
                <a:cs typeface="Arial" panose="020B0604020202020204" pitchFamily="34" charset="0"/>
              </a:rPr>
              <a:t>índice</a:t>
            </a:r>
            <a:r>
              <a:rPr lang="en-US" sz="1200" b="1" i="1" dirty="0">
                <a:latin typeface="Arial" panose="020B0604020202020204" pitchFamily="34" charset="0"/>
                <a:cs typeface="Arial" panose="020B0604020202020204" pitchFamily="34" charset="0"/>
              </a:rPr>
              <a:t> </a:t>
            </a:r>
            <a:r>
              <a:rPr lang="en-US" sz="1200" b="1" i="1" dirty="0" err="1">
                <a:latin typeface="Arial" panose="020B0604020202020204" pitchFamily="34" charset="0"/>
                <a:cs typeface="Arial" panose="020B0604020202020204" pitchFamily="34" charset="0"/>
              </a:rPr>
              <a:t>efectivo</a:t>
            </a:r>
            <a:r>
              <a:rPr lang="en-US" sz="1200" b="1" i="1" dirty="0">
                <a:latin typeface="Arial" panose="020B0604020202020204" pitchFamily="34" charset="0"/>
                <a:cs typeface="Arial" panose="020B0604020202020204" pitchFamily="34" charset="0"/>
              </a:rPr>
              <a:t> de </a:t>
            </a:r>
            <a:r>
              <a:rPr lang="en-US" sz="1200" b="1" i="1" dirty="0" err="1">
                <a:latin typeface="Arial" panose="020B0604020202020204" pitchFamily="34" charset="0"/>
                <a:cs typeface="Arial" panose="020B0604020202020204" pitchFamily="34" charset="0"/>
              </a:rPr>
              <a:t>alrededor</a:t>
            </a:r>
            <a:r>
              <a:rPr lang="en-US" sz="1200" b="1" i="1" dirty="0">
                <a:latin typeface="Arial" panose="020B0604020202020204" pitchFamily="34" charset="0"/>
                <a:cs typeface="Arial" panose="020B0604020202020204" pitchFamily="34" charset="0"/>
              </a:rPr>
              <a:t> de 3.47 </a:t>
            </a:r>
            <a:r>
              <a:rPr lang="en-US" sz="1200" b="1" i="1" dirty="0" err="1">
                <a:latin typeface="Arial" panose="020B0604020202020204" pitchFamily="34" charset="0"/>
                <a:cs typeface="Arial" panose="020B0604020202020204" pitchFamily="34" charset="0"/>
              </a:rPr>
              <a:t>en</a:t>
            </a:r>
            <a:r>
              <a:rPr lang="en-US" sz="1200" b="1" i="1" dirty="0">
                <a:latin typeface="Arial" panose="020B0604020202020204" pitchFamily="34" charset="0"/>
                <a:cs typeface="Arial" panose="020B0604020202020204" pitchFamily="34" charset="0"/>
              </a:rPr>
              <a:t> </a:t>
            </a:r>
            <a:r>
              <a:rPr lang="en-US" sz="1200" b="1" i="1" dirty="0" err="1">
                <a:latin typeface="Arial" panose="020B0604020202020204" pitchFamily="34" charset="0"/>
                <a:cs typeface="Arial" panose="020B0604020202020204" pitchFamily="34" charset="0"/>
              </a:rPr>
              <a:t>el</a:t>
            </a:r>
            <a:r>
              <a:rPr lang="en-US" sz="1200" b="1" i="1" dirty="0">
                <a:latin typeface="Arial" panose="020B0604020202020204" pitchFamily="34" charset="0"/>
                <a:cs typeface="Arial" panose="020B0604020202020204" pitchFamily="34" charset="0"/>
              </a:rPr>
              <a:t> </a:t>
            </a:r>
            <a:r>
              <a:rPr lang="en-US" sz="1200" b="1" i="1" dirty="0" err="1">
                <a:latin typeface="Arial" panose="020B0604020202020204" pitchFamily="34" charset="0"/>
                <a:cs typeface="Arial" panose="020B0604020202020204" pitchFamily="34" charset="0"/>
              </a:rPr>
              <a:t>rango</a:t>
            </a:r>
            <a:r>
              <a:rPr lang="en-US" sz="1200" b="1" i="1" dirty="0">
                <a:latin typeface="Arial" panose="020B0604020202020204" pitchFamily="34" charset="0"/>
                <a:cs typeface="Arial" panose="020B0604020202020204" pitchFamily="34" charset="0"/>
              </a:rPr>
              <a:t> de longitudes de </a:t>
            </a:r>
            <a:r>
              <a:rPr lang="en-US" sz="1200" b="1" i="1" dirty="0" err="1">
                <a:latin typeface="Arial" panose="020B0604020202020204" pitchFamily="34" charset="0"/>
                <a:cs typeface="Arial" panose="020B0604020202020204" pitchFamily="34" charset="0"/>
              </a:rPr>
              <a:t>onda</a:t>
            </a:r>
            <a:r>
              <a:rPr lang="en-US" sz="1200" b="1" i="1" dirty="0">
                <a:latin typeface="Arial" panose="020B0604020202020204" pitchFamily="34" charset="0"/>
                <a:cs typeface="Arial" panose="020B0604020202020204" pitchFamily="34" charset="0"/>
              </a:rPr>
              <a:t> </a:t>
            </a:r>
            <a:r>
              <a:rPr lang="en-US" sz="1200" b="1" i="1" dirty="0" err="1">
                <a:latin typeface="Arial" panose="020B0604020202020204" pitchFamily="34" charset="0"/>
                <a:cs typeface="Arial" panose="020B0604020202020204" pitchFamily="34" charset="0"/>
              </a:rPr>
              <a:t>estudiados</a:t>
            </a:r>
            <a:r>
              <a:rPr lang="en-US" sz="1200" b="1" i="1" dirty="0">
                <a:latin typeface="Arial" panose="020B0604020202020204" pitchFamily="34" charset="0"/>
                <a:cs typeface="Arial" panose="020B0604020202020204" pitchFamily="34" charset="0"/>
              </a:rPr>
              <a:t>. </a:t>
            </a:r>
          </a:p>
          <a:p>
            <a:pPr algn="just"/>
            <a:endParaRPr lang="en-US" sz="1200" b="1" i="1" dirty="0">
              <a:latin typeface="Arial" panose="020B0604020202020204" pitchFamily="34" charset="0"/>
              <a:cs typeface="Arial" panose="020B0604020202020204" pitchFamily="34" charset="0"/>
            </a:endParaRPr>
          </a:p>
          <a:p>
            <a:pPr algn="just"/>
            <a:r>
              <a:rPr lang="en-US" sz="1200" b="1" i="1" dirty="0" err="1">
                <a:latin typeface="Arial" panose="020B0604020202020204" pitchFamily="34" charset="0"/>
                <a:cs typeface="Arial" panose="020B0604020202020204" pitchFamily="34" charset="0"/>
              </a:rPr>
              <a:t>Además</a:t>
            </a:r>
            <a:r>
              <a:rPr lang="en-US" sz="1200" b="1" i="1" dirty="0">
                <a:latin typeface="Arial" panose="020B0604020202020204" pitchFamily="34" charset="0"/>
                <a:cs typeface="Arial" panose="020B0604020202020204" pitchFamily="34" charset="0"/>
              </a:rPr>
              <a:t> de </a:t>
            </a:r>
            <a:r>
              <a:rPr lang="en-US" sz="1200" b="1" i="1" dirty="0" err="1">
                <a:latin typeface="Arial" panose="020B0604020202020204" pitchFamily="34" charset="0"/>
                <a:cs typeface="Arial" panose="020B0604020202020204" pitchFamily="34" charset="0"/>
              </a:rPr>
              <a:t>cambiar</a:t>
            </a:r>
            <a:r>
              <a:rPr lang="en-US" sz="1200" b="1" i="1" dirty="0">
                <a:latin typeface="Arial" panose="020B0604020202020204" pitchFamily="34" charset="0"/>
                <a:cs typeface="Arial" panose="020B0604020202020204" pitchFamily="34" charset="0"/>
              </a:rPr>
              <a:t> </a:t>
            </a:r>
            <a:r>
              <a:rPr lang="en-US" sz="1200" b="1" i="1" dirty="0" err="1">
                <a:latin typeface="Arial" panose="020B0604020202020204" pitchFamily="34" charset="0"/>
                <a:cs typeface="Arial" panose="020B0604020202020204" pitchFamily="34" charset="0"/>
              </a:rPr>
              <a:t>el</a:t>
            </a:r>
            <a:r>
              <a:rPr lang="en-US" sz="1200" b="1" i="1" dirty="0">
                <a:latin typeface="Arial" panose="020B0604020202020204" pitchFamily="34" charset="0"/>
                <a:cs typeface="Arial" panose="020B0604020202020204" pitchFamily="34" charset="0"/>
              </a:rPr>
              <a:t> material del </a:t>
            </a:r>
            <a:r>
              <a:rPr lang="en-US" sz="1200" b="1" i="1" dirty="0" err="1">
                <a:latin typeface="Arial" panose="020B0604020202020204" pitchFamily="34" charset="0"/>
                <a:cs typeface="Arial" panose="020B0604020202020204" pitchFamily="34" charset="0"/>
              </a:rPr>
              <a:t>núcleo</a:t>
            </a:r>
            <a:r>
              <a:rPr lang="en-US" sz="1200" b="1" i="1" dirty="0">
                <a:latin typeface="Arial" panose="020B0604020202020204" pitchFamily="34" charset="0"/>
                <a:cs typeface="Arial" panose="020B0604020202020204" pitchFamily="34" charset="0"/>
              </a:rPr>
              <a:t>, También se </a:t>
            </a:r>
            <a:r>
              <a:rPr lang="en-US" sz="1200" b="1" i="1" dirty="0" err="1">
                <a:latin typeface="Arial" panose="020B0604020202020204" pitchFamily="34" charset="0"/>
                <a:cs typeface="Arial" panose="020B0604020202020204" pitchFamily="34" charset="0"/>
              </a:rPr>
              <a:t>han</a:t>
            </a:r>
            <a:r>
              <a:rPr lang="en-US" sz="1200" b="1" i="1" dirty="0">
                <a:latin typeface="Arial" panose="020B0604020202020204" pitchFamily="34" charset="0"/>
                <a:cs typeface="Arial" panose="020B0604020202020204" pitchFamily="34" charset="0"/>
              </a:rPr>
              <a:t> </a:t>
            </a:r>
            <a:r>
              <a:rPr lang="en-US" sz="1200" b="1" i="1" dirty="0" err="1">
                <a:latin typeface="Arial" panose="020B0604020202020204" pitchFamily="34" charset="0"/>
                <a:cs typeface="Arial" panose="020B0604020202020204" pitchFamily="34" charset="0"/>
              </a:rPr>
              <a:t>hecho</a:t>
            </a:r>
            <a:r>
              <a:rPr lang="en-US" sz="1200" b="1" i="1" dirty="0">
                <a:latin typeface="Arial" panose="020B0604020202020204" pitchFamily="34" charset="0"/>
                <a:cs typeface="Arial" panose="020B0604020202020204" pitchFamily="34" charset="0"/>
              </a:rPr>
              <a:t> </a:t>
            </a:r>
            <a:r>
              <a:rPr lang="en-US" sz="1200" b="1" i="1" dirty="0" err="1">
                <a:latin typeface="Arial" panose="020B0604020202020204" pitchFamily="34" charset="0"/>
                <a:cs typeface="Arial" panose="020B0604020202020204" pitchFamily="34" charset="0"/>
              </a:rPr>
              <a:t>unas</a:t>
            </a:r>
            <a:r>
              <a:rPr lang="en-US" sz="1200" b="1" i="1" dirty="0">
                <a:latin typeface="Arial" panose="020B0604020202020204" pitchFamily="34" charset="0"/>
                <a:cs typeface="Arial" panose="020B0604020202020204" pitchFamily="34" charset="0"/>
              </a:rPr>
              <a:t> </a:t>
            </a:r>
            <a:r>
              <a:rPr lang="en-US" sz="1200" b="1" i="1" dirty="0" err="1">
                <a:latin typeface="Arial" panose="020B0604020202020204" pitchFamily="34" charset="0"/>
                <a:cs typeface="Arial" panose="020B0604020202020204" pitchFamily="34" charset="0"/>
              </a:rPr>
              <a:t>modificaciones</a:t>
            </a:r>
            <a:r>
              <a:rPr lang="en-US" sz="1200" b="1" i="1" dirty="0">
                <a:latin typeface="Arial" panose="020B0604020202020204" pitchFamily="34" charset="0"/>
                <a:cs typeface="Arial" panose="020B0604020202020204" pitchFamily="34" charset="0"/>
              </a:rPr>
              <a:t> </a:t>
            </a:r>
            <a:r>
              <a:rPr lang="en-US" sz="1200" b="1" i="1" dirty="0" err="1">
                <a:latin typeface="Arial" panose="020B0604020202020204" pitchFamily="34" charset="0"/>
                <a:cs typeface="Arial" panose="020B0604020202020204" pitchFamily="34" charset="0"/>
              </a:rPr>
              <a:t>en</a:t>
            </a:r>
            <a:r>
              <a:rPr lang="en-US" sz="1200" b="1" i="1" dirty="0">
                <a:latin typeface="Arial" panose="020B0604020202020204" pitchFamily="34" charset="0"/>
                <a:cs typeface="Arial" panose="020B0604020202020204" pitchFamily="34" charset="0"/>
              </a:rPr>
              <a:t> las </a:t>
            </a:r>
            <a:r>
              <a:rPr lang="en-US" sz="1200" b="1" i="1" dirty="0" err="1">
                <a:latin typeface="Arial" panose="020B0604020202020204" pitchFamily="34" charset="0"/>
                <a:cs typeface="Arial" panose="020B0604020202020204" pitchFamily="34" charset="0"/>
              </a:rPr>
              <a:t>dimensiones</a:t>
            </a:r>
            <a:r>
              <a:rPr lang="en-US" sz="1200" b="1" i="1" dirty="0">
                <a:latin typeface="Arial" panose="020B0604020202020204" pitchFamily="34" charset="0"/>
                <a:cs typeface="Arial" panose="020B0604020202020204" pitchFamily="34" charset="0"/>
              </a:rPr>
              <a:t> de la </a:t>
            </a:r>
            <a:r>
              <a:rPr lang="en-US" sz="1200" b="1" i="1" dirty="0" err="1">
                <a:latin typeface="Arial" panose="020B0604020202020204" pitchFamily="34" charset="0"/>
                <a:cs typeface="Arial" panose="020B0604020202020204" pitchFamily="34" charset="0"/>
              </a:rPr>
              <a:t>guía</a:t>
            </a:r>
            <a:r>
              <a:rPr lang="en-US" sz="1200" b="1" i="1" dirty="0">
                <a:latin typeface="Arial" panose="020B0604020202020204" pitchFamily="34" charset="0"/>
                <a:cs typeface="Arial" panose="020B0604020202020204" pitchFamily="34" charset="0"/>
              </a:rPr>
              <a:t>, </a:t>
            </a:r>
            <a:r>
              <a:rPr lang="en-US" sz="1200" b="1" i="1" dirty="0" err="1">
                <a:latin typeface="Arial" panose="020B0604020202020204" pitchFamily="34" charset="0"/>
                <a:cs typeface="Arial" panose="020B0604020202020204" pitchFamily="34" charset="0"/>
              </a:rPr>
              <a:t>en</a:t>
            </a:r>
            <a:r>
              <a:rPr lang="en-US" sz="1200" b="1" i="1" dirty="0">
                <a:latin typeface="Arial" panose="020B0604020202020204" pitchFamily="34" charset="0"/>
                <a:cs typeface="Arial" panose="020B0604020202020204" pitchFamily="34" charset="0"/>
              </a:rPr>
              <a:t> </a:t>
            </a:r>
            <a:r>
              <a:rPr lang="en-US" sz="1200" b="1" i="1" dirty="0" err="1">
                <a:latin typeface="Arial" panose="020B0604020202020204" pitchFamily="34" charset="0"/>
                <a:cs typeface="Arial" panose="020B0604020202020204" pitchFamily="34" charset="0"/>
              </a:rPr>
              <a:t>concreto</a:t>
            </a:r>
            <a:r>
              <a:rPr lang="en-US" sz="1200" b="1" i="1" dirty="0">
                <a:latin typeface="Arial" panose="020B0604020202020204" pitchFamily="34" charset="0"/>
                <a:cs typeface="Arial" panose="020B0604020202020204" pitchFamily="34" charset="0"/>
              </a:rPr>
              <a:t>: </a:t>
            </a:r>
            <a:r>
              <a:rPr lang="en-US" sz="1200" b="1" i="1" dirty="0" err="1">
                <a:latin typeface="Arial" panose="020B0604020202020204" pitchFamily="34" charset="0"/>
                <a:cs typeface="Arial" panose="020B0604020202020204" pitchFamily="34" charset="0"/>
              </a:rPr>
              <a:t>el</a:t>
            </a:r>
            <a:r>
              <a:rPr lang="en-US" sz="1200" b="1" i="1" dirty="0">
                <a:latin typeface="Arial" panose="020B0604020202020204" pitchFamily="34" charset="0"/>
                <a:cs typeface="Arial" panose="020B0604020202020204" pitchFamily="34" charset="0"/>
              </a:rPr>
              <a:t> ancho, </a:t>
            </a:r>
            <a:r>
              <a:rPr lang="en-US" sz="1200" b="1" i="1" dirty="0" err="1">
                <a:latin typeface="Arial" panose="020B0604020202020204" pitchFamily="34" charset="0"/>
                <a:cs typeface="Arial" panose="020B0604020202020204" pitchFamily="34" charset="0"/>
              </a:rPr>
              <a:t>el</a:t>
            </a:r>
            <a:r>
              <a:rPr lang="en-US" sz="1200" b="1" i="1" dirty="0">
                <a:latin typeface="Arial" panose="020B0604020202020204" pitchFamily="34" charset="0"/>
                <a:cs typeface="Arial" panose="020B0604020202020204" pitchFamily="34" charset="0"/>
              </a:rPr>
              <a:t> </a:t>
            </a:r>
            <a:r>
              <a:rPr lang="en-US" sz="1200" b="1" i="1" dirty="0" err="1">
                <a:latin typeface="Arial" panose="020B0604020202020204" pitchFamily="34" charset="0"/>
                <a:cs typeface="Arial" panose="020B0604020202020204" pitchFamily="34" charset="0"/>
              </a:rPr>
              <a:t>cual</a:t>
            </a:r>
            <a:r>
              <a:rPr lang="en-US" sz="1200" b="1" i="1" dirty="0">
                <a:latin typeface="Arial" panose="020B0604020202020204" pitchFamily="34" charset="0"/>
                <a:cs typeface="Arial" panose="020B0604020202020204" pitchFamily="34" charset="0"/>
              </a:rPr>
              <a:t> </a:t>
            </a:r>
            <a:r>
              <a:rPr lang="en-US" sz="1200" b="1" i="1" dirty="0" err="1">
                <a:latin typeface="Arial" panose="020B0604020202020204" pitchFamily="34" charset="0"/>
                <a:cs typeface="Arial" panose="020B0604020202020204" pitchFamily="34" charset="0"/>
              </a:rPr>
              <a:t>ahora</a:t>
            </a:r>
            <a:r>
              <a:rPr lang="en-US" sz="1200" b="1" i="1" dirty="0">
                <a:latin typeface="Arial" panose="020B0604020202020204" pitchFamily="34" charset="0"/>
                <a:cs typeface="Arial" panose="020B0604020202020204" pitchFamily="34" charset="0"/>
              </a:rPr>
              <a:t> </a:t>
            </a:r>
            <a:r>
              <a:rPr lang="en-US" sz="1200" b="1" i="1" dirty="0" err="1">
                <a:latin typeface="Arial" panose="020B0604020202020204" pitchFamily="34" charset="0"/>
                <a:cs typeface="Arial" panose="020B0604020202020204" pitchFamily="34" charset="0"/>
              </a:rPr>
              <a:t>va</a:t>
            </a:r>
            <a:r>
              <a:rPr lang="en-US" sz="1200" b="1" i="1" dirty="0">
                <a:latin typeface="Arial" panose="020B0604020202020204" pitchFamily="34" charset="0"/>
                <a:cs typeface="Arial" panose="020B0604020202020204" pitchFamily="34" charset="0"/>
              </a:rPr>
              <a:t> a ser de 0.5 um, y la </a:t>
            </a:r>
            <a:r>
              <a:rPr lang="en-US" sz="1200" b="1" i="1" dirty="0" err="1">
                <a:latin typeface="Arial" panose="020B0604020202020204" pitchFamily="34" charset="0"/>
                <a:cs typeface="Arial" panose="020B0604020202020204" pitchFamily="34" charset="0"/>
              </a:rPr>
              <a:t>altura</a:t>
            </a:r>
            <a:r>
              <a:rPr lang="en-US" sz="1200" b="1" i="1" dirty="0">
                <a:latin typeface="Arial" panose="020B0604020202020204" pitchFamily="34" charset="0"/>
                <a:cs typeface="Arial" panose="020B0604020202020204" pitchFamily="34" charset="0"/>
              </a:rPr>
              <a:t>, de 0.22 um. </a:t>
            </a:r>
          </a:p>
          <a:p>
            <a:pPr algn="just"/>
            <a:endParaRPr lang="en-US" sz="1200" dirty="0">
              <a:latin typeface="Arial" panose="020B0604020202020204" pitchFamily="34" charset="0"/>
              <a:cs typeface="Arial" panose="020B0604020202020204" pitchFamily="34" charset="0"/>
            </a:endParaRPr>
          </a:p>
          <a:p>
            <a:pPr algn="just"/>
            <a:endParaRPr lang="en-US" sz="1200" b="1" i="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099300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22E24-29DB-E2F3-9307-23DB7AB34ED3}"/>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14FF14D-9463-1CC1-8B86-92479A35EA8B}"/>
              </a:ext>
            </a:extLst>
          </p:cNvPr>
          <p:cNvSpPr txBox="1">
            <a:spLocks noGrp="1"/>
          </p:cNvSpPr>
          <p:nvPr>
            <p:ph type="title"/>
          </p:nvPr>
        </p:nvSpPr>
        <p:spPr>
          <a:xfrm>
            <a:off x="685800" y="408883"/>
            <a:ext cx="10994410" cy="1474763"/>
          </a:xfrm>
          <a:prstGeom prst="rect">
            <a:avLst/>
          </a:prstGeom>
        </p:spPr>
        <p:txBody>
          <a:bodyPr vert="horz" wrap="square" lIns="0" tIns="12700" rIns="0" bIns="0" rtlCol="0">
            <a:spAutoFit/>
          </a:bodyPr>
          <a:lstStyle/>
          <a:p>
            <a:pPr marL="12700">
              <a:spcBef>
                <a:spcPts val="100"/>
              </a:spcBef>
            </a:pPr>
            <a:r>
              <a:rPr lang="en-US" sz="2500" dirty="0"/>
              <a:t>EXTRA EJERCICIO 1: </a:t>
            </a:r>
            <a:br>
              <a:rPr lang="en-US" sz="2500" dirty="0"/>
            </a:br>
            <a:r>
              <a:rPr lang="en-US" b="0" dirty="0"/>
              <a:t>Repeat the LO.2. wavelength behavior simulations, considering the updated materials and dimensions</a:t>
            </a:r>
            <a:br>
              <a:rPr lang="en-US" b="0" dirty="0"/>
            </a:br>
            <a:br>
              <a:rPr lang="en-US" sz="250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80F73181-ED8C-350B-EA9D-FDBDC57238E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561864EF-26CB-788F-DAFF-2B3187D5EE91}"/>
              </a:ext>
            </a:extLst>
          </p:cNvPr>
          <p:cNvSpPr>
            <a:spLocks noGrp="1"/>
          </p:cNvSpPr>
          <p:nvPr>
            <p:ph type="sldNum" sz="quarter" idx="7"/>
          </p:nvPr>
        </p:nvSpPr>
        <p:spPr/>
        <p:txBody>
          <a:bodyPr/>
          <a:lstStyle/>
          <a:p>
            <a:fld id="{B6F15528-21DE-4FAA-801E-634DDDAF4B2B}" type="slidenum">
              <a:rPr lang="es-ES" smtClean="0"/>
              <a:t>16</a:t>
            </a:fld>
            <a:endParaRPr lang="es-ES"/>
          </a:p>
        </p:txBody>
      </p:sp>
      <p:sp>
        <p:nvSpPr>
          <p:cNvPr id="3" name="Marcador de pie de página 2">
            <a:extLst>
              <a:ext uri="{FF2B5EF4-FFF2-40B4-BE49-F238E27FC236}">
                <a16:creationId xmlns:a16="http://schemas.microsoft.com/office/drawing/2014/main" id="{29936319-2C10-BCFC-21AA-A36400AD75F8}"/>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7" name="Rectángulo 6">
            <a:extLst>
              <a:ext uri="{FF2B5EF4-FFF2-40B4-BE49-F238E27FC236}">
                <a16:creationId xmlns:a16="http://schemas.microsoft.com/office/drawing/2014/main" id="{0A82FF6F-244E-0422-0BBA-FD5BC8913A02}"/>
              </a:ext>
            </a:extLst>
          </p:cNvPr>
          <p:cNvSpPr/>
          <p:nvPr/>
        </p:nvSpPr>
        <p:spPr>
          <a:xfrm>
            <a:off x="381000" y="1418372"/>
            <a:ext cx="11429999" cy="38394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Imagen 9">
            <a:extLst>
              <a:ext uri="{FF2B5EF4-FFF2-40B4-BE49-F238E27FC236}">
                <a16:creationId xmlns:a16="http://schemas.microsoft.com/office/drawing/2014/main" id="{7AA86609-8BC2-1A5A-00DF-AA354E7D022E}"/>
              </a:ext>
            </a:extLst>
          </p:cNvPr>
          <p:cNvPicPr>
            <a:picLocks noChangeAspect="1"/>
          </p:cNvPicPr>
          <p:nvPr/>
        </p:nvPicPr>
        <p:blipFill>
          <a:blip r:embed="rId5"/>
          <a:srcRect r="1102"/>
          <a:stretch>
            <a:fillRect/>
          </a:stretch>
        </p:blipFill>
        <p:spPr>
          <a:xfrm>
            <a:off x="532006" y="1554870"/>
            <a:ext cx="5473098" cy="3486839"/>
          </a:xfrm>
          <a:prstGeom prst="rect">
            <a:avLst/>
          </a:prstGeom>
        </p:spPr>
      </p:pic>
      <p:sp>
        <p:nvSpPr>
          <p:cNvPr id="11" name="CuadroTexto 10">
            <a:extLst>
              <a:ext uri="{FF2B5EF4-FFF2-40B4-BE49-F238E27FC236}">
                <a16:creationId xmlns:a16="http://schemas.microsoft.com/office/drawing/2014/main" id="{45E43CA7-9210-5968-B78B-45925C329253}"/>
              </a:ext>
            </a:extLst>
          </p:cNvPr>
          <p:cNvSpPr txBox="1"/>
          <p:nvPr/>
        </p:nvSpPr>
        <p:spPr>
          <a:xfrm>
            <a:off x="685800" y="5439628"/>
            <a:ext cx="3267113" cy="369332"/>
          </a:xfrm>
          <a:prstGeom prst="rect">
            <a:avLst/>
          </a:prstGeom>
          <a:noFill/>
        </p:spPr>
        <p:txBody>
          <a:bodyPr wrap="square">
            <a:spAutoFit/>
          </a:bodyPr>
          <a:lstStyle/>
          <a:p>
            <a:r>
              <a:rPr lang="en-US" dirty="0" err="1"/>
              <a:t>slab_thickness</a:t>
            </a:r>
            <a:r>
              <a:rPr lang="en-US" dirty="0"/>
              <a:t> = 150nm</a:t>
            </a:r>
            <a:endParaRPr lang="es-ES" dirty="0"/>
          </a:p>
        </p:txBody>
      </p:sp>
      <p:pic>
        <p:nvPicPr>
          <p:cNvPr id="13" name="Imagen 12">
            <a:extLst>
              <a:ext uri="{FF2B5EF4-FFF2-40B4-BE49-F238E27FC236}">
                <a16:creationId xmlns:a16="http://schemas.microsoft.com/office/drawing/2014/main" id="{85FDF6E3-3F61-832C-4589-FF828B653121}"/>
              </a:ext>
            </a:extLst>
          </p:cNvPr>
          <p:cNvPicPr>
            <a:picLocks noChangeAspect="1"/>
          </p:cNvPicPr>
          <p:nvPr/>
        </p:nvPicPr>
        <p:blipFill>
          <a:blip r:embed="rId6"/>
          <a:stretch>
            <a:fillRect/>
          </a:stretch>
        </p:blipFill>
        <p:spPr>
          <a:xfrm>
            <a:off x="6036963" y="1554870"/>
            <a:ext cx="5588819" cy="3486839"/>
          </a:xfrm>
          <a:prstGeom prst="rect">
            <a:avLst/>
          </a:prstGeom>
        </p:spPr>
      </p:pic>
    </p:spTree>
    <p:extLst>
      <p:ext uri="{BB962C8B-B14F-4D97-AF65-F5344CB8AC3E}">
        <p14:creationId xmlns:p14="http://schemas.microsoft.com/office/powerpoint/2010/main" val="14681514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290A31-EA4D-95A6-2C5E-7D0C46CA7028}"/>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0744EA-A8E0-D40D-B1FD-4C37A7BFECC8}"/>
              </a:ext>
            </a:extLst>
          </p:cNvPr>
          <p:cNvSpPr txBox="1">
            <a:spLocks noGrp="1"/>
          </p:cNvSpPr>
          <p:nvPr>
            <p:ph type="title"/>
          </p:nvPr>
        </p:nvSpPr>
        <p:spPr>
          <a:xfrm>
            <a:off x="685800" y="408883"/>
            <a:ext cx="10994410" cy="1474763"/>
          </a:xfrm>
          <a:prstGeom prst="rect">
            <a:avLst/>
          </a:prstGeom>
        </p:spPr>
        <p:txBody>
          <a:bodyPr vert="horz" wrap="square" lIns="0" tIns="12700" rIns="0" bIns="0" rtlCol="0">
            <a:spAutoFit/>
          </a:bodyPr>
          <a:lstStyle/>
          <a:p>
            <a:pPr marL="12700">
              <a:spcBef>
                <a:spcPts val="100"/>
              </a:spcBef>
            </a:pPr>
            <a:r>
              <a:rPr lang="en-US" sz="2500" dirty="0"/>
              <a:t>EXTRA EJERCICIO 1: </a:t>
            </a:r>
            <a:br>
              <a:rPr lang="en-US" sz="2500" dirty="0"/>
            </a:br>
            <a:r>
              <a:rPr lang="en-US" b="0" dirty="0"/>
              <a:t>Repeat the LO.2. wavelength behavior simulations, considering the updated materials and dimensions</a:t>
            </a:r>
            <a:br>
              <a:rPr lang="en-US" b="0" dirty="0"/>
            </a:br>
            <a:br>
              <a:rPr lang="en-US" sz="250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C5AEDF8F-1E47-638E-B7AD-DE8F9D9EB36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A571BAA-9282-B084-D18F-F8176D48F2F8}"/>
              </a:ext>
            </a:extLst>
          </p:cNvPr>
          <p:cNvSpPr>
            <a:spLocks noGrp="1"/>
          </p:cNvSpPr>
          <p:nvPr>
            <p:ph type="sldNum" sz="quarter" idx="7"/>
          </p:nvPr>
        </p:nvSpPr>
        <p:spPr/>
        <p:txBody>
          <a:bodyPr/>
          <a:lstStyle/>
          <a:p>
            <a:fld id="{B6F15528-21DE-4FAA-801E-634DDDAF4B2B}" type="slidenum">
              <a:rPr lang="es-ES" smtClean="0"/>
              <a:t>17</a:t>
            </a:fld>
            <a:endParaRPr lang="es-ES"/>
          </a:p>
        </p:txBody>
      </p:sp>
      <p:sp>
        <p:nvSpPr>
          <p:cNvPr id="3" name="Marcador de pie de página 2">
            <a:extLst>
              <a:ext uri="{FF2B5EF4-FFF2-40B4-BE49-F238E27FC236}">
                <a16:creationId xmlns:a16="http://schemas.microsoft.com/office/drawing/2014/main" id="{4A75EB05-3E07-1AA7-934E-29710A8F4544}"/>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14" name="CuadroTexto 13">
            <a:extLst>
              <a:ext uri="{FF2B5EF4-FFF2-40B4-BE49-F238E27FC236}">
                <a16:creationId xmlns:a16="http://schemas.microsoft.com/office/drawing/2014/main" id="{013B78EF-DAB1-0BE3-963D-9C7ACF01DE8E}"/>
              </a:ext>
            </a:extLst>
          </p:cNvPr>
          <p:cNvSpPr txBox="1"/>
          <p:nvPr/>
        </p:nvSpPr>
        <p:spPr>
          <a:xfrm>
            <a:off x="576943" y="1945986"/>
            <a:ext cx="11199971" cy="2492990"/>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En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primer </a:t>
            </a:r>
            <a:r>
              <a:rPr lang="en-US" sz="1200" dirty="0" err="1">
                <a:latin typeface="Arial" panose="020B0604020202020204" pitchFamily="34" charset="0"/>
                <a:cs typeface="Arial" panose="020B0604020202020204" pitchFamily="34" charset="0"/>
              </a:rPr>
              <a:t>ejercicio</a:t>
            </a:r>
            <a:r>
              <a:rPr lang="en-US" sz="1200" dirty="0">
                <a:latin typeface="Arial" panose="020B0604020202020204" pitchFamily="34" charset="0"/>
                <a:cs typeface="Arial" panose="020B0604020202020204" pitchFamily="34" charset="0"/>
              </a:rPr>
              <a:t> extra, se </a:t>
            </a:r>
            <a:r>
              <a:rPr lang="en-US" sz="1200" dirty="0" err="1">
                <a:latin typeface="Arial" panose="020B0604020202020204" pitchFamily="34" charset="0"/>
                <a:cs typeface="Arial" panose="020B0604020202020204" pitchFamily="34" charset="0"/>
              </a:rPr>
              <a:t>pide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volver</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simular</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deep y shallow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función</a:t>
            </a:r>
            <a:r>
              <a:rPr lang="en-US" sz="1200" dirty="0">
                <a:latin typeface="Arial" panose="020B0604020202020204" pitchFamily="34" charset="0"/>
                <a:cs typeface="Arial" panose="020B0604020202020204" pitchFamily="34" charset="0"/>
              </a:rPr>
              <a:t> de sus longitudes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después</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haber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realizado</a:t>
            </a:r>
            <a:r>
              <a:rPr lang="en-US" sz="1200" dirty="0">
                <a:latin typeface="Arial" panose="020B0604020202020204" pitchFamily="34" charset="0"/>
                <a:cs typeface="Arial" panose="020B0604020202020204" pitchFamily="34" charset="0"/>
              </a:rPr>
              <a:t> las </a:t>
            </a:r>
            <a:r>
              <a:rPr lang="en-US" sz="1200" dirty="0" err="1">
                <a:latin typeface="Arial" panose="020B0604020202020204" pitchFamily="34" charset="0"/>
                <a:cs typeface="Arial" panose="020B0604020202020204" pitchFamily="34" charset="0"/>
              </a:rPr>
              <a:t>modificaciones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mencionadas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diapositiva</a:t>
            </a:r>
            <a:r>
              <a:rPr lang="en-US" sz="1200" dirty="0">
                <a:latin typeface="Arial" panose="020B0604020202020204" pitchFamily="34" charset="0"/>
                <a:cs typeface="Arial" panose="020B0604020202020204" pitchFamily="34" charset="0"/>
              </a:rPr>
              <a:t> anterior. Como se </a:t>
            </a:r>
            <a:r>
              <a:rPr lang="en-US" sz="1200" dirty="0" err="1">
                <a:latin typeface="Arial" panose="020B0604020202020204" pitchFamily="34" charset="0"/>
                <a:cs typeface="Arial" panose="020B0604020202020204" pitchFamily="34" charset="0"/>
              </a:rPr>
              <a:t>puede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observar</a:t>
            </a:r>
            <a:r>
              <a:rPr lang="en-US" sz="1200" dirty="0">
                <a:latin typeface="Arial" panose="020B0604020202020204" pitchFamily="34" charset="0"/>
                <a:cs typeface="Arial" panose="020B0604020202020204" pitchFamily="34" charset="0"/>
              </a:rPr>
              <a:t>, tanto para la </a:t>
            </a:r>
            <a:r>
              <a:rPr lang="en-US" sz="1200" dirty="0" err="1">
                <a:latin typeface="Arial" panose="020B0604020202020204" pitchFamily="34" charset="0"/>
                <a:cs typeface="Arial" panose="020B0604020202020204" pitchFamily="34" charset="0"/>
              </a:rPr>
              <a:t>gráfica</a:t>
            </a:r>
            <a:r>
              <a:rPr lang="en-US" sz="1200" dirty="0">
                <a:latin typeface="Arial" panose="020B0604020202020204" pitchFamily="34" charset="0"/>
                <a:cs typeface="Arial" panose="020B0604020202020204" pitchFamily="34" charset="0"/>
              </a:rPr>
              <a:t> deep </a:t>
            </a:r>
            <a:r>
              <a:rPr lang="en-US" sz="1200" dirty="0" err="1">
                <a:latin typeface="Arial" panose="020B0604020202020204" pitchFamily="34" charset="0"/>
                <a:cs typeface="Arial" panose="020B0604020202020204" pitchFamily="34" charset="0"/>
              </a:rPr>
              <a:t>como</a:t>
            </a:r>
            <a:r>
              <a:rPr lang="en-US" sz="1200" dirty="0">
                <a:latin typeface="Arial" panose="020B0604020202020204" pitchFamily="34" charset="0"/>
                <a:cs typeface="Arial" panose="020B0604020202020204" pitchFamily="34" charset="0"/>
              </a:rPr>
              <a:t> la shallow, </a:t>
            </a:r>
            <a:r>
              <a:rPr lang="en-US" sz="1200" dirty="0" err="1">
                <a:latin typeface="Arial" panose="020B0604020202020204" pitchFamily="34" charset="0"/>
                <a:cs typeface="Arial" panose="020B0604020202020204" pitchFamily="34" charset="0"/>
              </a:rPr>
              <a:t>están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representados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4 </a:t>
            </a:r>
            <a:r>
              <a:rPr lang="en-US" sz="1200" dirty="0" err="1">
                <a:latin typeface="Arial" panose="020B0604020202020204" pitchFamily="34" charset="0"/>
                <a:cs typeface="Arial" panose="020B0604020202020204" pitchFamily="34" charset="0"/>
              </a:rPr>
              <a:t>primeros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modos</a:t>
            </a:r>
            <a:r>
              <a:rPr lang="en-US" sz="1200" dirty="0">
                <a:latin typeface="Arial" panose="020B0604020202020204" pitchFamily="34" charset="0"/>
                <a:cs typeface="Arial" panose="020B0604020202020204" pitchFamily="34" charset="0"/>
              </a:rPr>
              <a:t>. </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De </a:t>
            </a:r>
            <a:r>
              <a:rPr lang="en-US" sz="1200" dirty="0" err="1">
                <a:latin typeface="Arial" panose="020B0604020202020204" pitchFamily="34" charset="0"/>
                <a:cs typeface="Arial" panose="020B0604020202020204" pitchFamily="34" charset="0"/>
              </a:rPr>
              <a:t>dichos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modos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la deep </a:t>
            </a:r>
            <a:r>
              <a:rPr lang="en-US" sz="1200" dirty="0" err="1">
                <a:latin typeface="Arial" panose="020B0604020202020204" pitchFamily="34" charset="0"/>
                <a:cs typeface="Arial" panose="020B0604020202020204" pitchFamily="34" charset="0"/>
              </a:rPr>
              <a:t>únicamente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están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guiados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tres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primeros</a:t>
            </a:r>
            <a:r>
              <a:rPr lang="en-US" sz="1200" dirty="0">
                <a:latin typeface="Arial" panose="020B0604020202020204" pitchFamily="34" charset="0"/>
                <a:cs typeface="Arial" panose="020B0604020202020204" pitchFamily="34" charset="0"/>
              </a:rPr>
              <a:t>, y </a:t>
            </a:r>
            <a:r>
              <a:rPr lang="en-US" sz="1200" dirty="0" err="1">
                <a:latin typeface="Arial" panose="020B0604020202020204" pitchFamily="34" charset="0"/>
                <a:cs typeface="Arial" panose="020B0604020202020204" pitchFamily="34" charset="0"/>
              </a:rPr>
              <a:t>esto</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debe</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tal</a:t>
            </a:r>
            <a:r>
              <a:rPr lang="en-US" sz="1200" dirty="0">
                <a:latin typeface="Arial" panose="020B0604020202020204" pitchFamily="34" charset="0"/>
                <a:cs typeface="Arial" panose="020B0604020202020204" pitchFamily="34" charset="0"/>
              </a:rPr>
              <a:t> y </a:t>
            </a:r>
            <a:r>
              <a:rPr lang="en-US" sz="1200" dirty="0" err="1">
                <a:latin typeface="Arial" panose="020B0604020202020204" pitchFamily="34" charset="0"/>
                <a:cs typeface="Arial" panose="020B0604020202020204" pitchFamily="34" charset="0"/>
              </a:rPr>
              <a:t>como</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explicó</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ejercicio</a:t>
            </a:r>
            <a:r>
              <a:rPr lang="en-US" sz="1200" dirty="0">
                <a:latin typeface="Arial" panose="020B0604020202020204" pitchFamily="34" charset="0"/>
                <a:cs typeface="Arial" panose="020B0604020202020204" pitchFamily="34" charset="0"/>
              </a:rPr>
              <a:t> 2, para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considere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un modo </a:t>
            </a:r>
            <a:r>
              <a:rPr lang="en-US" sz="1200" dirty="0" err="1">
                <a:latin typeface="Arial" panose="020B0604020202020204" pitchFamily="34" charset="0"/>
                <a:cs typeface="Arial" panose="020B0604020202020204" pitchFamily="34" charset="0"/>
              </a:rPr>
              <a:t>está</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guiado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su</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índice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efectivo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tiene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ser </a:t>
            </a:r>
            <a:r>
              <a:rPr lang="en-US" sz="1200" dirty="0" err="1">
                <a:latin typeface="Arial" panose="020B0604020202020204" pitchFamily="34" charset="0"/>
                <a:cs typeface="Arial" panose="020B0604020202020204" pitchFamily="34" charset="0"/>
              </a:rPr>
              <a:t>menor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del </a:t>
            </a:r>
            <a:r>
              <a:rPr lang="en-US" sz="1200" dirty="0" err="1">
                <a:latin typeface="Arial" panose="020B0604020202020204" pitchFamily="34" charset="0"/>
                <a:cs typeface="Arial" panose="020B0604020202020204" pitchFamily="34" charset="0"/>
              </a:rPr>
              <a:t>núcleo</a:t>
            </a:r>
            <a:r>
              <a:rPr lang="en-US" sz="1200" dirty="0">
                <a:latin typeface="Arial" panose="020B0604020202020204" pitchFamily="34" charset="0"/>
                <a:cs typeface="Arial" panose="020B0604020202020204" pitchFamily="34" charset="0"/>
              </a:rPr>
              <a:t> y mayor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de la </a:t>
            </a:r>
            <a:r>
              <a:rPr lang="en-US" sz="1200" dirty="0" err="1">
                <a:latin typeface="Arial" panose="020B0604020202020204" pitchFamily="34" charset="0"/>
                <a:cs typeface="Arial" panose="020B0604020202020204" pitchFamily="34" charset="0"/>
              </a:rPr>
              <a:t>cubierta</a:t>
            </a:r>
            <a:r>
              <a:rPr lang="en-US" sz="1200" dirty="0">
                <a:latin typeface="Arial" panose="020B0604020202020204" pitchFamily="34" charset="0"/>
                <a:cs typeface="Arial" panose="020B0604020202020204" pitchFamily="34" charset="0"/>
              </a:rPr>
              <a:t>. </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Por </a:t>
            </a:r>
            <a:r>
              <a:rPr lang="en-US" sz="1200" dirty="0" err="1">
                <a:latin typeface="Arial" panose="020B0604020202020204" pitchFamily="34" charset="0"/>
                <a:cs typeface="Arial" panose="020B0604020202020204" pitchFamily="34" charset="0"/>
              </a:rPr>
              <a:t>otro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lado</a:t>
            </a:r>
            <a:r>
              <a:rPr lang="en-US" sz="1200" dirty="0">
                <a:latin typeface="Arial" panose="020B0604020202020204" pitchFamily="34" charset="0"/>
                <a:cs typeface="Arial" panose="020B0604020202020204" pitchFamily="34" charset="0"/>
              </a:rPr>
              <a:t>, para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caso</a:t>
            </a:r>
            <a:r>
              <a:rPr lang="en-US" sz="1200" dirty="0">
                <a:latin typeface="Arial" panose="020B0604020202020204" pitchFamily="34" charset="0"/>
                <a:cs typeface="Arial" panose="020B0604020202020204" pitchFamily="34" charset="0"/>
              </a:rPr>
              <a:t> de la shallow, se </a:t>
            </a:r>
            <a:r>
              <a:rPr lang="en-US" sz="1200" dirty="0" err="1">
                <a:latin typeface="Arial" panose="020B0604020202020204" pitchFamily="34" charset="0"/>
                <a:cs typeface="Arial" panose="020B0604020202020204" pitchFamily="34" charset="0"/>
              </a:rPr>
              <a:t>puede</a:t>
            </a:r>
            <a:r>
              <a:rPr lang="en-US" sz="1200" dirty="0">
                <a:latin typeface="Arial" panose="020B0604020202020204" pitchFamily="34" charset="0"/>
                <a:cs typeface="Arial" panose="020B0604020202020204" pitchFamily="34" charset="0"/>
              </a:rPr>
              <a:t> observer </a:t>
            </a:r>
            <a:r>
              <a:rPr lang="en-US" sz="1200" dirty="0" err="1">
                <a:latin typeface="Arial" panose="020B0604020202020204" pitchFamily="34" charset="0"/>
                <a:cs typeface="Arial" panose="020B0604020202020204" pitchFamily="34" charset="0"/>
              </a:rPr>
              <a:t>como</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propagan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4 </a:t>
            </a:r>
            <a:r>
              <a:rPr lang="en-US" sz="1200" dirty="0" err="1">
                <a:latin typeface="Arial" panose="020B0604020202020204" pitchFamily="34" charset="0"/>
                <a:cs typeface="Arial" panose="020B0604020202020204" pitchFamily="34" charset="0"/>
              </a:rPr>
              <a:t>modos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debido</a:t>
            </a:r>
            <a:r>
              <a:rPr lang="en-US" sz="1200" dirty="0">
                <a:latin typeface="Arial" panose="020B0604020202020204" pitchFamily="34" charset="0"/>
                <a:cs typeface="Arial" panose="020B0604020202020204" pitchFamily="34" charset="0"/>
              </a:rPr>
              <a:t> a lo </a:t>
            </a:r>
            <a:r>
              <a:rPr lang="en-US" sz="1200" dirty="0" err="1">
                <a:latin typeface="Arial" panose="020B0604020202020204" pitchFamily="34" charset="0"/>
                <a:cs typeface="Arial" panose="020B0604020202020204" pitchFamily="34" charset="0"/>
              </a:rPr>
              <a:t>mencionado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anteriormente</a:t>
            </a:r>
            <a:r>
              <a:rPr lang="en-US" sz="1200" dirty="0">
                <a:latin typeface="Arial" panose="020B0604020202020204" pitchFamily="34" charset="0"/>
                <a:cs typeface="Arial" panose="020B0604020202020204" pitchFamily="34" charset="0"/>
              </a:rPr>
              <a:t>. Si </a:t>
            </a:r>
            <a:r>
              <a:rPr lang="en-US" sz="1200" dirty="0" err="1">
                <a:latin typeface="Arial" panose="020B0604020202020204" pitchFamily="34" charset="0"/>
                <a:cs typeface="Arial" panose="020B0604020202020204" pitchFamily="34" charset="0"/>
              </a:rPr>
              <a:t>comparamos</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respuesta</a:t>
            </a:r>
            <a:r>
              <a:rPr lang="en-US" sz="1200" dirty="0">
                <a:latin typeface="Arial" panose="020B0604020202020204" pitchFamily="34" charset="0"/>
                <a:cs typeface="Arial" panose="020B0604020202020204" pitchFamily="34" charset="0"/>
              </a:rPr>
              <a:t> de ambas </a:t>
            </a:r>
            <a:r>
              <a:rPr lang="en-US" sz="1200" dirty="0" err="1">
                <a:latin typeface="Arial" panose="020B0604020202020204" pitchFamily="34" charset="0"/>
                <a:cs typeface="Arial" panose="020B0604020202020204" pitchFamily="34" charset="0"/>
              </a:rPr>
              <a:t>guías</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puede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concluir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shallow </a:t>
            </a:r>
            <a:r>
              <a:rPr lang="en-US" sz="1200" dirty="0" err="1">
                <a:latin typeface="Arial" panose="020B0604020202020204" pitchFamily="34" charset="0"/>
                <a:cs typeface="Arial" panose="020B0604020202020204" pitchFamily="34" charset="0"/>
              </a:rPr>
              <a:t>está</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mejor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confinada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la deep, </a:t>
            </a:r>
            <a:r>
              <a:rPr lang="en-US" sz="1200" dirty="0" err="1">
                <a:latin typeface="Arial" panose="020B0604020202020204" pitchFamily="34" charset="0"/>
                <a:cs typeface="Arial" panose="020B0604020202020204" pitchFamily="34" charset="0"/>
              </a:rPr>
              <a:t>ya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índices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efectivos</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encuentran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rango</a:t>
            </a:r>
            <a:r>
              <a:rPr lang="en-US" sz="1200" dirty="0">
                <a:latin typeface="Arial" panose="020B0604020202020204" pitchFamily="34" charset="0"/>
                <a:cs typeface="Arial" panose="020B0604020202020204" pitchFamily="34" charset="0"/>
              </a:rPr>
              <a:t> de 2.5-2.7, lo </a:t>
            </a:r>
            <a:r>
              <a:rPr lang="en-US" sz="1200" dirty="0" err="1">
                <a:latin typeface="Arial" panose="020B0604020202020204" pitchFamily="34" charset="0"/>
                <a:cs typeface="Arial" panose="020B0604020202020204" pitchFamily="34" charset="0"/>
              </a:rPr>
              <a:t>cual</a:t>
            </a:r>
            <a:r>
              <a:rPr lang="en-US" sz="1200" dirty="0">
                <a:latin typeface="Arial" panose="020B0604020202020204" pitchFamily="34" charset="0"/>
                <a:cs typeface="Arial" panose="020B0604020202020204" pitchFamily="34" charset="0"/>
              </a:rPr>
              <a:t> es un </a:t>
            </a:r>
            <a:r>
              <a:rPr lang="en-US" sz="1200" dirty="0" err="1">
                <a:latin typeface="Arial" panose="020B0604020202020204" pitchFamily="34" charset="0"/>
                <a:cs typeface="Arial" panose="020B0604020202020204" pitchFamily="34" charset="0"/>
              </a:rPr>
              <a:t>rango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muy</a:t>
            </a:r>
            <a:r>
              <a:rPr lang="en-US" sz="1200" dirty="0">
                <a:latin typeface="Arial" panose="020B0604020202020204" pitchFamily="34" charset="0"/>
                <a:cs typeface="Arial" panose="020B0604020202020204" pitchFamily="34" charset="0"/>
              </a:rPr>
              <a:t> alto (</a:t>
            </a:r>
            <a:r>
              <a:rPr lang="en-US" sz="1200" dirty="0" err="1">
                <a:latin typeface="Arial" panose="020B0604020202020204" pitchFamily="34" charset="0"/>
                <a:cs typeface="Arial" panose="020B0604020202020204" pitchFamily="34" charset="0"/>
              </a:rPr>
              <a:t>si</a:t>
            </a:r>
            <a:r>
              <a:rPr lang="en-US" sz="1200" dirty="0">
                <a:latin typeface="Arial" panose="020B0604020202020204" pitchFamily="34" charset="0"/>
                <a:cs typeface="Arial" panose="020B0604020202020204" pitchFamily="34" charset="0"/>
              </a:rPr>
              <a:t> lo </a:t>
            </a:r>
            <a:r>
              <a:rPr lang="en-US" sz="1200" dirty="0" err="1">
                <a:latin typeface="Arial" panose="020B0604020202020204" pitchFamily="34" charset="0"/>
                <a:cs typeface="Arial" panose="020B0604020202020204" pitchFamily="34" charset="0"/>
              </a:rPr>
              <a:t>comparamos</a:t>
            </a:r>
            <a:r>
              <a:rPr lang="en-US" sz="1200" dirty="0">
                <a:latin typeface="Arial" panose="020B0604020202020204" pitchFamily="34" charset="0"/>
                <a:cs typeface="Arial" panose="020B0604020202020204" pitchFamily="34" charset="0"/>
              </a:rPr>
              <a:t> con la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deep con </a:t>
            </a:r>
            <a:r>
              <a:rPr lang="en-US" sz="1200" dirty="0" err="1">
                <a:latin typeface="Arial" panose="020B0604020202020204" pitchFamily="34" charset="0"/>
                <a:cs typeface="Arial" panose="020B0604020202020204" pitchFamily="34" charset="0"/>
              </a:rPr>
              <a:t>núcleo</a:t>
            </a:r>
            <a:r>
              <a:rPr lang="en-US" sz="1200" dirty="0">
                <a:latin typeface="Arial" panose="020B0604020202020204" pitchFamily="34" charset="0"/>
                <a:cs typeface="Arial" panose="020B0604020202020204" pitchFamily="34" charset="0"/>
              </a:rPr>
              <a:t> de Si, y las </a:t>
            </a:r>
            <a:r>
              <a:rPr lang="en-US" sz="1200" dirty="0" err="1">
                <a:latin typeface="Arial" panose="020B0604020202020204" pitchFamily="34" charset="0"/>
                <a:cs typeface="Arial" panose="020B0604020202020204" pitchFamily="34" charset="0"/>
              </a:rPr>
              <a:t>guías</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SiN</a:t>
            </a:r>
            <a:r>
              <a:rPr lang="en-US" sz="1200" dirty="0">
                <a:latin typeface="Arial" panose="020B0604020202020204" pitchFamily="34" charset="0"/>
                <a:cs typeface="Arial" panose="020B0604020202020204" pitchFamily="34" charset="0"/>
              </a:rPr>
              <a:t> del </a:t>
            </a:r>
            <a:r>
              <a:rPr lang="en-US" sz="1200" dirty="0" err="1">
                <a:latin typeface="Arial" panose="020B0604020202020204" pitchFamily="34" charset="0"/>
                <a:cs typeface="Arial" panose="020B0604020202020204" pitchFamily="34" charset="0"/>
              </a:rPr>
              <a:t>ejercicio</a:t>
            </a:r>
            <a:r>
              <a:rPr lang="en-US" sz="1200" dirty="0">
                <a:latin typeface="Arial" panose="020B0604020202020204" pitchFamily="34" charset="0"/>
                <a:cs typeface="Arial" panose="020B0604020202020204" pitchFamily="34" charset="0"/>
              </a:rPr>
              <a:t> 2) y </a:t>
            </a:r>
            <a:r>
              <a:rPr lang="en-US" sz="1200" dirty="0" err="1">
                <a:latin typeface="Arial" panose="020B0604020202020204" pitchFamily="34" charset="0"/>
                <a:cs typeface="Arial" panose="020B0604020202020204" pitchFamily="34" charset="0"/>
              </a:rPr>
              <a:t>está</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muy</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alejado</a:t>
            </a:r>
            <a:r>
              <a:rPr lang="en-US" sz="1200" dirty="0">
                <a:latin typeface="Arial" panose="020B0604020202020204" pitchFamily="34" charset="0"/>
                <a:cs typeface="Arial" panose="020B0604020202020204" pitchFamily="34" charset="0"/>
              </a:rPr>
              <a:t> del </a:t>
            </a:r>
            <a:r>
              <a:rPr lang="en-US" sz="1200" dirty="0" err="1">
                <a:latin typeface="Arial" panose="020B0604020202020204" pitchFamily="34" charset="0"/>
                <a:cs typeface="Arial" panose="020B0604020202020204" pitchFamily="34" charset="0"/>
              </a:rPr>
              <a:t>índice</a:t>
            </a:r>
            <a:r>
              <a:rPr lang="en-US" sz="1200" dirty="0">
                <a:latin typeface="Arial" panose="020B0604020202020204" pitchFamily="34" charset="0"/>
                <a:cs typeface="Arial" panose="020B0604020202020204" pitchFamily="34" charset="0"/>
              </a:rPr>
              <a:t> de la </a:t>
            </a:r>
            <a:r>
              <a:rPr lang="en-US" sz="1200" dirty="0" err="1">
                <a:latin typeface="Arial" panose="020B0604020202020204" pitchFamily="34" charset="0"/>
                <a:cs typeface="Arial" panose="020B0604020202020204" pitchFamily="34" charset="0"/>
              </a:rPr>
              <a:t>cubierta</a:t>
            </a:r>
            <a:r>
              <a:rPr lang="en-US" sz="1200" dirty="0">
                <a:latin typeface="Arial" panose="020B0604020202020204" pitchFamily="34" charset="0"/>
                <a:cs typeface="Arial" panose="020B0604020202020204" pitchFamily="34" charset="0"/>
              </a:rPr>
              <a:t>.</a:t>
            </a: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8776218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934364-F726-4E70-25B0-3E435D5C1DB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32125F2-72B1-EE46-EDCA-70E9C62023F6}"/>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spcBef>
                <a:spcPts val="100"/>
              </a:spcBef>
            </a:pPr>
            <a:r>
              <a:rPr lang="en-US" sz="2500" dirty="0"/>
              <a:t>EXTRA EJERCICIO 2: </a:t>
            </a:r>
            <a:br>
              <a:rPr lang="en-US" sz="2500" dirty="0"/>
            </a:br>
            <a:r>
              <a:rPr lang="en-US" b="0" dirty="0"/>
              <a:t>Repeat the LO.3. width dependence analysis, now sweeping in a 300nm-1um range.</a:t>
            </a:r>
            <a:endParaRPr lang="en-US" sz="2500" b="0" dirty="0">
              <a:latin typeface="+mj-lt"/>
              <a:cs typeface="Lucida Sans"/>
            </a:endParaRPr>
          </a:p>
        </p:txBody>
      </p:sp>
      <p:pic>
        <p:nvPicPr>
          <p:cNvPr id="83" name="Gráfico 82">
            <a:extLst>
              <a:ext uri="{FF2B5EF4-FFF2-40B4-BE49-F238E27FC236}">
                <a16:creationId xmlns:a16="http://schemas.microsoft.com/office/drawing/2014/main" id="{A97B9840-8CE3-6CFE-01BD-3EC4C6D4146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9D79D43A-1D27-0D6C-E491-E20AB4A63AC0}"/>
              </a:ext>
            </a:extLst>
          </p:cNvPr>
          <p:cNvSpPr>
            <a:spLocks noGrp="1"/>
          </p:cNvSpPr>
          <p:nvPr>
            <p:ph type="sldNum" sz="quarter" idx="7"/>
          </p:nvPr>
        </p:nvSpPr>
        <p:spPr/>
        <p:txBody>
          <a:bodyPr/>
          <a:lstStyle/>
          <a:p>
            <a:fld id="{B6F15528-21DE-4FAA-801E-634DDDAF4B2B}" type="slidenum">
              <a:rPr lang="es-ES" smtClean="0"/>
              <a:t>18</a:t>
            </a:fld>
            <a:endParaRPr lang="es-ES"/>
          </a:p>
        </p:txBody>
      </p:sp>
      <p:sp>
        <p:nvSpPr>
          <p:cNvPr id="3" name="Marcador de pie de página 2">
            <a:extLst>
              <a:ext uri="{FF2B5EF4-FFF2-40B4-BE49-F238E27FC236}">
                <a16:creationId xmlns:a16="http://schemas.microsoft.com/office/drawing/2014/main" id="{B2F8AAA4-CF12-78FA-F205-48BC49E6578D}"/>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Rectángulo 1">
            <a:extLst>
              <a:ext uri="{FF2B5EF4-FFF2-40B4-BE49-F238E27FC236}">
                <a16:creationId xmlns:a16="http://schemas.microsoft.com/office/drawing/2014/main" id="{476910BF-B5E0-B625-B154-D2486D40F9AA}"/>
              </a:ext>
            </a:extLst>
          </p:cNvPr>
          <p:cNvSpPr/>
          <p:nvPr/>
        </p:nvSpPr>
        <p:spPr>
          <a:xfrm>
            <a:off x="1752600" y="1418372"/>
            <a:ext cx="8991600" cy="45252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A294A1E6-3AE9-85A7-170D-05FDE54EDE5C}"/>
              </a:ext>
            </a:extLst>
          </p:cNvPr>
          <p:cNvPicPr>
            <a:picLocks noChangeAspect="1"/>
          </p:cNvPicPr>
          <p:nvPr/>
        </p:nvPicPr>
        <p:blipFill>
          <a:blip r:embed="rId5"/>
          <a:stretch>
            <a:fillRect/>
          </a:stretch>
        </p:blipFill>
        <p:spPr>
          <a:xfrm>
            <a:off x="2590800" y="1492414"/>
            <a:ext cx="7703820" cy="4298786"/>
          </a:xfrm>
          <a:prstGeom prst="rect">
            <a:avLst/>
          </a:prstGeom>
        </p:spPr>
      </p:pic>
    </p:spTree>
    <p:extLst>
      <p:ext uri="{BB962C8B-B14F-4D97-AF65-F5344CB8AC3E}">
        <p14:creationId xmlns:p14="http://schemas.microsoft.com/office/powerpoint/2010/main" val="10488238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70A34-D4A6-783C-E5C9-550B71E5B3B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67E14D4-BD77-7AEC-DAA7-97A0211426E2}"/>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spcBef>
                <a:spcPts val="100"/>
              </a:spcBef>
            </a:pPr>
            <a:r>
              <a:rPr lang="en-US" sz="2500" dirty="0"/>
              <a:t>EXTRA EJERCICIO 2: </a:t>
            </a:r>
            <a:br>
              <a:rPr lang="en-US" sz="2500" dirty="0"/>
            </a:br>
            <a:r>
              <a:rPr lang="en-US" b="0" dirty="0"/>
              <a:t>Repeat the LO.3. width dependence analysis, now sweeping in a 300 nm-1 um range.</a:t>
            </a:r>
            <a:endParaRPr lang="en-US" sz="2500" b="0" dirty="0">
              <a:latin typeface="+mj-lt"/>
              <a:cs typeface="Lucida Sans"/>
            </a:endParaRPr>
          </a:p>
        </p:txBody>
      </p:sp>
      <p:pic>
        <p:nvPicPr>
          <p:cNvPr id="83" name="Gráfico 82">
            <a:extLst>
              <a:ext uri="{FF2B5EF4-FFF2-40B4-BE49-F238E27FC236}">
                <a16:creationId xmlns:a16="http://schemas.microsoft.com/office/drawing/2014/main" id="{54AF4C12-805D-5103-5356-9242ED9DC9E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A63A4406-85BA-CB34-7018-AA06F0F3BC73}"/>
              </a:ext>
            </a:extLst>
          </p:cNvPr>
          <p:cNvSpPr>
            <a:spLocks noGrp="1"/>
          </p:cNvSpPr>
          <p:nvPr>
            <p:ph type="sldNum" sz="quarter" idx="7"/>
          </p:nvPr>
        </p:nvSpPr>
        <p:spPr/>
        <p:txBody>
          <a:bodyPr/>
          <a:lstStyle/>
          <a:p>
            <a:fld id="{B6F15528-21DE-4FAA-801E-634DDDAF4B2B}" type="slidenum">
              <a:rPr lang="es-ES" smtClean="0"/>
              <a:t>19</a:t>
            </a:fld>
            <a:endParaRPr lang="es-ES"/>
          </a:p>
        </p:txBody>
      </p:sp>
      <p:sp>
        <p:nvSpPr>
          <p:cNvPr id="3" name="Marcador de pie de página 2">
            <a:extLst>
              <a:ext uri="{FF2B5EF4-FFF2-40B4-BE49-F238E27FC236}">
                <a16:creationId xmlns:a16="http://schemas.microsoft.com/office/drawing/2014/main" id="{9064D7DB-E23A-0105-0120-F19F2883C55A}"/>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Rectángulo 1">
            <a:extLst>
              <a:ext uri="{FF2B5EF4-FFF2-40B4-BE49-F238E27FC236}">
                <a16:creationId xmlns:a16="http://schemas.microsoft.com/office/drawing/2014/main" id="{410E4050-E671-8580-AE0E-B5B14B43A399}"/>
              </a:ext>
            </a:extLst>
          </p:cNvPr>
          <p:cNvSpPr/>
          <p:nvPr/>
        </p:nvSpPr>
        <p:spPr>
          <a:xfrm>
            <a:off x="685800" y="1831642"/>
            <a:ext cx="10591800" cy="3253214"/>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39222C7F-C85C-D61F-33C8-9EF41C843043}"/>
              </a:ext>
            </a:extLst>
          </p:cNvPr>
          <p:cNvSpPr txBox="1"/>
          <p:nvPr/>
        </p:nvSpPr>
        <p:spPr>
          <a:xfrm>
            <a:off x="685800" y="1905506"/>
            <a:ext cx="10591800" cy="3046988"/>
          </a:xfrm>
          <a:prstGeom prst="rect">
            <a:avLst/>
          </a:prstGeom>
          <a:noFill/>
        </p:spPr>
        <p:txBody>
          <a:bodyPr wrap="square">
            <a:spAutoFit/>
          </a:bodyPr>
          <a:lstStyle/>
          <a:p>
            <a:r>
              <a:rPr lang="es-ES" sz="1200" dirty="0">
                <a:latin typeface="Arial" panose="020B0604020202020204" pitchFamily="34" charset="0"/>
                <a:cs typeface="Arial" panose="020B0604020202020204" pitchFamily="34" charset="0"/>
              </a:rPr>
              <a:t>En esta gráfica se representa cómo varía el índice efectivo de los cuatro primeros modos guiados al cambiar el ancho de la guía de onda entre 0.3 µm y 1 µm. Se observa que, al aumentar el ancho de la guía, el índice efectivo de todos los modos aumenta progresivamente, y esto ocurre porque una guía más ancha permite que el modo se confine mejor dentro del núcleo de silicio. </a:t>
            </a:r>
          </a:p>
          <a:p>
            <a:endParaRPr lang="es-ES" sz="1200" dirty="0">
              <a:latin typeface="Arial" panose="020B0604020202020204" pitchFamily="34" charset="0"/>
              <a:cs typeface="Arial" panose="020B0604020202020204" pitchFamily="34" charset="0"/>
            </a:endParaRPr>
          </a:p>
          <a:p>
            <a:r>
              <a:rPr lang="es-ES" sz="1200" dirty="0">
                <a:latin typeface="Arial" panose="020B0604020202020204" pitchFamily="34" charset="0"/>
                <a:cs typeface="Arial" panose="020B0604020202020204" pitchFamily="34" charset="0"/>
              </a:rPr>
              <a:t>Además, también se aprecia que al aumentar el ancho comienzan a aparecer más modos guiados, lo que indica que la guía pasa de ser casi monomodo para anchos pequeños hasta 0.4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a soportar varios modos cuando el ancho es mayor. Se observa que el modo 0 corresponde al modo TE0,  y mantiene su polarización TE en todo el barrido: esto se debe a que es el modo fundamental y el más confinado en la guía, por lo que su polarización apenas cambia al variar el ancho. </a:t>
            </a:r>
          </a:p>
          <a:p>
            <a:endParaRPr lang="es-ES" sz="1200" dirty="0">
              <a:latin typeface="Arial" panose="020B0604020202020204" pitchFamily="34" charset="0"/>
              <a:cs typeface="Arial" panose="020B0604020202020204" pitchFamily="34" charset="0"/>
            </a:endParaRPr>
          </a:p>
          <a:p>
            <a:r>
              <a:rPr lang="es-ES" sz="1200" dirty="0">
                <a:latin typeface="Arial" panose="020B0604020202020204" pitchFamily="34" charset="0"/>
                <a:cs typeface="Arial" panose="020B0604020202020204" pitchFamily="34" charset="0"/>
              </a:rPr>
              <a:t>En cambio, los modos superiores no son tan estables y su distribución de campo cambia más al modificar el ancho de la guía, por lo que pueden presentar un comportamiento más TE o más TM. Además, el </a:t>
            </a:r>
            <a:r>
              <a:rPr lang="es-ES" sz="1200" dirty="0" err="1">
                <a:latin typeface="Arial" panose="020B0604020202020204" pitchFamily="34" charset="0"/>
                <a:cs typeface="Arial" panose="020B0604020202020204" pitchFamily="34" charset="0"/>
              </a:rPr>
              <a:t>modesolver</a:t>
            </a:r>
            <a:r>
              <a:rPr lang="es-ES" sz="1200" dirty="0">
                <a:latin typeface="Arial" panose="020B0604020202020204" pitchFamily="34" charset="0"/>
                <a:cs typeface="Arial" panose="020B0604020202020204" pitchFamily="34" charset="0"/>
              </a:rPr>
              <a:t> ordena los modos según su índice efectivo en cada simulación, por lo que en los modos superiores la etiqueta puede cambiar cuando los valores de índice efectivo se acercan entre sí.</a:t>
            </a:r>
          </a:p>
          <a:p>
            <a:endParaRPr lang="es-ES" sz="1200" dirty="0">
              <a:latin typeface="Arial" panose="020B0604020202020204" pitchFamily="34" charset="0"/>
              <a:cs typeface="Arial" panose="020B0604020202020204" pitchFamily="34" charset="0"/>
            </a:endParaRPr>
          </a:p>
          <a:p>
            <a:r>
              <a:rPr lang="es-ES" sz="1200" dirty="0">
                <a:latin typeface="Arial" panose="020B0604020202020204" pitchFamily="34" charset="0"/>
                <a:cs typeface="Arial" panose="020B0604020202020204" pitchFamily="34" charset="0"/>
              </a:rPr>
              <a:t>Como conclusión, podemos decir que los modos guiados mantienen prácticamente el mismo comportamiento tanto cuando el material del núcleo es </a:t>
            </a:r>
            <a:r>
              <a:rPr lang="es-ES" sz="1200" dirty="0" err="1">
                <a:latin typeface="Arial" panose="020B0604020202020204" pitchFamily="34" charset="0"/>
                <a:cs typeface="Arial" panose="020B0604020202020204" pitchFamily="34" charset="0"/>
              </a:rPr>
              <a:t>SiN</a:t>
            </a:r>
            <a:r>
              <a:rPr lang="es-ES" sz="1200" dirty="0">
                <a:latin typeface="Arial" panose="020B0604020202020204" pitchFamily="34" charset="0"/>
                <a:cs typeface="Arial" panose="020B0604020202020204" pitchFamily="34" charset="0"/>
              </a:rPr>
              <a:t>, como cuando es Si: lo único que cambiaría es que en este último, cuando dos modos tienen un índice efectivo muy similar, se intercambian el tipo de polarización. </a:t>
            </a:r>
          </a:p>
        </p:txBody>
      </p:sp>
    </p:spTree>
    <p:extLst>
      <p:ext uri="{BB962C8B-B14F-4D97-AF65-F5344CB8AC3E}">
        <p14:creationId xmlns:p14="http://schemas.microsoft.com/office/powerpoint/2010/main" val="21227760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806822-3A24-FB58-76CE-9324C16E45E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3A8B6833-B776-2CE7-8E76-D65DBBF61FA2}"/>
              </a:ext>
            </a:extLst>
          </p:cNvPr>
          <p:cNvSpPr txBox="1">
            <a:spLocks noGrp="1"/>
          </p:cNvSpPr>
          <p:nvPr>
            <p:ph type="title"/>
          </p:nvPr>
        </p:nvSpPr>
        <p:spPr>
          <a:xfrm>
            <a:off x="685800" y="408883"/>
            <a:ext cx="10994410" cy="1782539"/>
          </a:xfrm>
          <a:prstGeom prst="rect">
            <a:avLst/>
          </a:prstGeom>
        </p:spPr>
        <p:txBody>
          <a:bodyPr vert="horz" wrap="square" lIns="0" tIns="12700" rIns="0" bIns="0" rtlCol="0">
            <a:spAutoFit/>
          </a:bodyPr>
          <a:lstStyle/>
          <a:p>
            <a:pPr marL="12700">
              <a:spcBef>
                <a:spcPts val="100"/>
              </a:spcBef>
            </a:pPr>
            <a:r>
              <a:rPr lang="en-US" sz="2500" dirty="0"/>
              <a:t>EXTRA EJERCICIO 3: </a:t>
            </a:r>
            <a:br>
              <a:rPr lang="en-US" sz="2500" dirty="0"/>
            </a:br>
            <a:r>
              <a:rPr lang="en-US" b="0" dirty="0"/>
              <a:t>Find the safe radius for this technology using silicon as the core material. Consider sweeping the radius in a 5um to 30um range. </a:t>
            </a:r>
            <a:br>
              <a:rPr lang="en-US" b="0" dirty="0"/>
            </a:br>
            <a:br>
              <a:rPr lang="en-US" sz="250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F8CA8DF3-52A3-9289-8DE3-7B7BB0DB4AB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811EF6B9-DF66-2F6E-E308-A01D0BE1C4E5}"/>
              </a:ext>
            </a:extLst>
          </p:cNvPr>
          <p:cNvSpPr>
            <a:spLocks noGrp="1"/>
          </p:cNvSpPr>
          <p:nvPr>
            <p:ph type="sldNum" sz="quarter" idx="7"/>
          </p:nvPr>
        </p:nvSpPr>
        <p:spPr/>
        <p:txBody>
          <a:bodyPr/>
          <a:lstStyle/>
          <a:p>
            <a:fld id="{B6F15528-21DE-4FAA-801E-634DDDAF4B2B}" type="slidenum">
              <a:rPr lang="es-ES" smtClean="0"/>
              <a:t>20</a:t>
            </a:fld>
            <a:endParaRPr lang="es-ES"/>
          </a:p>
        </p:txBody>
      </p:sp>
      <p:sp>
        <p:nvSpPr>
          <p:cNvPr id="3" name="Marcador de pie de página 2">
            <a:extLst>
              <a:ext uri="{FF2B5EF4-FFF2-40B4-BE49-F238E27FC236}">
                <a16:creationId xmlns:a16="http://schemas.microsoft.com/office/drawing/2014/main" id="{BA473A4B-4497-23A4-301A-204E9E70628F}"/>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7" name="Rectángulo 6">
            <a:extLst>
              <a:ext uri="{FF2B5EF4-FFF2-40B4-BE49-F238E27FC236}">
                <a16:creationId xmlns:a16="http://schemas.microsoft.com/office/drawing/2014/main" id="{E42F5523-C7A7-5575-059C-24A284198CE1}"/>
              </a:ext>
            </a:extLst>
          </p:cNvPr>
          <p:cNvSpPr/>
          <p:nvPr/>
        </p:nvSpPr>
        <p:spPr>
          <a:xfrm>
            <a:off x="609441" y="1418373"/>
            <a:ext cx="11199971" cy="4021254"/>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8DCAFA40-BCD7-345B-29CF-394AE5BE4A73}"/>
              </a:ext>
            </a:extLst>
          </p:cNvPr>
          <p:cNvSpPr txBox="1"/>
          <p:nvPr/>
        </p:nvSpPr>
        <p:spPr>
          <a:xfrm>
            <a:off x="6078894" y="1816202"/>
            <a:ext cx="6235717"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Total Loss (dB/90º) vs R &amp; neff_TE0 vs R</a:t>
            </a:r>
          </a:p>
        </p:txBody>
      </p:sp>
      <p:pic>
        <p:nvPicPr>
          <p:cNvPr id="5" name="Imagen 4">
            <a:extLst>
              <a:ext uri="{FF2B5EF4-FFF2-40B4-BE49-F238E27FC236}">
                <a16:creationId xmlns:a16="http://schemas.microsoft.com/office/drawing/2014/main" id="{D4EFAC10-DFCF-3A7B-C489-24213B4545D2}"/>
              </a:ext>
            </a:extLst>
          </p:cNvPr>
          <p:cNvPicPr>
            <a:picLocks noChangeAspect="1"/>
          </p:cNvPicPr>
          <p:nvPr/>
        </p:nvPicPr>
        <p:blipFill>
          <a:blip r:embed="rId5"/>
          <a:stretch>
            <a:fillRect/>
          </a:stretch>
        </p:blipFill>
        <p:spPr>
          <a:xfrm>
            <a:off x="685800" y="1442806"/>
            <a:ext cx="4887895" cy="3920691"/>
          </a:xfrm>
          <a:prstGeom prst="rect">
            <a:avLst/>
          </a:prstGeom>
        </p:spPr>
      </p:pic>
      <p:pic>
        <p:nvPicPr>
          <p:cNvPr id="9" name="Imagen 8">
            <a:extLst>
              <a:ext uri="{FF2B5EF4-FFF2-40B4-BE49-F238E27FC236}">
                <a16:creationId xmlns:a16="http://schemas.microsoft.com/office/drawing/2014/main" id="{374C1AFF-12D3-AEAD-1EC6-2DD02BE72CA0}"/>
              </a:ext>
            </a:extLst>
          </p:cNvPr>
          <p:cNvPicPr>
            <a:picLocks noChangeAspect="1"/>
          </p:cNvPicPr>
          <p:nvPr/>
        </p:nvPicPr>
        <p:blipFill>
          <a:blip r:embed="rId6"/>
          <a:stretch>
            <a:fillRect/>
          </a:stretch>
        </p:blipFill>
        <p:spPr>
          <a:xfrm>
            <a:off x="5750889" y="1480423"/>
            <a:ext cx="6032086" cy="3920691"/>
          </a:xfrm>
          <a:prstGeom prst="rect">
            <a:avLst/>
          </a:prstGeom>
        </p:spPr>
      </p:pic>
    </p:spTree>
    <p:extLst>
      <p:ext uri="{BB962C8B-B14F-4D97-AF65-F5344CB8AC3E}">
        <p14:creationId xmlns:p14="http://schemas.microsoft.com/office/powerpoint/2010/main" val="22525194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30346F-1C11-6CE4-0C56-1065A674B672}"/>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5AB3941-E729-8651-6AFB-3F9FB2BFBCF8}"/>
              </a:ext>
            </a:extLst>
          </p:cNvPr>
          <p:cNvSpPr txBox="1">
            <a:spLocks noGrp="1"/>
          </p:cNvSpPr>
          <p:nvPr>
            <p:ph type="title"/>
          </p:nvPr>
        </p:nvSpPr>
        <p:spPr>
          <a:xfrm>
            <a:off x="583019" y="408883"/>
            <a:ext cx="11199971" cy="1782539"/>
          </a:xfrm>
          <a:prstGeom prst="rect">
            <a:avLst/>
          </a:prstGeom>
        </p:spPr>
        <p:txBody>
          <a:bodyPr vert="horz" wrap="square" lIns="0" tIns="12700" rIns="0" bIns="0" rtlCol="0">
            <a:spAutoFit/>
          </a:bodyPr>
          <a:lstStyle/>
          <a:p>
            <a:pPr marL="12700">
              <a:spcBef>
                <a:spcPts val="100"/>
              </a:spcBef>
            </a:pPr>
            <a:r>
              <a:rPr lang="en-US" sz="2500" dirty="0"/>
              <a:t>EXTRA EJERCICIO 3: </a:t>
            </a:r>
            <a:br>
              <a:rPr lang="en-US" sz="2500" dirty="0"/>
            </a:br>
            <a:r>
              <a:rPr lang="en-US" b="0" dirty="0"/>
              <a:t>Find the safe radius for this technology using silicon as the core material. Consider sweeping the radius in a 5um to 30um range. </a:t>
            </a:r>
            <a:br>
              <a:rPr lang="en-US" b="0" dirty="0"/>
            </a:br>
            <a:br>
              <a:rPr lang="en-US" sz="250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ACC6507C-92BA-53C7-C456-8329F38B795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50E4FA01-F4C5-3E20-A4C9-EDA76A24D394}"/>
              </a:ext>
            </a:extLst>
          </p:cNvPr>
          <p:cNvSpPr>
            <a:spLocks noGrp="1"/>
          </p:cNvSpPr>
          <p:nvPr>
            <p:ph type="sldNum" sz="quarter" idx="7"/>
          </p:nvPr>
        </p:nvSpPr>
        <p:spPr/>
        <p:txBody>
          <a:bodyPr/>
          <a:lstStyle/>
          <a:p>
            <a:fld id="{B6F15528-21DE-4FAA-801E-634DDDAF4B2B}" type="slidenum">
              <a:rPr lang="es-ES" smtClean="0"/>
              <a:t>21</a:t>
            </a:fld>
            <a:endParaRPr lang="es-ES"/>
          </a:p>
        </p:txBody>
      </p:sp>
      <p:sp>
        <p:nvSpPr>
          <p:cNvPr id="3" name="Marcador de pie de página 2">
            <a:extLst>
              <a:ext uri="{FF2B5EF4-FFF2-40B4-BE49-F238E27FC236}">
                <a16:creationId xmlns:a16="http://schemas.microsoft.com/office/drawing/2014/main" id="{3683F575-02B7-209A-F54D-D143B334522B}"/>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0B9C3132-D722-0D81-F5A5-5CA88DA6E9D0}"/>
              </a:ext>
            </a:extLst>
          </p:cNvPr>
          <p:cNvSpPr txBox="1"/>
          <p:nvPr/>
        </p:nvSpPr>
        <p:spPr>
          <a:xfrm>
            <a:off x="583019" y="1612918"/>
            <a:ext cx="11199971" cy="3416320"/>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which is the safe radius?, consider safe means less than 0.1 dB/90º.</a:t>
            </a:r>
          </a:p>
          <a:p>
            <a:pPr algn="just"/>
            <a:endParaRPr lang="en-US" sz="1200" u="sng" dirty="0">
              <a:latin typeface="Arial" panose="020B0604020202020204" pitchFamily="34" charset="0"/>
              <a:cs typeface="Arial" panose="020B0604020202020204" pitchFamily="34" charset="0"/>
            </a:endParaRPr>
          </a:p>
          <a:p>
            <a:r>
              <a:rPr lang="es-ES" sz="1200" dirty="0">
                <a:latin typeface="Arial" panose="020B0604020202020204" pitchFamily="34" charset="0"/>
                <a:cs typeface="Arial" panose="020B0604020202020204" pitchFamily="34" charset="0"/>
              </a:rPr>
              <a:t>En estas nuevas simulaciones se ha sustituido el núcleo de nitruro de silicio por silicio, manteniendo el dióxido de silicio como material de la cubierta. Además, en este caso se ha considerado una pérdida de propagación mayor, de 3 dB/cm. Debido al mayor índice de refracción del silicio, el modo se encuentra mucho más confinado en el núcleo, lo que da lugar a valores de índice efectivo significativamente mayores que en el caso anterior.</a:t>
            </a:r>
          </a:p>
          <a:p>
            <a:endParaRPr lang="es-ES" sz="1200" dirty="0">
              <a:latin typeface="Arial" panose="020B0604020202020204" pitchFamily="34" charset="0"/>
              <a:cs typeface="Arial" panose="020B0604020202020204" pitchFamily="34" charset="0"/>
            </a:endParaRPr>
          </a:p>
          <a:p>
            <a:r>
              <a:rPr lang="es-ES" sz="1200" dirty="0">
                <a:latin typeface="Arial" panose="020B0604020202020204" pitchFamily="34" charset="0"/>
                <a:cs typeface="Arial" panose="020B0604020202020204" pitchFamily="34" charset="0"/>
              </a:rPr>
              <a:t>En la gráfica de pérdidas de la izquierda se observa un comportamiento similar al descrito previamente: las pérdidas de modo disminuyen al aumentar el radio de curvatura, mientras que las pérdidas de propagación aumentan debido al mayor recorrido del modo. Sin embargo, al considerar una pérdida de propagación mayor, la contribución de estas pérdidas es más significativa incluso siendo radios relativamente pequeños los simulados.</a:t>
            </a:r>
          </a:p>
          <a:p>
            <a:endParaRPr lang="es-ES" sz="1200" dirty="0">
              <a:latin typeface="Arial" panose="020B0604020202020204" pitchFamily="34" charset="0"/>
              <a:cs typeface="Arial" panose="020B0604020202020204" pitchFamily="34" charset="0"/>
            </a:endParaRPr>
          </a:p>
          <a:p>
            <a:r>
              <a:rPr lang="es-ES" sz="1200" dirty="0">
                <a:latin typeface="Arial" panose="020B0604020202020204" pitchFamily="34" charset="0"/>
                <a:cs typeface="Arial" panose="020B0604020202020204" pitchFamily="34" charset="0"/>
              </a:rPr>
              <a:t>Por otro lado, en la gráfica del índice efectivo en función del radio de curvatura, se observa que los valores son considerablemente mayores que en el caso del nitruro de silicio, situándose alrededor de 3. Esto se debe al mayor índice de refracción del silicio, que provoca un confinamiento más fuerte del modo dentro del núcleo. A medida que el radio de curvatura aumenta, el índice efectivo disminuye ligeramente y tiende a estabilizarse, ya que la guía se comporta cada vez más como una guía recta.</a:t>
            </a:r>
          </a:p>
          <a:p>
            <a:endParaRPr lang="es-ES" sz="1200" dirty="0">
              <a:latin typeface="Arial" panose="020B0604020202020204" pitchFamily="34" charset="0"/>
              <a:cs typeface="Arial" panose="020B0604020202020204" pitchFamily="34" charset="0"/>
            </a:endParaRPr>
          </a:p>
          <a:p>
            <a:r>
              <a:rPr lang="es-ES" sz="1200" dirty="0">
                <a:latin typeface="Arial" panose="020B0604020202020204" pitchFamily="34" charset="0"/>
                <a:cs typeface="Arial" panose="020B0604020202020204" pitchFamily="34" charset="0"/>
              </a:rPr>
              <a:t>Por último, podríamos decir que el rango de radios óptimos de 10-15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mientras que el rango de radios seguros va a ser de todos los valores simulados como mínimo, ya que para todos estos radios, su suma de pérdidas es menor a 0.1 dB.</a:t>
            </a:r>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5044240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7" y="265520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dirty="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22</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1778</TotalTime>
  <Words>3961</Words>
  <Application>Microsoft Office PowerPoint</Application>
  <PresentationFormat>Panorámica</PresentationFormat>
  <Paragraphs>220</Paragraphs>
  <Slides>22</Slides>
  <Notes>19</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22</vt:i4>
      </vt:variant>
    </vt:vector>
  </HeadingPairs>
  <TitlesOfParts>
    <vt:vector size="30" baseType="lpstr">
      <vt:lpstr>Aptos</vt:lpstr>
      <vt:lpstr>Arial</vt:lpstr>
      <vt:lpstr>Calibri</vt:lpstr>
      <vt:lpstr>Cambria Math</vt:lpstr>
      <vt:lpstr>Lucida Sans</vt:lpstr>
      <vt:lpstr>Times New Roman</vt:lpstr>
      <vt:lpstr>Wingdings</vt:lpstr>
      <vt:lpstr>Office Theme</vt:lpstr>
      <vt:lpstr>Presentación de PowerPoint</vt:lpstr>
      <vt:lpstr>Instructions General</vt:lpstr>
      <vt:lpstr>Learning outcome #1 – Effective index of a waveguide </vt:lpstr>
      <vt:lpstr>Learning outcome #1 – Effective index of a waveguide </vt:lpstr>
      <vt:lpstr>Learning outcome #2 – Wavelength behavior Wavelength 1.5-1.6 µm (step 0.01 µm) – width 1.2 µm</vt:lpstr>
      <vt:lpstr>Learning outcome #2 – Wavelength behavior Wavelength 1.5-1.6 µm (step 0.01 µm) – width 1.2 µm</vt:lpstr>
      <vt:lpstr>Learning outcome #2 – Wavelength behavior Wavelength 1.5-1.6 µm (step 0.01 µm) – width 1.2 µm</vt:lpstr>
      <vt:lpstr>Learning outcome #2 – Wavelength behavior Wavelength 1.5-1.6 µm (step 0.01 µm) – width 1.2 µm</vt:lpstr>
      <vt:lpstr>Learning outcome #3 – Width dependence Width 0.6 - 1.6 µm (step 0.1 µm) – Wavelength 1.55 µm </vt:lpstr>
      <vt:lpstr>Learning outcome #3 – Width dependence Width 0.6 - 1.6 µm (step 0.1 µm) – Wavelength 1.55 µm </vt:lpstr>
      <vt:lpstr>Learning outcome #4 – Waveguide compact model - Find the compact models of the following waveguides:  Deep waveguide, h=300nm, w=1.2um   - Shallow waveguide, core h=300nm, slab h=150 nm, w = 1.2um  </vt:lpstr>
      <vt:lpstr>Learning outcome #4 – Waveguide compact model - Find the compact models of the following waveguides:  Deep waveguide, h=300nm, w=1.2um   - Shallow waveguide, core h=300nm, slab h=150 nm, w = 1.2um  </vt:lpstr>
      <vt:lpstr>Learning outcome #5 – Bend waveguide radius vs. loss – deep Find  neff_TE0 for wvl 1.55 µm, width 1.2 µm for R=25,50,75,100, 125,150 µm </vt:lpstr>
      <vt:lpstr>Learning outcome #5 – Bend waveguide radius vs. loss – deep Find  neff_TE0 for wvl 1.55 µm, width 1.2 µm for R=25,50,75,100, 125,150 µm </vt:lpstr>
      <vt:lpstr>EJERCICIOS EXTRA   </vt:lpstr>
      <vt:lpstr>EXTRA EJERCICIO 1:  Repeat the LO.2. wavelength behavior simulations, considering the updated materials and dimensions  </vt:lpstr>
      <vt:lpstr>EXTRA EJERCICIO 1:  Repeat the LO.2. wavelength behavior simulations, considering the updated materials and dimensions  </vt:lpstr>
      <vt:lpstr>EXTRA EJERCICIO 2:  Repeat the LO.3. width dependence analysis, now sweeping in a 300nm-1um range.</vt:lpstr>
      <vt:lpstr>EXTRA EJERCICIO 2:  Repeat the LO.3. width dependence analysis, now sweeping in a 300 nm-1 um range.</vt:lpstr>
      <vt:lpstr>EXTRA EJERCICIO 3:  Find the safe radius for this technology using silicon as the core material. Consider sweeping the radius in a 5um to 30um range.   </vt:lpstr>
      <vt:lpstr>EXTRA EJERCICIO 3:  Find the safe radius for this technology using silicon as the core material. Consider sweeping the radius in a 5um to 30um range.   </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Lidia Tortola Juan</cp:lastModifiedBy>
  <cp:revision>29</cp:revision>
  <dcterms:created xsi:type="dcterms:W3CDTF">2025-01-27T02:46:57Z</dcterms:created>
  <dcterms:modified xsi:type="dcterms:W3CDTF">2026-03-15T00:38:04Z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