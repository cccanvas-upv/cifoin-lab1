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295" r:id="rId3"/>
    <p:sldId id="290" r:id="rId4"/>
    <p:sldId id="298" r:id="rId5"/>
    <p:sldId id="302" r:id="rId6"/>
    <p:sldId id="291" r:id="rId7"/>
    <p:sldId id="301" r:id="rId8"/>
    <p:sldId id="292" r:id="rId9"/>
    <p:sldId id="303" r:id="rId10"/>
    <p:sldId id="297" r:id="rId11"/>
    <p:sldId id="304" r:id="rId12"/>
    <p:sldId id="293" r:id="rId13"/>
    <p:sldId id="305" r:id="rId14"/>
    <p:sldId id="288" r:id="rId15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>
        <p:scale>
          <a:sx n="100" d="100"/>
          <a:sy n="100" d="100"/>
        </p:scale>
        <p:origin x="-168" y="-37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04/03/2026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04/03/2026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B99FA-97E9-FC7D-2B9A-BA7265933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4028ACA-2CBF-8F75-32D0-881978CDF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DC834A5-D89E-6306-39BC-39F084B00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1E4BC98-71A5-DEF9-0FC1-EE9BE6B25C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526202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37379-E8F7-0EEB-24B8-B37B4D10E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99F7970-F455-DA80-F81B-AD9620714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1013AFA-2D76-E2A2-0A6B-B6931F9B2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0898D18-FB82-D342-4D88-F5E6F4C4CB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54042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DEB1E-5176-F287-14B3-D6364A208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024B29C-89F6-0631-BFB6-DEAC27C95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80B46AA-E1A4-017C-CF86-9ED5E1E7E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745E78A-B74C-7E42-7D6E-923EF94C8A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315722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3668B-1BDE-E588-A700-CF53A7851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B69881F-BD8C-A12F-65E4-4D38868345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E8C4B1F-4A34-106B-FC71-A08E8F622B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DC752FB-22D8-AE5E-A74D-882F59A7EE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340580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49ECA-B518-50D2-8604-23126DCCD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0B53A5A-0048-C702-8F7E-8602245471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75348C2-C668-42AD-11C3-D9A2AAB49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E2FB511-3713-07BB-835C-A6009AC63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560187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4C9DC-82CC-4670-22D4-5992593A5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674CF7F-E690-9508-0B5F-2BA0A5C064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EDAB5C4-3DE9-E2AC-1B13-49A58BDA59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90CFDBC-951D-3FB9-8D9B-0680D6DEAB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7091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Lidia Tórtola Juan y Raúl Salido Calatayud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https://github.com/cccanvas-upv/cifoin-lab1.git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</a:t>
            </a:r>
            <a:r>
              <a:rPr lang="en-US" sz="2000" dirty="0" err="1"/>
              <a:t>neff</a:t>
            </a:r>
            <a:r>
              <a:rPr lang="en-US" sz="2000" dirty="0"/>
              <a:t> …)</a:t>
            </a:r>
            <a:endParaRPr lang="en-US" sz="2000" b="1" i="1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534989" y="4221458"/>
            <a:ext cx="11047570" cy="2123658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of different modes, comparison between different polarizations…)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realización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primer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ejercicio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usado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siguientes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materiales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silicio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nitruro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silicio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dioxide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silicio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llevar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cabo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simulación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éxito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un corte transversal,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definir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dimensiones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además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material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utilizar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tanto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núcleo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cubierta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la longitude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cantidad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queramos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calcular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y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resolución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mallado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diferencia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deep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shallow,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shallow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existe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altura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slab,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mientrsa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deep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dicha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altura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nula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dimensiones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clad,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dejado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hay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defecto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presentan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buen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Si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fuera mas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ancha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habria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modirficar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clad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definido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calculase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cuatro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cuatro solo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primeros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son TE0 y TM0.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otros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 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modo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cubierta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tanto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nucleo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20A16-F2F4-9AF8-DF86-1F9986DB1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E661BFD-005B-617B-7E44-9EBDCA76A8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8F9C000-EAE2-45D7-BAAE-08F90DCC2F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A618349C-6186-B659-A1FB-DCB5D31E644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3269ADA-2EAB-1916-57A2-82CCB1F3A5CC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8913B8E7-4B48-4485-0C30-71290D04EE4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A4BDF88-73DC-AAF8-4E1D-3CE69A3FDCD6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of different modes,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comparison between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different polarizations…)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90022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30471-E512-5565-2D88-AFBC3C1FE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5319B52-BE7A-5EDF-8847-CE583D00CA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0.01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8B7A066D-CBDC-5798-F1F7-24E0CB1B0C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746A4DE-8EDB-DF1F-F14B-0A1D45EB681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53B11AF-D881-E24A-11EA-EE0F800E3D0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ED4649C8-97D0-793B-D973-63B9588C8D57}"/>
                  </a:ext>
                </a:extLst>
              </p:cNvPr>
              <p:cNvSpPr txBox="1"/>
              <p:nvPr/>
            </p:nvSpPr>
            <p:spPr>
              <a:xfrm>
                <a:off x="583019" y="4819380"/>
                <a:ext cx="11199971" cy="161781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results (neff changes this way with wavelength, comparison between different waveguide cross-sections …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etc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En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primeras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figuras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estan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representadas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las cross sections de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guia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onda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shallow y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guia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onda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deep,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respectivamente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Vemos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como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la shallow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está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representada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su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slab y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tiene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mismo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indice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efectivo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r>
                  <a:rPr lang="es-ES" sz="1200" dirty="0"/>
                  <a:t>La diferencia principal es que la </a:t>
                </a:r>
                <a:r>
                  <a:rPr lang="es-ES" sz="1200" i="1" dirty="0" err="1"/>
                  <a:t>shallow</a:t>
                </a:r>
                <a:r>
                  <a:rPr lang="es-ES" sz="1200" dirty="0"/>
                  <a:t> tiene una capa de </a:t>
                </a:r>
                <a:r>
                  <a:rPr lang="es-ES" sz="1200" i="1" dirty="0" err="1"/>
                  <a:t>slab</a:t>
                </a:r>
                <a:r>
                  <a:rPr lang="es-ES" sz="1200" dirty="0"/>
                  <a:t> (material de núcleo) fuera del </a:t>
                </a:r>
                <a:r>
                  <a:rPr lang="es-ES" sz="1200" dirty="0" err="1"/>
                  <a:t>rib</a:t>
                </a:r>
                <a:r>
                  <a:rPr lang="es-ES" sz="1200" dirty="0"/>
                  <a:t>, mientras que en la </a:t>
                </a:r>
                <a:r>
                  <a:rPr lang="es-ES" sz="1200" i="1" dirty="0" err="1"/>
                  <a:t>deep</a:t>
                </a:r>
                <a:r>
                  <a:rPr lang="es-ES" sz="1200" dirty="0"/>
                  <a:t> esa zona está completamente rodeada por la cubierta (</a:t>
                </a:r>
                <a:r>
                  <a:rPr lang="es-ES" sz="1200" dirty="0" err="1"/>
                  <a:t>SiO</a:t>
                </a:r>
                <a:r>
                  <a:rPr lang="es-ES" sz="1200" dirty="0"/>
                  <a:t>₂).</a:t>
                </a:r>
              </a:p>
              <a:p>
                <a:r>
                  <a:rPr lang="es-ES" sz="1200" dirty="0"/>
                  <a:t>Debido a esto, en la guía </a:t>
                </a:r>
                <a:r>
                  <a:rPr lang="es-ES" sz="1200" i="1" dirty="0" err="1"/>
                  <a:t>shallow</a:t>
                </a:r>
                <a:r>
                  <a:rPr lang="es-ES" sz="1200" dirty="0"/>
                  <a:t> el modo está más confinado en material de alto índice, ya que parte del campo también se propaga por el </a:t>
                </a:r>
                <a:r>
                  <a:rPr lang="es-ES" sz="1200" dirty="0" err="1"/>
                  <a:t>slab</a:t>
                </a:r>
                <a:r>
                  <a:rPr lang="es-ES" sz="1200" dirty="0"/>
                  <a:t>. Como el índice efectivo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ar-AE" sz="1200" i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m:rPr>
                            <m:nor/>
                          </m:rPr>
                          <a:rPr lang="es-ES" sz="1200">
                            <a:latin typeface="+mj-lt"/>
                          </a:rPr>
                          <m:t>eff</m:t>
                        </m:r>
                      </m:sub>
                    </m:sSub>
                  </m:oMath>
                </a14:m>
                <a:r>
                  <a:rPr lang="es-ES" sz="1200" dirty="0"/>
                  <a:t> depende del material que “ve” el modo, al haber mayor fracción de campo en el núcleo, su valor es más alto.</a:t>
                </a:r>
              </a:p>
              <a:p>
                <a:r>
                  <a:rPr lang="es-ES" sz="1200" dirty="0"/>
                  <a:t>En cambio, en la guía </a:t>
                </a:r>
                <a:r>
                  <a:rPr lang="es-ES" sz="1200" i="1" dirty="0" err="1"/>
                  <a:t>deep</a:t>
                </a:r>
                <a:r>
                  <a:rPr lang="es-ES" sz="1200" dirty="0"/>
                  <a:t> el campo se extiende más hacia la cubierta (índice menor), lo que reduce el confinamiento y hace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ar-AE" sz="1200" i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m:rPr>
                            <m:nor/>
                          </m:rPr>
                          <a:rPr lang="es-ES" sz="1200">
                            <a:latin typeface="+mj-lt"/>
                          </a:rPr>
                          <m:t>eff</m:t>
                        </m:r>
                      </m:sub>
                    </m:sSub>
                  </m:oMath>
                </a14:m>
                <a:r>
                  <a:rPr lang="es-ES" sz="1200" dirty="0"/>
                  <a:t> sea más bajo.</a:t>
                </a: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ED4649C8-97D0-793B-D973-63B9588C8D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019" y="4819380"/>
                <a:ext cx="11199971" cy="161781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0065779-FA07-79A3-959D-85192B0F35AB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D143A1E-54DE-4E0B-C607-E875A8C41D19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DC9140D-3EAB-09C8-E28A-4AFA565F7F80}"/>
              </a:ext>
            </a:extLst>
          </p:cNvPr>
          <p:cNvSpPr txBox="1"/>
          <p:nvPr/>
        </p:nvSpPr>
        <p:spPr>
          <a:xfrm>
            <a:off x="609441" y="1069729"/>
            <a:ext cx="14479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p:pic>
        <p:nvPicPr>
          <p:cNvPr id="6" name="Imagen 5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8CF22875-A714-89D0-83B7-0730E24CDF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9842" y="1558564"/>
            <a:ext cx="4231768" cy="3075628"/>
          </a:xfrm>
          <a:prstGeom prst="rect">
            <a:avLst/>
          </a:prstGeom>
        </p:spPr>
      </p:pic>
      <p:pic>
        <p:nvPicPr>
          <p:cNvPr id="11" name="Imagen 10" descr="Gráfico&#10;&#10;El contenido generado por IA puede ser incorrecto.">
            <a:extLst>
              <a:ext uri="{FF2B5EF4-FFF2-40B4-BE49-F238E27FC236}">
                <a16:creationId xmlns:a16="http://schemas.microsoft.com/office/drawing/2014/main" id="{D2D86B35-4FF6-F1E5-2DDC-A2A060CB84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5997" y="1527005"/>
            <a:ext cx="4377803" cy="3172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4720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0.01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BD4C233-B5D9-B6AA-93A8-CF2F130CFF9C}"/>
              </a:ext>
            </a:extLst>
          </p:cNvPr>
          <p:cNvSpPr txBox="1"/>
          <p:nvPr/>
        </p:nvSpPr>
        <p:spPr>
          <a:xfrm>
            <a:off x="542887" y="5045798"/>
            <a:ext cx="32671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slab_thickness</a:t>
            </a:r>
            <a:r>
              <a:rPr lang="en-US" dirty="0"/>
              <a:t> = 150nm</a:t>
            </a:r>
            <a:endParaRPr lang="es-ES" dirty="0"/>
          </a:p>
        </p:txBody>
      </p:sp>
      <p:pic>
        <p:nvPicPr>
          <p:cNvPr id="10" name="Imagen 9" descr="Gráfico&#10;&#10;El contenido generado por IA puede ser incorrecto.">
            <a:extLst>
              <a:ext uri="{FF2B5EF4-FFF2-40B4-BE49-F238E27FC236}">
                <a16:creationId xmlns:a16="http://schemas.microsoft.com/office/drawing/2014/main" id="{0E2661E7-F8B1-FC85-20AA-858D01336D2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187"/>
          <a:stretch>
            <a:fillRect/>
          </a:stretch>
        </p:blipFill>
        <p:spPr>
          <a:xfrm>
            <a:off x="6550910" y="1508141"/>
            <a:ext cx="5258502" cy="3010670"/>
          </a:xfrm>
          <a:prstGeom prst="rect">
            <a:avLst/>
          </a:prstGeom>
        </p:spPr>
      </p:pic>
      <p:pic>
        <p:nvPicPr>
          <p:cNvPr id="12" name="Imagen 11" descr="Gráfico&#10;&#10;El contenido generado por IA puede ser incorrecto.">
            <a:extLst>
              <a:ext uri="{FF2B5EF4-FFF2-40B4-BE49-F238E27FC236}">
                <a16:creationId xmlns:a16="http://schemas.microsoft.com/office/drawing/2014/main" id="{D207EA98-5B09-BC58-0A08-FC2F68FB59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029" y="1573281"/>
            <a:ext cx="5143103" cy="299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E487D-A41E-9467-90C4-9B4FFD316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B639599-FD86-26FE-4494-F92E30A0B3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0.01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E7E29A8-0A3F-E680-4995-0B73838555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DB2E448D-F90B-316C-9A22-37B89D74702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F50A87A-25D7-AC78-2D3C-65977DD80EED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6D243C48-D0CB-2131-C493-8E5DFCAD1557}"/>
                  </a:ext>
                </a:extLst>
              </p:cNvPr>
              <p:cNvSpPr txBox="1"/>
              <p:nvPr/>
            </p:nvSpPr>
            <p:spPr>
              <a:xfrm>
                <a:off x="685798" y="2183808"/>
                <a:ext cx="11199971" cy="245631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En primer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lugar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podemos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ver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como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para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guia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onda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deep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solamente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propaga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modo 0 y 1,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mientras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por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otro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ado, para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guia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onda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shallow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propagan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todas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entender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es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necesario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saber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para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considere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un modo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está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propaganda,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su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indice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efectivo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tiene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menor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del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núcleo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caso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2), y mayor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cubierta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 (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caso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1.55).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Además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como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hemos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visto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las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figuras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las cross sections,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guia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shallow al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tener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un slab 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hace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su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indice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efectrivo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sea mayor para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todos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modos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al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estar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mejor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confinado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. Por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otro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lado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la deep al no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tener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material, lo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hay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despues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del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nucleo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es material de Si02,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por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lo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su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indice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efectivo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disminuye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mas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rapidamente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lo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cual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por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consiguiente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hace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esté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menos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confinado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</a:p>
              <a:p>
                <a:pPr algn="just"/>
                <a:r>
                  <a:rPr lang="es-ES" sz="1200" dirty="0"/>
                  <a:t>Además, en las gráficas se observa que el índice efectivo disminuye ligeramente al aumentar la longitud de onda para todos los modos y en ambas guías. Esto se debe a que, a mayores longitudes de onda, el modo se desconfina más y parte del campo se extiende hacia la cubierta, reduciendo el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m:rPr>
                            <m:nor/>
                          </m:rPr>
                          <a:rPr lang="es-ES" i="1"/>
                          <m:t>eff</m:t>
                        </m:r>
                      </m:sub>
                    </m:sSub>
                  </m:oMath>
                </a14:m>
                <a:r>
                  <a:rPr lang="ar-AE" sz="1200" dirty="0"/>
                  <a:t>.</a:t>
                </a:r>
                <a:r>
                  <a:rPr lang="es-ES" sz="1200" dirty="0"/>
                  <a:t>, DEBIDO A QUE CUANDO AUMENTAMOS LAS LONGIUTDES DE ONDA AUMENTA SU TAMAÑO Y POR TANTO DISMINUUYE SU CONFINAMIENTO.</a:t>
                </a:r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Cabe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mencionar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tambien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propaguen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todos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modos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no es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tampoco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bueno,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ya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normalmente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solo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deseamos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propague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uno,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hecho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se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propaguen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distintos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modos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a la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vez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puede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conllevar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veces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interferencias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intermodales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6D243C48-D0CB-2131-C493-8E5DFCAD15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98" y="2183808"/>
                <a:ext cx="11199971" cy="24563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83CA6113-EDE4-221A-895C-6660C9379186}"/>
              </a:ext>
            </a:extLst>
          </p:cNvPr>
          <p:cNvSpPr txBox="1"/>
          <p:nvPr/>
        </p:nvSpPr>
        <p:spPr>
          <a:xfrm>
            <a:off x="583019" y="1325840"/>
            <a:ext cx="111999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Comment results (</a:t>
            </a:r>
            <a:r>
              <a:rPr lang="en-US" sz="1800" i="1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 changes this way with wavelength, comparison between different waveguide </a:t>
            </a:r>
          </a:p>
          <a:p>
            <a:pPr algn="just"/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cross-sections …</a:t>
            </a:r>
            <a:r>
              <a:rPr lang="en-US" sz="1800" i="1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41289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2"/>
            <a:ext cx="11199971" cy="4677627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 descr="Gráfico&#10;&#10;El contenido generado por IA puede ser incorrecto.">
            <a:extLst>
              <a:ext uri="{FF2B5EF4-FFF2-40B4-BE49-F238E27FC236}">
                <a16:creationId xmlns:a16="http://schemas.microsoft.com/office/drawing/2014/main" id="{7FE8EEDD-8993-BCEA-0B41-201B4F53E4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7900" y="1517970"/>
            <a:ext cx="7696200" cy="4478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7E4B9-ABBB-87A8-4B17-C171028A9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9C23C97-D7CF-497D-A5D2-21CC05D101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522F4EF9-AE55-C48A-8B2E-3848EC3518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1001561-763B-091A-D701-C675075E0AB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C443C3E-55F8-F709-A423-226B9F3EFED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1F9A7E5-D46C-0453-20FD-6B7360905609}"/>
              </a:ext>
            </a:extLst>
          </p:cNvPr>
          <p:cNvSpPr txBox="1"/>
          <p:nvPr/>
        </p:nvSpPr>
        <p:spPr>
          <a:xfrm>
            <a:off x="583019" y="1371600"/>
            <a:ext cx="11199971" cy="341632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figura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comportamiento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distintos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función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ancho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Primeramente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cabe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destacar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tal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representada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figura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líneas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rojas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mientras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azules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TM. Esto se ha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deducido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gracias 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representación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porcentaje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modo TE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Por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temenos tanto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0 TE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0 TM,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cuales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van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anchos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representados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Sin embargo,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conforme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ancho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mantener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misma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longitud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espacio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poder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major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otro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1 TE,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modo 2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cual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hasta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consigue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ancho de 1.25um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aproximadamente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empieza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En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dicho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momento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pasa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ser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multimodo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estarían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propaganda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TE. Por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último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encontramos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3,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modo TM 1,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cual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rango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anchos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elegido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nunca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Si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comparamos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ejercicio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deep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nunca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llegaban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últimos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(modo TM1 y TE1),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estabamos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variando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longitud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Sin embargo,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actual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están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variando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anchos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llegados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determinado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valor,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comenzarian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44250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94400B4-EE16-8E85-AB54-E82FE3B293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3978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Waveguide compact model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- Find the compact models of the following waveguides: </a:t>
            </a:r>
            <a:br>
              <a:rPr lang="en-US" b="0" dirty="0"/>
            </a:br>
            <a:r>
              <a:rPr lang="en-US" dirty="0"/>
              <a:t>Deep</a:t>
            </a:r>
            <a:r>
              <a:rPr lang="en-US" b="0" dirty="0"/>
              <a:t> waveguide, h=300nm, w=1.2um   - </a:t>
            </a:r>
            <a:r>
              <a:rPr lang="en-US" dirty="0"/>
              <a:t>Shallow</a:t>
            </a:r>
            <a:r>
              <a:rPr lang="en-US" b="0" dirty="0"/>
              <a:t> waveguide, core h=300nm, slab h=150 nm, w = 1.2um </a:t>
            </a:r>
            <a:br>
              <a:rPr lang="en-US" b="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n 6" descr="Gráfico&#10;&#10;El contenido generado por IA puede ser incorrecto.">
            <a:extLst>
              <a:ext uri="{FF2B5EF4-FFF2-40B4-BE49-F238E27FC236}">
                <a16:creationId xmlns:a16="http://schemas.microsoft.com/office/drawing/2014/main" id="{6EE6A301-802F-71A8-D45A-719DDCE237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440" y="1462655"/>
            <a:ext cx="5486560" cy="3291174"/>
          </a:xfrm>
          <a:prstGeom prst="rect">
            <a:avLst/>
          </a:prstGeom>
        </p:spPr>
      </p:pic>
      <p:pic>
        <p:nvPicPr>
          <p:cNvPr id="12" name="Imagen 11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53B7AF3B-D6BB-A7C0-88D3-336824D546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1423" y="1462655"/>
            <a:ext cx="5486560" cy="3291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EFB58-B666-0C41-4C72-3ABC0EC43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83DF2B24-AC21-643D-B8C0-62993AB27B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3978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Waveguide compact model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- Find the compact models of the following waveguides: </a:t>
            </a:r>
            <a:br>
              <a:rPr lang="en-US" b="0" dirty="0"/>
            </a:br>
            <a:r>
              <a:rPr lang="en-US" dirty="0"/>
              <a:t>Deep</a:t>
            </a:r>
            <a:r>
              <a:rPr lang="en-US" b="0" dirty="0"/>
              <a:t> waveguide, h=300nm, w=1.2um   - </a:t>
            </a:r>
            <a:r>
              <a:rPr lang="en-US" dirty="0"/>
              <a:t>Shallow</a:t>
            </a:r>
            <a:r>
              <a:rPr lang="en-US" b="0" dirty="0"/>
              <a:t> waveguide, core h=300nm, slab h=150 nm, w = 1.2um </a:t>
            </a:r>
            <a:br>
              <a:rPr lang="en-US" b="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7813654-26E9-7238-D73E-68BA1316A3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8E2D0D11-BF34-FF92-6520-B37F368C0D94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B835810-53AB-5DA6-6898-CDFC21E038D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1.0 WAVEGUIDES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11E2B217-7A2F-7F84-8CFC-E023D5FB8F3B}"/>
                  </a:ext>
                </a:extLst>
              </p:cNvPr>
              <p:cNvSpPr txBox="1"/>
              <p:nvPr/>
            </p:nvSpPr>
            <p:spPr>
              <a:xfrm>
                <a:off x="481668" y="1690095"/>
                <a:ext cx="11198542" cy="384932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cs typeface="Arial" panose="020B0604020202020204" pitchFamily="34" charset="0"/>
                  </a:rPr>
                  <a:t>A </a:t>
                </a:r>
                <a:r>
                  <a:rPr lang="en-US" sz="1200" dirty="0" err="1">
                    <a:cs typeface="Arial" panose="020B0604020202020204" pitchFamily="34" charset="0"/>
                  </a:rPr>
                  <a:t>continuación</a:t>
                </a:r>
                <a:r>
                  <a:rPr lang="en-US" sz="1200" dirty="0">
                    <a:cs typeface="Arial" panose="020B0604020202020204" pitchFamily="34" charset="0"/>
                  </a:rPr>
                  <a:t> se </a:t>
                </a:r>
                <a:r>
                  <a:rPr lang="en-US" sz="1200" dirty="0" err="1">
                    <a:cs typeface="Arial" panose="020B0604020202020204" pitchFamily="34" charset="0"/>
                  </a:rPr>
                  <a:t>presenta</a:t>
                </a:r>
                <a:r>
                  <a:rPr lang="en-US" sz="1200" dirty="0">
                    <a:cs typeface="Arial" panose="020B0604020202020204" pitchFamily="34" charset="0"/>
                  </a:rPr>
                  <a:t> la </a:t>
                </a:r>
                <a:r>
                  <a:rPr lang="en-US" sz="1200" dirty="0" err="1">
                    <a:cs typeface="Arial" panose="020B0604020202020204" pitchFamily="34" charset="0"/>
                  </a:rPr>
                  <a:t>ecuacion</a:t>
                </a:r>
                <a:r>
                  <a:rPr lang="en-US" sz="1200" dirty="0">
                    <a:cs typeface="Arial" panose="020B0604020202020204" pitchFamily="34" charset="0"/>
                  </a:rPr>
                  <a:t> de </a:t>
                </a:r>
                <a:r>
                  <a:rPr lang="en-US" sz="1200" dirty="0" err="1">
                    <a:cs typeface="Arial" panose="020B0604020202020204" pitchFamily="34" charset="0"/>
                  </a:rPr>
                  <a:t>segundo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grado</a:t>
                </a:r>
                <a:r>
                  <a:rPr lang="en-US" sz="1200" dirty="0">
                    <a:cs typeface="Arial" panose="020B0604020202020204" pitchFamily="34" charset="0"/>
                  </a:rPr>
                  <a:t> con </a:t>
                </a:r>
                <a:r>
                  <a:rPr lang="en-US" sz="1200" dirty="0" err="1">
                    <a:cs typeface="Arial" panose="020B0604020202020204" pitchFamily="34" charset="0"/>
                  </a:rPr>
                  <a:t>los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coeficientes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polinomicos</a:t>
                </a:r>
                <a:r>
                  <a:rPr lang="en-US" sz="1200" dirty="0">
                    <a:cs typeface="Arial" panose="020B0604020202020204" pitchFamily="34" charset="0"/>
                  </a:rPr>
                  <a:t>. Su </a:t>
                </a:r>
                <a:r>
                  <a:rPr lang="en-US" sz="1200" dirty="0" err="1">
                    <a:cs typeface="Arial" panose="020B0604020202020204" pitchFamily="34" charset="0"/>
                  </a:rPr>
                  <a:t>objetivo</a:t>
                </a:r>
                <a:r>
                  <a:rPr lang="en-US" sz="1200" dirty="0">
                    <a:cs typeface="Arial" panose="020B0604020202020204" pitchFamily="34" charset="0"/>
                  </a:rPr>
                  <a:t> es </a:t>
                </a:r>
                <a:r>
                  <a:rPr lang="en-US" sz="1200" dirty="0" err="1">
                    <a:cs typeface="Arial" panose="020B0604020202020204" pitchFamily="34" charset="0"/>
                  </a:rPr>
                  <a:t>disminuir</a:t>
                </a:r>
                <a:r>
                  <a:rPr lang="en-US" sz="1200" dirty="0">
                    <a:cs typeface="Arial" panose="020B0604020202020204" pitchFamily="34" charset="0"/>
                  </a:rPr>
                  <a:t> la </a:t>
                </a:r>
                <a:r>
                  <a:rPr lang="en-US" sz="1200" dirty="0" err="1">
                    <a:cs typeface="Arial" panose="020B0604020202020204" pitchFamily="34" charset="0"/>
                  </a:rPr>
                  <a:t>complejidad</a:t>
                </a:r>
                <a:r>
                  <a:rPr lang="en-US" sz="1200" dirty="0">
                    <a:cs typeface="Arial" panose="020B0604020202020204" pitchFamily="34" charset="0"/>
                  </a:rPr>
                  <a:t> de la </a:t>
                </a:r>
                <a:r>
                  <a:rPr lang="en-US" sz="1200" dirty="0" err="1">
                    <a:cs typeface="Arial" panose="020B0604020202020204" pitchFamily="34" charset="0"/>
                  </a:rPr>
                  <a:t>representacion</a:t>
                </a:r>
                <a:r>
                  <a:rPr lang="en-US" sz="1200" dirty="0">
                    <a:cs typeface="Arial" panose="020B0604020202020204" pitchFamily="34" charset="0"/>
                  </a:rPr>
                  <a:t> y del </a:t>
                </a:r>
                <a:r>
                  <a:rPr lang="en-US" sz="1200" dirty="0" err="1">
                    <a:cs typeface="Arial" panose="020B0604020202020204" pitchFamily="34" charset="0"/>
                  </a:rPr>
                  <a:t>calculo</a:t>
                </a:r>
                <a:r>
                  <a:rPr lang="en-US" sz="1200" dirty="0">
                    <a:cs typeface="Arial" panose="020B0604020202020204" pitchFamily="34" charset="0"/>
                  </a:rPr>
                  <a:t> de las </a:t>
                </a:r>
                <a:r>
                  <a:rPr lang="en-US" sz="1200" dirty="0" err="1">
                    <a:cs typeface="Arial" panose="020B0604020202020204" pitchFamily="34" charset="0"/>
                  </a:rPr>
                  <a:t>guias</a:t>
                </a:r>
                <a:r>
                  <a:rPr lang="en-US" sz="1200" dirty="0">
                    <a:cs typeface="Arial" panose="020B0604020202020204" pitchFamily="34" charset="0"/>
                  </a:rPr>
                  <a:t> de </a:t>
                </a:r>
                <a:r>
                  <a:rPr lang="en-US" sz="1200" dirty="0" err="1">
                    <a:cs typeface="Arial" panose="020B0604020202020204" pitchFamily="34" charset="0"/>
                  </a:rPr>
                  <a:t>onda</a:t>
                </a:r>
                <a:r>
                  <a:rPr lang="en-US" sz="1200" dirty="0">
                    <a:cs typeface="Arial" panose="020B0604020202020204" pitchFamily="34" charset="0"/>
                  </a:rPr>
                  <a:t>, </a:t>
                </a:r>
                <a:r>
                  <a:rPr lang="en-US" sz="1200" dirty="0" err="1">
                    <a:cs typeface="Arial" panose="020B0604020202020204" pitchFamily="34" charset="0"/>
                  </a:rPr>
                  <a:t>llevando</a:t>
                </a:r>
                <a:r>
                  <a:rPr lang="en-US" sz="1200" dirty="0">
                    <a:cs typeface="Arial" panose="020B0604020202020204" pitchFamily="34" charset="0"/>
                  </a:rPr>
                  <a:t> a </a:t>
                </a:r>
                <a:r>
                  <a:rPr lang="en-US" sz="1200" dirty="0" err="1">
                    <a:cs typeface="Arial" panose="020B0604020202020204" pitchFamily="34" charset="0"/>
                  </a:rPr>
                  <a:t>cabo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una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aproximacion</a:t>
                </a:r>
                <a:r>
                  <a:rPr lang="en-US" sz="1200" dirty="0">
                    <a:cs typeface="Arial" panose="020B0604020202020204" pitchFamily="34" charset="0"/>
                  </a:rPr>
                  <a:t> de sus indices </a:t>
                </a:r>
                <a:r>
                  <a:rPr lang="en-US" sz="1200" dirty="0" err="1">
                    <a:cs typeface="Arial" panose="020B0604020202020204" pitchFamily="34" charset="0"/>
                  </a:rPr>
                  <a:t>efectivos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rango</a:t>
                </a:r>
                <a:r>
                  <a:rPr lang="en-US" sz="1200" dirty="0">
                    <a:cs typeface="Arial" panose="020B0604020202020204" pitchFamily="34" charset="0"/>
                  </a:rPr>
                  <a:t> de longitudes de </a:t>
                </a:r>
                <a:r>
                  <a:rPr lang="en-US" sz="1200" dirty="0" err="1">
                    <a:cs typeface="Arial" panose="020B0604020202020204" pitchFamily="34" charset="0"/>
                  </a:rPr>
                  <a:t>onda</a:t>
                </a:r>
                <a:r>
                  <a:rPr lang="en-US" sz="1200" dirty="0">
                    <a:cs typeface="Arial" panose="020B0604020202020204" pitchFamily="34" charset="0"/>
                  </a:rPr>
                  <a:t> de 1.50 a 1.6, </a:t>
                </a:r>
                <a:r>
                  <a:rPr lang="en-US" sz="1200" dirty="0" err="1">
                    <a:cs typeface="Arial" panose="020B0604020202020204" pitchFamily="34" charset="0"/>
                  </a:rPr>
                  <a:t>tomando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como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referencia</a:t>
                </a:r>
                <a:r>
                  <a:rPr lang="en-US" sz="1200" dirty="0">
                    <a:cs typeface="Arial" panose="020B0604020202020204" pitchFamily="34" charset="0"/>
                  </a:rPr>
                  <a:t> 1.55.</a:t>
                </a:r>
              </a:p>
              <a:p>
                <a:pPr algn="just"/>
                <a:endParaRPr lang="en-US" sz="1200" dirty="0"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cs typeface="Arial" panose="020B0604020202020204" pitchFamily="34" charset="0"/>
                  </a:rPr>
                  <a:t>Para </a:t>
                </a:r>
                <a:r>
                  <a:rPr lang="en-US" sz="1200" dirty="0" err="1">
                    <a:cs typeface="Arial" panose="020B0604020202020204" pitchFamily="34" charset="0"/>
                  </a:rPr>
                  <a:t>ello</a:t>
                </a:r>
                <a:r>
                  <a:rPr lang="en-US" sz="1200" dirty="0">
                    <a:cs typeface="Arial" panose="020B0604020202020204" pitchFamily="34" charset="0"/>
                  </a:rPr>
                  <a:t>, se </a:t>
                </a:r>
                <a:r>
                  <a:rPr lang="en-US" sz="1200" dirty="0" err="1">
                    <a:cs typeface="Arial" panose="020B0604020202020204" pitchFamily="34" charset="0"/>
                  </a:rPr>
                  <a:t>han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tomado</a:t>
                </a:r>
                <a:r>
                  <a:rPr lang="en-US" sz="1200" dirty="0">
                    <a:cs typeface="Arial" panose="020B0604020202020204" pitchFamily="34" charset="0"/>
                  </a:rPr>
                  <a:t> las dos </a:t>
                </a:r>
                <a:r>
                  <a:rPr lang="en-US" sz="1200" dirty="0" err="1">
                    <a:cs typeface="Arial" panose="020B0604020202020204" pitchFamily="34" charset="0"/>
                  </a:rPr>
                  <a:t>funciones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creadas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cs typeface="Arial" panose="020B0604020202020204" pitchFamily="34" charset="0"/>
                  </a:rPr>
                  <a:t> LO.2, tanto para la deep </a:t>
                </a:r>
                <a:r>
                  <a:rPr lang="en-US" sz="1200" dirty="0" err="1">
                    <a:cs typeface="Arial" panose="020B0604020202020204" pitchFamily="34" charset="0"/>
                  </a:rPr>
                  <a:t>como</a:t>
                </a:r>
                <a:r>
                  <a:rPr lang="en-US" sz="1200" dirty="0">
                    <a:cs typeface="Arial" panose="020B0604020202020204" pitchFamily="34" charset="0"/>
                  </a:rPr>
                  <a:t> para la shallow. A </a:t>
                </a:r>
                <a:r>
                  <a:rPr lang="en-US" sz="1200" dirty="0" err="1">
                    <a:cs typeface="Arial" panose="020B0604020202020204" pitchFamily="34" charset="0"/>
                  </a:rPr>
                  <a:t>partir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s-ES" sz="1200" dirty="0"/>
                  <a:t>de los resultados obtenidos con el </a:t>
                </a:r>
                <a:r>
                  <a:rPr lang="es-ES" sz="1200" dirty="0" err="1"/>
                  <a:t>ModeSolver</a:t>
                </a:r>
                <a:r>
                  <a:rPr lang="en-US" sz="1200" dirty="0">
                    <a:cs typeface="Arial" panose="020B0604020202020204" pitchFamily="34" charset="0"/>
                  </a:rPr>
                  <a:t>, </a:t>
                </a:r>
                <a:r>
                  <a:rPr lang="es-ES" sz="1200" dirty="0"/>
                  <a:t>se ha realizado un ajuste polinómico de segundo orden en torno a </a:t>
                </a:r>
                <a:r>
                  <a:rPr lang="el-GR" sz="1200" dirty="0"/>
                  <a:t>λ₀, </a:t>
                </a:r>
                <a:r>
                  <a:rPr lang="es-ES" sz="1200" dirty="0"/>
                  <a:t>obteniendo los coeficientes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ar-AE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sz="12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ar-AE" sz="12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ES" sz="1200" dirty="0"/>
                  <a:t>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ar-AE" sz="120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sz="1200" dirty="0"/>
                  <a:t>, </a:t>
                </a:r>
                <a:r>
                  <a:rPr lang="es-ES" sz="1200" dirty="0"/>
                  <a:t>así como el índice de grupo y el parámetro de dispersión.</a:t>
                </a:r>
                <a:r>
                  <a:rPr lang="en-US" sz="1200" dirty="0">
                    <a:cs typeface="Arial" panose="020B0604020202020204" pitchFamily="34" charset="0"/>
                  </a:rPr>
                  <a:t>. </a:t>
                </a:r>
              </a:p>
              <a:p>
                <a:pPr algn="just"/>
                <a:endParaRPr lang="en-US" sz="1200" dirty="0"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 err="1">
                    <a:cs typeface="Arial" panose="020B0604020202020204" pitchFamily="34" charset="0"/>
                  </a:rPr>
                  <a:t>Posteriormente</a:t>
                </a:r>
                <a:r>
                  <a:rPr lang="en-US" sz="1200" dirty="0">
                    <a:cs typeface="Arial" panose="020B0604020202020204" pitchFamily="34" charset="0"/>
                  </a:rPr>
                  <a:t>, se </a:t>
                </a:r>
                <a:r>
                  <a:rPr lang="en-US" sz="1200" dirty="0" err="1">
                    <a:cs typeface="Arial" panose="020B0604020202020204" pitchFamily="34" charset="0"/>
                  </a:rPr>
                  <a:t>han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analizado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los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resultados</a:t>
                </a:r>
                <a:r>
                  <a:rPr lang="en-US" sz="1200" dirty="0">
                    <a:cs typeface="Arial" panose="020B0604020202020204" pitchFamily="34" charset="0"/>
                  </a:rPr>
                  <a:t> y se ha </a:t>
                </a:r>
                <a:r>
                  <a:rPr lang="en-US" sz="1200" dirty="0" err="1">
                    <a:cs typeface="Arial" panose="020B0604020202020204" pitchFamily="34" charset="0"/>
                  </a:rPr>
                  <a:t>llegado</a:t>
                </a:r>
                <a:r>
                  <a:rPr lang="en-US" sz="1200" dirty="0">
                    <a:cs typeface="Arial" panose="020B0604020202020204" pitchFamily="34" charset="0"/>
                  </a:rPr>
                  <a:t> a la conclusion de </a:t>
                </a:r>
                <a:r>
                  <a:rPr lang="en-US" sz="1200" dirty="0" err="1"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cs typeface="Arial" panose="020B0604020202020204" pitchFamily="34" charset="0"/>
                  </a:rPr>
                  <a:t> son </a:t>
                </a:r>
                <a:r>
                  <a:rPr lang="en-US" sz="1200" dirty="0" err="1">
                    <a:cs typeface="Arial" panose="020B0604020202020204" pitchFamily="34" charset="0"/>
                  </a:rPr>
                  <a:t>correctos</a:t>
                </a:r>
                <a:r>
                  <a:rPr lang="en-US" sz="1200" dirty="0">
                    <a:cs typeface="Arial" panose="020B0604020202020204" pitchFamily="34" charset="0"/>
                  </a:rPr>
                  <a:t>, </a:t>
                </a:r>
                <a:r>
                  <a:rPr lang="en-US" sz="1200" dirty="0" err="1">
                    <a:cs typeface="Arial" panose="020B0604020202020204" pitchFamily="34" charset="0"/>
                  </a:rPr>
                  <a:t>ya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que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el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coeficiente</a:t>
                </a:r>
                <a:r>
                  <a:rPr lang="en-US" sz="1200" dirty="0">
                    <a:cs typeface="Arial" panose="020B0604020202020204" pitchFamily="34" charset="0"/>
                  </a:rPr>
                  <a:t> n1 </a:t>
                </a:r>
                <a:r>
                  <a:rPr lang="en-US" sz="1200" dirty="0" err="1">
                    <a:cs typeface="Arial" panose="020B0604020202020204" pitchFamily="34" charset="0"/>
                  </a:rPr>
                  <a:t>corresponde</a:t>
                </a:r>
                <a:r>
                  <a:rPr lang="en-US" sz="1200" dirty="0">
                    <a:cs typeface="Arial" panose="020B0604020202020204" pitchFamily="34" charset="0"/>
                  </a:rPr>
                  <a:t> al </a:t>
                </a:r>
                <a:r>
                  <a:rPr lang="en-US" sz="1200" dirty="0" err="1">
                    <a:cs typeface="Arial" panose="020B0604020202020204" pitchFamily="34" charset="0"/>
                  </a:rPr>
                  <a:t>indice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efectivo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cs typeface="Arial" panose="020B0604020202020204" pitchFamily="34" charset="0"/>
                  </a:rPr>
                  <a:t>cada</a:t>
                </a:r>
                <a:r>
                  <a:rPr lang="en-US" sz="1200" dirty="0">
                    <a:cs typeface="Arial" panose="020B0604020202020204" pitchFamily="34" charset="0"/>
                  </a:rPr>
                  <a:t> modo </a:t>
                </a:r>
                <a:r>
                  <a:rPr lang="en-US" sz="1200" dirty="0" err="1">
                    <a:cs typeface="Arial" panose="020B0604020202020204" pitchFamily="34" charset="0"/>
                  </a:rPr>
                  <a:t>en</a:t>
                </a:r>
                <a:r>
                  <a:rPr lang="en-US" sz="1200" dirty="0">
                    <a:cs typeface="Arial" panose="020B0604020202020204" pitchFamily="34" charset="0"/>
                  </a:rPr>
                  <a:t> la </a:t>
                </a:r>
                <a:r>
                  <a:rPr lang="en-US" sz="1200" dirty="0" err="1">
                    <a:cs typeface="Arial" panose="020B0604020202020204" pitchFamily="34" charset="0"/>
                  </a:rPr>
                  <a:t>longitud</a:t>
                </a:r>
                <a:r>
                  <a:rPr lang="en-US" sz="1200" dirty="0">
                    <a:cs typeface="Arial" panose="020B0604020202020204" pitchFamily="34" charset="0"/>
                  </a:rPr>
                  <a:t> de de </a:t>
                </a:r>
                <a:r>
                  <a:rPr lang="en-US" sz="1200" dirty="0" err="1">
                    <a:cs typeface="Arial" panose="020B0604020202020204" pitchFamily="34" charset="0"/>
                  </a:rPr>
                  <a:t>onda</a:t>
                </a:r>
                <a:r>
                  <a:rPr lang="en-US" sz="1200" dirty="0">
                    <a:cs typeface="Arial" panose="020B0604020202020204" pitchFamily="34" charset="0"/>
                  </a:rPr>
                  <a:t> de </a:t>
                </a:r>
                <a:r>
                  <a:rPr lang="en-US" sz="1200" dirty="0" err="1">
                    <a:cs typeface="Arial" panose="020B0604020202020204" pitchFamily="34" charset="0"/>
                  </a:rPr>
                  <a:t>referencia</a:t>
                </a:r>
                <a:r>
                  <a:rPr lang="en-US" sz="1200" dirty="0">
                    <a:cs typeface="Arial" panose="020B0604020202020204" pitchFamily="34" charset="0"/>
                  </a:rPr>
                  <a:t>. </a:t>
                </a:r>
                <a:r>
                  <a:rPr lang="es-ES" sz="1200" dirty="0"/>
                  <a:t>Además,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ar-AE" sz="12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ES" sz="1200" dirty="0"/>
                  <a:t>es menor que cero, lo que indica que el índice efectivo disminuye al aumentar la longitud de onda debido al </a:t>
                </a:r>
                <a:r>
                  <a:rPr lang="es-ES" sz="1200" dirty="0" err="1"/>
                  <a:t>desconfiamiento</a:t>
                </a:r>
                <a:r>
                  <a:rPr lang="es-ES" sz="1200" dirty="0"/>
                  <a:t> modal. Por otro lado, la dispersión resulta negativa porque el coeficiente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ar-AE" sz="120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s-ES" sz="1200" dirty="0"/>
                  <a:t>es positivo, según la relación </a:t>
                </a:r>
                <a14:m>
                  <m:oMath xmlns:m="http://schemas.openxmlformats.org/officeDocument/2006/math">
                    <m:r>
                      <a:rPr lang="es-ES" sz="1200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s-ES" sz="120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ar-AE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120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ar-AE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200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sz="120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ar-AE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ar-AE" sz="120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num>
                      <m:den>
                        <m:r>
                          <a:rPr lang="ar-AE" sz="1200" i="1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</m:oMath>
                </a14:m>
                <a:r>
                  <a:rPr lang="ar-AE" sz="1200" dirty="0"/>
                  <a:t>, </a:t>
                </a:r>
                <a:r>
                  <a:rPr lang="es-ES" sz="1200" dirty="0"/>
                  <a:t>lo que implica una curvatura cóncava hacia arriba del índice efectivo en el rango analizado.</a:t>
                </a:r>
              </a:p>
              <a:p>
                <a:pPr algn="just"/>
                <a:endParaRPr lang="en-US" sz="1200" dirty="0">
                  <a:cs typeface="Arial" panose="020B0604020202020204" pitchFamily="34" charset="0"/>
                </a:endParaRPr>
              </a:p>
              <a:p>
                <a:pPr algn="just"/>
                <a:r>
                  <a:rPr lang="es-ES" sz="1200" dirty="0"/>
                  <a:t>Asimismo, se observa que la guía </a:t>
                </a:r>
                <a:r>
                  <a:rPr lang="es-ES" sz="1200" dirty="0" err="1"/>
                  <a:t>shallow</a:t>
                </a:r>
                <a:r>
                  <a:rPr lang="es-ES" sz="1200" dirty="0"/>
                  <a:t> presenta valores ligeramente mayores de índice efectivo que la </a:t>
                </a:r>
                <a:r>
                  <a:rPr lang="es-ES" sz="1200" dirty="0" err="1"/>
                  <a:t>deep</a:t>
                </a:r>
                <a:r>
                  <a:rPr lang="es-ES" sz="1200" dirty="0"/>
                  <a:t>, lo que indica un mayor confinamiento modal debido a la presencia del </a:t>
                </a:r>
                <a:r>
                  <a:rPr lang="es-ES" sz="1200" dirty="0" err="1"/>
                  <a:t>slab</a:t>
                </a:r>
                <a:r>
                  <a:rPr lang="es-ES" sz="1200" dirty="0"/>
                  <a:t>.</a:t>
                </a:r>
                <a:endParaRPr lang="en-US" sz="1200" dirty="0">
                  <a:cs typeface="Arial" panose="020B0604020202020204" pitchFamily="34" charset="0"/>
                </a:endParaRP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11E2B217-7A2F-7F84-8CFC-E023D5FB8F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668" y="1690095"/>
                <a:ext cx="11198542" cy="38493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33982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#5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1.2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radius?,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6078894" y="1816202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Total Loss (dB/90º) vs R &amp; neff_TE0 vs R</a:t>
            </a:r>
          </a:p>
        </p:txBody>
      </p:sp>
      <p:pic>
        <p:nvPicPr>
          <p:cNvPr id="5" name="Imagen 4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70A89036-EB7E-9A46-D116-F1BAD743101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995" t="902" r="1855" b="2727"/>
          <a:stretch>
            <a:fillRect/>
          </a:stretch>
        </p:blipFill>
        <p:spPr>
          <a:xfrm>
            <a:off x="609441" y="1418373"/>
            <a:ext cx="5118270" cy="3306028"/>
          </a:xfrm>
          <a:prstGeom prst="rect">
            <a:avLst/>
          </a:prstGeom>
        </p:spPr>
      </p:pic>
      <p:pic>
        <p:nvPicPr>
          <p:cNvPr id="9" name="Imagen 8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9A312882-DF5D-CE26-F7E3-9D817AD22C2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021" b="733"/>
          <a:stretch>
            <a:fillRect/>
          </a:stretch>
        </p:blipFill>
        <p:spPr>
          <a:xfrm>
            <a:off x="5802118" y="1417356"/>
            <a:ext cx="6007293" cy="3306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06822-3A24-FB58-76CE-9324C16E4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A8B6833-B776-2CE7-8E76-D65DBBF61F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4747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US" sz="2500" dirty="0"/>
              <a:t>EXTRA EJERCICIO 3: </a:t>
            </a:r>
            <a:br>
              <a:rPr lang="en-US" sz="2500" dirty="0"/>
            </a:br>
            <a:r>
              <a:rPr lang="en-US" b="0" dirty="0"/>
              <a:t>Find the safe radius for this technology. Consider sweeping the radius in a 5um to 30um range. </a:t>
            </a:r>
            <a:br>
              <a:rPr lang="en-US" b="0" dirty="0"/>
            </a:b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F8CA8DF3-52A3-9289-8DE3-7B7BB0DB4A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811EF6B9-DF66-2F6E-E308-A01D0BE1C4E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A473A4B-4497-23A4-301A-204E9E70628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22467BDE-5898-90E9-5123-6AFA90AEA990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radius?,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E42F5523-C7A7-5575-059C-24A284198CE1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8DCAFA40-BCD7-345B-29CF-394AE5BE4A73}"/>
              </a:ext>
            </a:extLst>
          </p:cNvPr>
          <p:cNvSpPr txBox="1"/>
          <p:nvPr/>
        </p:nvSpPr>
        <p:spPr>
          <a:xfrm>
            <a:off x="6078894" y="1816202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Total Loss (dB/90º) vs R &amp; neff_TE0 vs R</a:t>
            </a:r>
          </a:p>
        </p:txBody>
      </p:sp>
    </p:spTree>
    <p:extLst>
      <p:ext uri="{BB962C8B-B14F-4D97-AF65-F5344CB8AC3E}">
        <p14:creationId xmlns:p14="http://schemas.microsoft.com/office/powerpoint/2010/main" val="22525194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14</a:t>
            </a:fld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0DB343B-A24E-A634-93E8-282DB996B142}"/>
              </a:ext>
            </a:extLst>
          </p:cNvPr>
          <p:cNvSpPr txBox="1"/>
          <p:nvPr/>
        </p:nvSpPr>
        <p:spPr>
          <a:xfrm>
            <a:off x="1452886" y="312322"/>
            <a:ext cx="612088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 err="1"/>
              <a:t>git</a:t>
            </a:r>
            <a:r>
              <a:rPr lang="es-ES" b="1" dirty="0"/>
              <a:t> </a:t>
            </a:r>
            <a:r>
              <a:rPr lang="es-ES" b="1" dirty="0" err="1"/>
              <a:t>config</a:t>
            </a:r>
            <a:r>
              <a:rPr lang="es-ES" b="1" dirty="0"/>
              <a:t> --global user.name "{Tu nombre de usuario}"</a:t>
            </a:r>
            <a:endParaRPr lang="es-ES" dirty="0"/>
          </a:p>
          <a:p>
            <a:r>
              <a:rPr lang="es-ES" dirty="0"/>
              <a:t> </a:t>
            </a:r>
          </a:p>
          <a:p>
            <a:pPr>
              <a:buNone/>
            </a:pPr>
            <a:r>
              <a:rPr lang="en-US" dirty="0">
                <a:effectLst/>
                <a:latin typeface="-apple-system"/>
              </a:rPr>
              <a:t>git add -A</a:t>
            </a:r>
          </a:p>
          <a:p>
            <a:pPr>
              <a:buNone/>
            </a:pPr>
            <a:r>
              <a:rPr lang="en-US" dirty="0">
                <a:effectLst/>
                <a:latin typeface="-apple-system"/>
              </a:rPr>
              <a:t> </a:t>
            </a:r>
          </a:p>
          <a:p>
            <a:pPr>
              <a:buNone/>
            </a:pPr>
            <a:r>
              <a:rPr lang="en-US" dirty="0">
                <a:effectLst/>
                <a:latin typeface="-apple-system"/>
              </a:rPr>
              <a:t>git commit -m "</a:t>
            </a:r>
            <a:r>
              <a:rPr lang="en-US" dirty="0" err="1">
                <a:effectLst/>
                <a:latin typeface="-apple-system"/>
              </a:rPr>
              <a:t>cambios</a:t>
            </a:r>
            <a:r>
              <a:rPr lang="en-US" dirty="0">
                <a:effectLst/>
                <a:latin typeface="-apple-system"/>
              </a:rPr>
              <a:t>"</a:t>
            </a:r>
          </a:p>
          <a:p>
            <a:pPr>
              <a:buNone/>
            </a:pPr>
            <a:r>
              <a:rPr lang="en-US" dirty="0">
                <a:effectLst/>
                <a:latin typeface="-apple-system"/>
              </a:rPr>
              <a:t> </a:t>
            </a:r>
          </a:p>
          <a:p>
            <a:pPr>
              <a:buNone/>
            </a:pPr>
            <a:r>
              <a:rPr lang="en-US" dirty="0">
                <a:effectLst/>
                <a:latin typeface="-apple-system"/>
              </a:rPr>
              <a:t>git push</a:t>
            </a:r>
          </a:p>
          <a:p>
            <a:pPr>
              <a:buNone/>
            </a:pPr>
            <a:r>
              <a:rPr lang="en-US" dirty="0">
                <a:effectLst/>
                <a:latin typeface="-apple-system"/>
              </a:rPr>
              <a:t> </a:t>
            </a:r>
            <a:endParaRPr lang="es-E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1451</TotalTime>
  <Words>1991</Words>
  <Application>Microsoft Office PowerPoint</Application>
  <PresentationFormat>Panorámica</PresentationFormat>
  <Paragraphs>148</Paragraphs>
  <Slides>14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3" baseType="lpstr">
      <vt:lpstr>-apple-system</vt:lpstr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Effective index of a waveguide </vt:lpstr>
      <vt:lpstr>Learning outcome #1 – Effective index of a waveguide </vt:lpstr>
      <vt:lpstr>Learning outcome #2 – Wavelength behavior Wavelength 1.5-1.6 µm (step 0.01 µm) – width 1.2 µm</vt:lpstr>
      <vt:lpstr>Learning outcome #2 – Wavelength behavior Wavelength 1.5-1.6 µm (step 0.01 µm) – width 1.2 µm</vt:lpstr>
      <vt:lpstr>Learning outcome #2 – Wavelength behavior Wavelength 1.5-1.6 µm (step 0.01 µm) – width 1.2 µm</vt:lpstr>
      <vt:lpstr>Learning outcome #3 – Width dependence Width 0.6 - 1.6 µm (step 0.1 µm) – Wavelength 1.55 µm </vt:lpstr>
      <vt:lpstr>Learning outcome #3 – Width dependence Width 0.6 - 1.6 µm (step 0.1 µm) – Wavelength 1.55 µm </vt:lpstr>
      <vt:lpstr>Learning outcome #4 – Waveguide compact model - Find the compact models of the following waveguides:  Deep waveguide, h=300nm, w=1.2um   - Shallow waveguide, core h=300nm, slab h=150 nm, w = 1.2um  </vt:lpstr>
      <vt:lpstr>Learning outcome #4 – Waveguide compact model - Find the compact models of the following waveguides:  Deep waveguide, h=300nm, w=1.2um   - Shallow waveguide, core h=300nm, slab h=150 nm, w = 1.2um  </vt:lpstr>
      <vt:lpstr>Learning outcome #5 – Bend waveguide radius vs. loss – deep Find  neff_TE0 for wvl 1.55 µm, width 1.2 µm for R=25,50,75,100, 125,150 µm </vt:lpstr>
      <vt:lpstr>EXTRA EJERCICIO 3:  Find the safe radius for this technology. Consider sweeping the radius in a 5um to 30um range.  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Lidia Tortola Juan</cp:lastModifiedBy>
  <cp:revision>20</cp:revision>
  <dcterms:created xsi:type="dcterms:W3CDTF">2025-01-27T02:46:57Z</dcterms:created>
  <dcterms:modified xsi:type="dcterms:W3CDTF">2026-03-04T08:55:11Z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